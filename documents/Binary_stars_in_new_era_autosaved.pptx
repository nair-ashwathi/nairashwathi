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8" r:id="rId2"/>
  </p:sldMasterIdLst>
  <p:notesMasterIdLst>
    <p:notesMasterId r:id="rId32"/>
  </p:notesMasterIdLst>
  <p:sldIdLst>
    <p:sldId id="411" r:id="rId3"/>
    <p:sldId id="256" r:id="rId4"/>
    <p:sldId id="412" r:id="rId5"/>
    <p:sldId id="261" r:id="rId6"/>
    <p:sldId id="269" r:id="rId7"/>
    <p:sldId id="415" r:id="rId8"/>
    <p:sldId id="268" r:id="rId9"/>
    <p:sldId id="258" r:id="rId10"/>
    <p:sldId id="417" r:id="rId11"/>
    <p:sldId id="418" r:id="rId12"/>
    <p:sldId id="419" r:id="rId13"/>
    <p:sldId id="420" r:id="rId14"/>
    <p:sldId id="421" r:id="rId15"/>
    <p:sldId id="422" r:id="rId16"/>
    <p:sldId id="423" r:id="rId17"/>
    <p:sldId id="424" r:id="rId18"/>
    <p:sldId id="425" r:id="rId19"/>
    <p:sldId id="277" r:id="rId20"/>
    <p:sldId id="278" r:id="rId21"/>
    <p:sldId id="410" r:id="rId22"/>
    <p:sldId id="270" r:id="rId23"/>
    <p:sldId id="377" r:id="rId24"/>
    <p:sldId id="380" r:id="rId25"/>
    <p:sldId id="387" r:id="rId26"/>
    <p:sldId id="259" r:id="rId27"/>
    <p:sldId id="409" r:id="rId28"/>
    <p:sldId id="260" r:id="rId29"/>
    <p:sldId id="266" r:id="rId30"/>
    <p:sldId id="262"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0C2B"/>
    <a:srgbClr val="B07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54693"/>
  </p:normalViewPr>
  <p:slideViewPr>
    <p:cSldViewPr snapToGrid="0">
      <p:cViewPr varScale="1">
        <p:scale>
          <a:sx n="48" d="100"/>
          <a:sy n="48" d="100"/>
        </p:scale>
        <p:origin x="52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5D3FD0-A9B7-EE48-8C47-9B44B0EECA27}" type="datetimeFigureOut">
              <a:rPr lang="en-US" smtClean="0"/>
              <a:t>8/28/25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25D8BC-926B-4F45-81A5-11EEE3BA4CC6}" type="slidenum">
              <a:rPr lang="en-US" smtClean="0"/>
              <a:t>‹#›</a:t>
            </a:fld>
            <a:endParaRPr lang="en-US"/>
          </a:p>
        </p:txBody>
      </p:sp>
    </p:spTree>
    <p:extLst>
      <p:ext uri="{BB962C8B-B14F-4D97-AF65-F5344CB8AC3E}">
        <p14:creationId xmlns:p14="http://schemas.microsoft.com/office/powerpoint/2010/main" val="361669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1</a:t>
            </a:fld>
            <a:endParaRPr lang="en-US"/>
          </a:p>
        </p:txBody>
      </p:sp>
    </p:spTree>
    <p:extLst>
      <p:ext uri="{BB962C8B-B14F-4D97-AF65-F5344CB8AC3E}">
        <p14:creationId xmlns:p14="http://schemas.microsoft.com/office/powerpoint/2010/main" val="4179385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Detected first source 2015 - binary black hole</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Can now gain more insight about properties of compact objects </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Most importantly formation &amp; evolution of single &amp; binary stellar systems</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My work, discovering origins GW sources, studies progenitors of these events</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Mainly focusing on formation of heavy DNS</a:t>
            </a:r>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2</a:t>
            </a:fld>
            <a:endParaRPr lang="en-US"/>
          </a:p>
        </p:txBody>
      </p:sp>
    </p:spTree>
    <p:extLst>
      <p:ext uri="{BB962C8B-B14F-4D97-AF65-F5344CB8AC3E}">
        <p14:creationId xmlns:p14="http://schemas.microsoft.com/office/powerpoint/2010/main" val="123128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A6B85-BC99-A92A-2D0F-195AA2AF6F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E2DDEE-8A61-5152-4DEA-7ADC98E322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5346F1-4B40-BB89-C8FC-ED1FF494F38E}"/>
              </a:ext>
            </a:extLst>
          </p:cNvPr>
          <p:cNvSpPr>
            <a:spLocks noGrp="1"/>
          </p:cNvSpPr>
          <p:nvPr>
            <p:ph type="body" idx="1"/>
          </p:nvPr>
        </p:nvSpPr>
        <p:spPr/>
        <p:txBody>
          <a:bodyPr/>
          <a:lstStyle/>
          <a:p>
            <a:pPr algn="l" rtl="0">
              <a:spcBef>
                <a:spcPts val="0"/>
              </a:spcBef>
              <a:spcAft>
                <a:spcPts val="0"/>
              </a:spcAft>
            </a:pPr>
            <a:r>
              <a:rPr lang="en-AU" sz="1200" b="1" i="0" u="none" strike="noStrike" dirty="0">
                <a:solidFill>
                  <a:srgbClr val="000000"/>
                </a:solidFill>
                <a:effectLst/>
                <a:latin typeface="Arial" panose="020B0604020202020204" pitchFamily="34" charset="0"/>
              </a:rPr>
              <a:t>Introduction</a:t>
            </a:r>
            <a:endParaRPr lang="en-AU" b="0" i="0" u="none" strike="noStrike" dirty="0">
              <a:solidFill>
                <a:srgbClr val="000000"/>
              </a:solidFill>
              <a:effectLst/>
              <a:latin typeface="Aptos" panose="020B0004020202020204" pitchFamily="34" charset="0"/>
            </a:endParaRP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Why care about DNS – </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 for </a:t>
            </a:r>
            <a:r>
              <a:rPr lang="en-AU" sz="1200" b="0" i="0" u="none" strike="noStrike" dirty="0" err="1">
                <a:solidFill>
                  <a:srgbClr val="000000"/>
                </a:solidFill>
                <a:effectLst/>
                <a:latin typeface="Arial" panose="020B0604020202020204" pitchFamily="34" charset="0"/>
              </a:rPr>
              <a:t>eg</a:t>
            </a:r>
            <a:r>
              <a:rPr lang="en-AU" sz="1200" b="0" i="0" u="none" strike="noStrike" dirty="0">
                <a:solidFill>
                  <a:srgbClr val="000000"/>
                </a:solidFill>
                <a:effectLst/>
                <a:latin typeface="Arial" panose="020B0604020202020204" pitchFamily="34" charset="0"/>
              </a:rPr>
              <a:t> play important role in learning the origins of diff Sne,</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 The merging of neutron stars may give rise to a short gamma-ray burst (GRB) , emitting bright electromagnetic radiation called a </a:t>
            </a:r>
            <a:r>
              <a:rPr lang="en-AU" sz="1200" b="0" i="0" u="none" strike="noStrike" dirty="0" err="1">
                <a:solidFill>
                  <a:srgbClr val="000000"/>
                </a:solidFill>
                <a:effectLst/>
                <a:latin typeface="Arial" panose="020B0604020202020204" pitchFamily="34" charset="0"/>
              </a:rPr>
              <a:t>kilonova</a:t>
            </a:r>
            <a:endParaRPr lang="en-AU" sz="1200" b="0" i="0" u="none" strike="noStrike" dirty="0">
              <a:solidFill>
                <a:srgbClr val="000000"/>
              </a:solidFill>
              <a:effectLst/>
              <a:latin typeface="Arial" panose="020B0604020202020204" pitchFamily="34" charset="0"/>
            </a:endParaRP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Extreme physical conditions in </a:t>
            </a:r>
            <a:r>
              <a:rPr lang="en-AU" sz="1200" b="0" i="0" u="none" strike="noStrike" dirty="0" err="1">
                <a:solidFill>
                  <a:srgbClr val="000000"/>
                </a:solidFill>
                <a:effectLst/>
                <a:latin typeface="Arial" panose="020B0604020202020204" pitchFamily="34" charset="0"/>
              </a:rPr>
              <a:t>kilonovae</a:t>
            </a:r>
            <a:r>
              <a:rPr lang="en-AU" sz="1200" b="0" i="0" u="none" strike="noStrike" dirty="0">
                <a:solidFill>
                  <a:srgbClr val="000000"/>
                </a:solidFill>
                <a:effectLst/>
                <a:latin typeface="Arial" panose="020B0604020202020204" pitchFamily="34" charset="0"/>
              </a:rPr>
              <a:t> produce heavy r-process elements</a:t>
            </a:r>
          </a:p>
          <a:p>
            <a:pPr algn="l" rtl="0" fontAlgn="base">
              <a:spcBef>
                <a:spcPts val="0"/>
              </a:spcBef>
              <a:spcAft>
                <a:spcPts val="0"/>
              </a:spcAft>
              <a:buFont typeface="Arial" panose="020B0604020202020204" pitchFamily="34" charset="0"/>
              <a:buChar char="•"/>
            </a:pPr>
            <a:endParaRPr lang="en-AU" sz="1200" b="0" i="0" u="none" strike="noStrike" dirty="0">
              <a:solidFill>
                <a:srgbClr val="000000"/>
              </a:solidFill>
              <a:effectLst/>
              <a:latin typeface="Arial" panose="020B0604020202020204" pitchFamily="34" charset="0"/>
            </a:endParaRP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 Understanding GRB and </a:t>
            </a:r>
            <a:r>
              <a:rPr lang="en-AU" sz="1200" b="0" i="0" u="none" strike="noStrike" dirty="0" err="1">
                <a:solidFill>
                  <a:srgbClr val="000000"/>
                </a:solidFill>
                <a:effectLst/>
                <a:latin typeface="Arial" panose="020B0604020202020204" pitchFamily="34" charset="0"/>
              </a:rPr>
              <a:t>kilonovae</a:t>
            </a:r>
            <a:r>
              <a:rPr lang="en-AU" sz="1200" b="0" i="0" u="none" strike="noStrike" dirty="0">
                <a:solidFill>
                  <a:srgbClr val="000000"/>
                </a:solidFill>
                <a:effectLst/>
                <a:latin typeface="Arial" panose="020B0604020202020204" pitchFamily="34" charset="0"/>
              </a:rPr>
              <a:t> will help us learn about the formation of heavy elements in the future.</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 most importantly double neutron star evolve through multiple mass transfer processes and survives two supernovae explosion, which is too much to go through. Hence, DNSs can be used to back trace the evolutionary processes and enhance our understanding about massive binary evolution</a:t>
            </a:r>
          </a:p>
          <a:p>
            <a:endParaRPr lang="en-US" dirty="0"/>
          </a:p>
        </p:txBody>
      </p:sp>
      <p:sp>
        <p:nvSpPr>
          <p:cNvPr id="4" name="Slide Number Placeholder 3">
            <a:extLst>
              <a:ext uri="{FF2B5EF4-FFF2-40B4-BE49-F238E27FC236}">
                <a16:creationId xmlns:a16="http://schemas.microsoft.com/office/drawing/2014/main" id="{B1283D3D-F0A8-2960-1E4B-F700EC8D4AFC}"/>
              </a:ext>
            </a:extLst>
          </p:cNvPr>
          <p:cNvSpPr>
            <a:spLocks noGrp="1"/>
          </p:cNvSpPr>
          <p:nvPr>
            <p:ph type="sldNum" sz="quarter" idx="5"/>
          </p:nvPr>
        </p:nvSpPr>
        <p:spPr/>
        <p:txBody>
          <a:bodyPr/>
          <a:lstStyle/>
          <a:p>
            <a:fld id="{0B25D8BC-926B-4F45-81A5-11EEE3BA4CC6}" type="slidenum">
              <a:rPr lang="en-US" smtClean="0"/>
              <a:t>3</a:t>
            </a:fld>
            <a:endParaRPr lang="en-US"/>
          </a:p>
        </p:txBody>
      </p:sp>
    </p:spTree>
    <p:extLst>
      <p:ext uri="{BB962C8B-B14F-4D97-AF65-F5344CB8AC3E}">
        <p14:creationId xmlns:p14="http://schemas.microsoft.com/office/powerpoint/2010/main" val="1001100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Detected by radio, GW</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So far, observed ~25 galactic DNS  2.50-2.89 M</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Only 2 with GW: GW170817 and GW190425</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While GW170817 similar to previous radio detection, GW190425 much higher mass</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Here have plot showing this. You can see that GW190425 is well above, in fact 5 </a:t>
            </a:r>
            <a:r>
              <a:rPr lang="en-AU" sz="1200" b="0" i="0" u="none" strike="noStrike" dirty="0" err="1">
                <a:solidFill>
                  <a:srgbClr val="000000"/>
                </a:solidFill>
                <a:effectLst/>
                <a:latin typeface="Arial" panose="020B0604020202020204" pitchFamily="34" charset="0"/>
              </a:rPr>
              <a:t>stdv</a:t>
            </a:r>
            <a:r>
              <a:rPr lang="en-AU" sz="1200" b="0" i="0" u="none" strike="noStrike" dirty="0">
                <a:solidFill>
                  <a:srgbClr val="000000"/>
                </a:solidFill>
                <a:effectLst/>
                <a:latin typeface="Arial" panose="020B0604020202020204" pitchFamily="34" charset="0"/>
              </a:rPr>
              <a:t>!! </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This suggests GW190425 formed differently from previously observed galactic binaries</a:t>
            </a:r>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4</a:t>
            </a:fld>
            <a:endParaRPr lang="en-US"/>
          </a:p>
        </p:txBody>
      </p:sp>
    </p:spTree>
    <p:extLst>
      <p:ext uri="{BB962C8B-B14F-4D97-AF65-F5344CB8AC3E}">
        <p14:creationId xmlns:p14="http://schemas.microsoft.com/office/powerpoint/2010/main" val="3626119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Within the isolated formation channel, there is a standard </a:t>
            </a:r>
            <a:r>
              <a:rPr lang="en-AU" sz="1200" b="0" i="0" u="none" strike="noStrike" dirty="0" err="1">
                <a:solidFill>
                  <a:srgbClr val="000000"/>
                </a:solidFill>
                <a:effectLst/>
                <a:latin typeface="Arial" panose="020B0604020202020204" pitchFamily="34" charset="0"/>
              </a:rPr>
              <a:t>dns</a:t>
            </a:r>
            <a:r>
              <a:rPr lang="en-AU" sz="1200" b="0" i="0" u="none" strike="noStrike" dirty="0">
                <a:solidFill>
                  <a:srgbClr val="000000"/>
                </a:solidFill>
                <a:effectLst/>
                <a:latin typeface="Arial" panose="020B0604020202020204" pitchFamily="34" charset="0"/>
              </a:rPr>
              <a:t> formation pathway </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In the standard picture of DNS formation, we s</a:t>
            </a:r>
            <a:r>
              <a:rPr lang="en-AU" sz="1200" b="1" i="0" u="none" strike="noStrike" dirty="0">
                <a:solidFill>
                  <a:srgbClr val="000000"/>
                </a:solidFill>
                <a:effectLst/>
                <a:latin typeface="Arial" panose="020B0604020202020204" pitchFamily="34" charset="0"/>
              </a:rPr>
              <a:t>tart with </a:t>
            </a:r>
            <a:r>
              <a:rPr lang="en-AU" sz="1200" b="0" i="0" u="none" strike="noStrike" dirty="0">
                <a:solidFill>
                  <a:srgbClr val="000000"/>
                </a:solidFill>
                <a:effectLst/>
                <a:latin typeface="Arial" panose="020B0604020202020204" pitchFamily="34" charset="0"/>
              </a:rPr>
              <a:t>two OB-type</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These are the evolutionary phases that decides the fate of the </a:t>
            </a:r>
            <a:r>
              <a:rPr lang="en-AU" sz="1200" b="0" i="0" u="none" strike="noStrike" dirty="0" err="1">
                <a:solidFill>
                  <a:srgbClr val="000000"/>
                </a:solidFill>
                <a:effectLst/>
                <a:latin typeface="Arial" panose="020B0604020202020204" pitchFamily="34" charset="0"/>
              </a:rPr>
              <a:t>dns</a:t>
            </a:r>
            <a:r>
              <a:rPr lang="en-AU" sz="1200" b="0" i="0" u="none" strike="noStrike" dirty="0">
                <a:solidFill>
                  <a:srgbClr val="000000"/>
                </a:solidFill>
                <a:effectLst/>
                <a:latin typeface="Arial" panose="020B0604020202020204" pitchFamily="34" charset="0"/>
              </a:rPr>
              <a:t> merger </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Formation channel usually gives DNS merger we observe in the field and- GW170817 , as mentioned earlier GW19045 - formed differently. </a:t>
            </a:r>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5</a:t>
            </a:fld>
            <a:endParaRPr lang="en-US"/>
          </a:p>
        </p:txBody>
      </p:sp>
    </p:spTree>
    <p:extLst>
      <p:ext uri="{BB962C8B-B14F-4D97-AF65-F5344CB8AC3E}">
        <p14:creationId xmlns:p14="http://schemas.microsoft.com/office/powerpoint/2010/main" val="4227932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spcBef>
                <a:spcPts val="0"/>
              </a:spcBef>
              <a:spcAft>
                <a:spcPts val="0"/>
              </a:spcAft>
              <a:buFont typeface="Arial" panose="020B0604020202020204" pitchFamily="34" charset="0"/>
              <a:buChar char="•"/>
            </a:pPr>
            <a:endParaRPr lang="en-AU" sz="1800" b="0" i="0" u="none" strike="noStrike" dirty="0">
              <a:solidFill>
                <a:srgbClr val="000000"/>
              </a:solidFill>
              <a:effectLst/>
              <a:latin typeface="Arial" panose="020B0604020202020204" pitchFamily="34" charset="0"/>
            </a:endParaRPr>
          </a:p>
          <a:p>
            <a:pPr algn="l" rtl="0" fontAlgn="base">
              <a:spcBef>
                <a:spcPts val="0"/>
              </a:spcBef>
              <a:spcAft>
                <a:spcPts val="0"/>
              </a:spcAft>
              <a:buFont typeface="Arial" panose="020B0604020202020204" pitchFamily="34" charset="0"/>
              <a:buChar char="•"/>
            </a:pPr>
            <a:r>
              <a:rPr lang="en-AU" sz="1800" b="0" i="0" u="none" strike="noStrike" dirty="0">
                <a:solidFill>
                  <a:srgbClr val="000000"/>
                </a:solidFill>
                <a:effectLst/>
                <a:latin typeface="Arial" panose="020B0604020202020204" pitchFamily="34" charset="0"/>
              </a:rPr>
              <a:t>Recently a few studies have proposed an alternate formation </a:t>
            </a:r>
            <a:r>
              <a:rPr lang="en-AU" sz="1800" b="0" i="0" u="none" strike="noStrike" dirty="0" err="1">
                <a:solidFill>
                  <a:srgbClr val="000000"/>
                </a:solidFill>
                <a:effectLst/>
                <a:latin typeface="Arial" panose="020B0604020202020204" pitchFamily="34" charset="0"/>
              </a:rPr>
              <a:t>patnway</a:t>
            </a:r>
            <a:r>
              <a:rPr lang="en-AU" sz="1800" b="0" i="0" u="none" strike="noStrike" dirty="0">
                <a:solidFill>
                  <a:srgbClr val="000000"/>
                </a:solidFill>
                <a:effectLst/>
                <a:latin typeface="Arial" panose="020B0604020202020204" pitchFamily="34" charset="0"/>
              </a:rPr>
              <a:t> for the formation of massive systems </a:t>
            </a:r>
          </a:p>
          <a:p>
            <a:pPr algn="l" rtl="0" fontAlgn="base">
              <a:spcBef>
                <a:spcPts val="0"/>
              </a:spcBef>
              <a:spcAft>
                <a:spcPts val="0"/>
              </a:spcAft>
              <a:buFont typeface="Arial" panose="020B0604020202020204" pitchFamily="34" charset="0"/>
              <a:buChar char="•"/>
            </a:pPr>
            <a:r>
              <a:rPr lang="en-AU" sz="1800" b="0" i="0" u="none" strike="noStrike" dirty="0">
                <a:solidFill>
                  <a:srgbClr val="000000"/>
                </a:solidFill>
                <a:effectLst/>
                <a:latin typeface="Arial" panose="020B0604020202020204" pitchFamily="34" charset="0"/>
              </a:rPr>
              <a:t>The first being </a:t>
            </a:r>
          </a:p>
          <a:p>
            <a:pPr lvl="1" algn="l" rtl="0" fontAlgn="base">
              <a:spcBef>
                <a:spcPts val="0"/>
              </a:spcBef>
              <a:spcAft>
                <a:spcPts val="0"/>
              </a:spcAft>
              <a:buFont typeface="Arial" panose="020B0604020202020204" pitchFamily="34" charset="0"/>
              <a:buChar char="•"/>
            </a:pPr>
            <a:r>
              <a:rPr lang="en-AU" sz="1800" b="0" i="0" u="none" strike="noStrike" dirty="0">
                <a:solidFill>
                  <a:srgbClr val="000000"/>
                </a:solidFill>
                <a:effectLst/>
                <a:latin typeface="Arial" panose="020B0604020202020204" pitchFamily="34" charset="0"/>
              </a:rPr>
              <a:t>Formation via unstable mass transfer, where the binary gets into a tight orbit, </a:t>
            </a:r>
            <a:r>
              <a:rPr lang="en-AU" sz="1800" b="0" i="0" u="none" strike="noStrike" dirty="0" err="1">
                <a:solidFill>
                  <a:srgbClr val="000000"/>
                </a:solidFill>
                <a:effectLst/>
                <a:latin typeface="Arial" panose="020B0604020202020204" pitchFamily="34" charset="0"/>
              </a:rPr>
              <a:t>amd</a:t>
            </a:r>
            <a:r>
              <a:rPr lang="en-AU" sz="1800" b="0" i="0" u="none" strike="noStrike" dirty="0">
                <a:solidFill>
                  <a:srgbClr val="000000"/>
                </a:solidFill>
                <a:effectLst/>
                <a:latin typeface="Arial" panose="020B0604020202020204" pitchFamily="34" charset="0"/>
              </a:rPr>
              <a:t> the metal core undergoes </a:t>
            </a:r>
            <a:r>
              <a:rPr lang="en-AU" sz="1800" b="0" i="0" u="none" strike="noStrike" dirty="0" err="1">
                <a:solidFill>
                  <a:srgbClr val="000000"/>
                </a:solidFill>
                <a:effectLst/>
                <a:latin typeface="Arial" panose="020B0604020202020204" pitchFamily="34" charset="0"/>
              </a:rPr>
              <a:t>sn</a:t>
            </a:r>
            <a:r>
              <a:rPr lang="en-AU" sz="1800" b="0" i="0" u="none" strike="noStrike" dirty="0">
                <a:solidFill>
                  <a:srgbClr val="000000"/>
                </a:solidFill>
                <a:effectLst/>
                <a:latin typeface="Arial" panose="020B0604020202020204" pitchFamily="34" charset="0"/>
              </a:rPr>
              <a:t> explosion and leaves behind a </a:t>
            </a:r>
            <a:r>
              <a:rPr lang="en-AU" sz="1800" b="0" i="0" u="none" strike="noStrike" dirty="0" err="1">
                <a:solidFill>
                  <a:srgbClr val="000000"/>
                </a:solidFill>
                <a:effectLst/>
                <a:latin typeface="Arial" panose="020B0604020202020204" pitchFamily="34" charset="0"/>
              </a:rPr>
              <a:t>dns</a:t>
            </a:r>
            <a:r>
              <a:rPr lang="en-AU" sz="1800" b="0" i="0" u="none" strike="noStrike" dirty="0">
                <a:solidFill>
                  <a:srgbClr val="000000"/>
                </a:solidFill>
                <a:effectLst/>
                <a:latin typeface="Arial" panose="020B0604020202020204" pitchFamily="34" charset="0"/>
              </a:rPr>
              <a:t> binary </a:t>
            </a:r>
          </a:p>
          <a:p>
            <a:pPr lvl="1" algn="l" rtl="0" fontAlgn="base">
              <a:spcBef>
                <a:spcPts val="0"/>
              </a:spcBef>
              <a:spcAft>
                <a:spcPts val="0"/>
              </a:spcAft>
              <a:buFont typeface="Arial" panose="020B0604020202020204" pitchFamily="34" charset="0"/>
              <a:buChar char="•"/>
            </a:pPr>
            <a:r>
              <a:rPr lang="en-AU" sz="1800" b="0" i="0" u="none" strike="noStrike" dirty="0">
                <a:solidFill>
                  <a:srgbClr val="000000"/>
                </a:solidFill>
                <a:effectLst/>
                <a:latin typeface="Arial" panose="020B0604020202020204" pitchFamily="34" charset="0"/>
              </a:rPr>
              <a:t>Vigna </a:t>
            </a:r>
            <a:r>
              <a:rPr lang="en-AU" sz="1800" b="0" i="0" u="none" strike="noStrike" dirty="0" err="1">
                <a:solidFill>
                  <a:srgbClr val="000000"/>
                </a:solidFill>
                <a:effectLst/>
                <a:latin typeface="Arial" panose="020B0604020202020204" pitchFamily="34" charset="0"/>
              </a:rPr>
              <a:t>gomez</a:t>
            </a:r>
            <a:r>
              <a:rPr lang="en-AU" sz="1800" b="0" i="0" u="none" strike="noStrike" dirty="0">
                <a:solidFill>
                  <a:srgbClr val="000000"/>
                </a:solidFill>
                <a:effectLst/>
                <a:latin typeface="Arial" panose="020B0604020202020204" pitchFamily="34" charset="0"/>
              </a:rPr>
              <a:t> - this </a:t>
            </a:r>
            <a:r>
              <a:rPr lang="en-AU" sz="1800" b="0" i="0" u="none" strike="noStrike" dirty="0" err="1">
                <a:solidFill>
                  <a:srgbClr val="000000"/>
                </a:solidFill>
                <a:effectLst/>
                <a:latin typeface="Arial" panose="020B0604020202020204" pitchFamily="34" charset="0"/>
              </a:rPr>
              <a:t>dns</a:t>
            </a:r>
            <a:r>
              <a:rPr lang="en-AU" sz="1800" b="0" i="0" u="none" strike="noStrike" dirty="0">
                <a:solidFill>
                  <a:srgbClr val="000000"/>
                </a:solidFill>
                <a:effectLst/>
                <a:latin typeface="Arial" panose="020B0604020202020204" pitchFamily="34" charset="0"/>
              </a:rPr>
              <a:t> becomes radio quiet and can only be detected in GW frequency</a:t>
            </a:r>
          </a:p>
          <a:p>
            <a:pPr algn="l" rtl="0" fontAlgn="base">
              <a:spcBef>
                <a:spcPts val="0"/>
              </a:spcBef>
              <a:spcAft>
                <a:spcPts val="0"/>
              </a:spcAft>
              <a:buFont typeface="Arial" panose="020B0604020202020204" pitchFamily="34" charset="0"/>
              <a:buChar char="•"/>
            </a:pPr>
            <a:endParaRPr lang="en-AU" sz="1800" b="0" i="0" u="none" strike="noStrike" dirty="0">
              <a:solidFill>
                <a:srgbClr val="000000"/>
              </a:solidFill>
              <a:effectLst/>
              <a:latin typeface="Arial" panose="020B0604020202020204" pitchFamily="34" charset="0"/>
            </a:endParaRPr>
          </a:p>
          <a:p>
            <a:pPr algn="l" rtl="0" fontAlgn="base">
              <a:spcBef>
                <a:spcPts val="0"/>
              </a:spcBef>
              <a:spcAft>
                <a:spcPts val="0"/>
              </a:spcAft>
              <a:buFont typeface="Arial" panose="020B0604020202020204" pitchFamily="34" charset="0"/>
              <a:buChar char="•"/>
            </a:pPr>
            <a:r>
              <a:rPr lang="en-AU" sz="1800" b="0" i="0" u="none" strike="noStrike" dirty="0">
                <a:solidFill>
                  <a:srgbClr val="000000"/>
                </a:solidFill>
                <a:effectLst/>
                <a:latin typeface="Arial" panose="020B0604020202020204" pitchFamily="34" charset="0"/>
              </a:rPr>
              <a:t>However there are other </a:t>
            </a:r>
            <a:r>
              <a:rPr lang="en-AU" sz="1800" b="0" i="0" u="none" strike="noStrike" dirty="0" err="1">
                <a:solidFill>
                  <a:srgbClr val="000000"/>
                </a:solidFill>
                <a:effectLst/>
                <a:latin typeface="Arial" panose="020B0604020202020204" pitchFamily="34" charset="0"/>
              </a:rPr>
              <a:t>uncertainities</a:t>
            </a:r>
            <a:r>
              <a:rPr lang="en-AU" sz="1800" b="0" i="0" u="none" strike="noStrike" dirty="0">
                <a:solidFill>
                  <a:srgbClr val="000000"/>
                </a:solidFill>
                <a:effectLst/>
                <a:latin typeface="Arial" panose="020B0604020202020204" pitchFamily="34" charset="0"/>
              </a:rPr>
              <a:t> associated with GW190425 formation :</a:t>
            </a:r>
          </a:p>
          <a:p>
            <a:pPr algn="l" rtl="0" fontAlgn="base">
              <a:spcBef>
                <a:spcPts val="0"/>
              </a:spcBef>
              <a:spcAft>
                <a:spcPts val="0"/>
              </a:spcAft>
              <a:buFont typeface="Arial" panose="020B0604020202020204" pitchFamily="34" charset="0"/>
              <a:buChar char="•"/>
            </a:pPr>
            <a:r>
              <a:rPr lang="en-AU" sz="1800" b="0" i="0" u="none" strike="noStrike" dirty="0" err="1">
                <a:solidFill>
                  <a:srgbClr val="000000"/>
                </a:solidFill>
                <a:effectLst/>
                <a:latin typeface="Arial" panose="020B0604020202020204" pitchFamily="34" charset="0"/>
              </a:rPr>
              <a:t>Giacobbo</a:t>
            </a:r>
            <a:r>
              <a:rPr lang="en-AU" sz="1800" b="0" i="0" u="none" strike="noStrike" dirty="0">
                <a:solidFill>
                  <a:srgbClr val="000000"/>
                </a:solidFill>
                <a:effectLst/>
                <a:latin typeface="Arial" panose="020B0604020202020204" pitchFamily="34" charset="0"/>
              </a:rPr>
              <a:t> &amp; Mapelli find that massive DNSs tend to be formed at lower metallicities</a:t>
            </a:r>
          </a:p>
          <a:p>
            <a:pPr algn="l" rtl="0" fontAlgn="base">
              <a:spcBef>
                <a:spcPts val="0"/>
              </a:spcBef>
              <a:spcAft>
                <a:spcPts val="0"/>
              </a:spcAft>
              <a:buFont typeface="Arial" panose="020B0604020202020204" pitchFamily="34" charset="0"/>
              <a:buChar char="•"/>
            </a:pPr>
            <a:r>
              <a:rPr lang="en-AU" sz="1800" b="0" i="0" u="none" strike="noStrike" dirty="0">
                <a:solidFill>
                  <a:srgbClr val="000000"/>
                </a:solidFill>
                <a:effectLst/>
                <a:latin typeface="Arial" panose="020B0604020202020204" pitchFamily="34" charset="0"/>
              </a:rPr>
              <a:t>  Zhang propose super-</a:t>
            </a:r>
            <a:r>
              <a:rPr lang="en-AU" sz="1800" b="0" i="0" u="none" strike="noStrike" dirty="0" err="1">
                <a:solidFill>
                  <a:srgbClr val="000000"/>
                </a:solidFill>
                <a:effectLst/>
                <a:latin typeface="Arial" panose="020B0604020202020204" pitchFamily="34" charset="0"/>
              </a:rPr>
              <a:t>eddington</a:t>
            </a:r>
            <a:r>
              <a:rPr lang="en-AU" sz="1800" b="0" i="0" u="none" strike="noStrike" dirty="0">
                <a:solidFill>
                  <a:srgbClr val="000000"/>
                </a:solidFill>
                <a:effectLst/>
                <a:latin typeface="Arial" panose="020B0604020202020204" pitchFamily="34" charset="0"/>
              </a:rPr>
              <a:t> accretion as a possible scenario for GW190425</a:t>
            </a:r>
          </a:p>
          <a:p>
            <a:pPr algn="l" rtl="0" fontAlgn="base">
              <a:spcBef>
                <a:spcPts val="0"/>
              </a:spcBef>
              <a:spcAft>
                <a:spcPts val="0"/>
              </a:spcAft>
              <a:buFont typeface="Arial" panose="020B0604020202020204" pitchFamily="34" charset="0"/>
              <a:buChar char="•"/>
            </a:pPr>
            <a:r>
              <a:rPr lang="en-AU" sz="1800" b="0" i="0" u="none" strike="noStrike" dirty="0">
                <a:solidFill>
                  <a:srgbClr val="000000"/>
                </a:solidFill>
                <a:effectLst/>
                <a:latin typeface="Arial" panose="020B0604020202020204" pitchFamily="34" charset="0"/>
              </a:rPr>
              <a:t> Qin et al 2024 propose the formation of massive GW190425 like DNS through stable Case BB RLO MT with a massive first born NS.</a:t>
            </a:r>
          </a:p>
          <a:p>
            <a:pPr algn="l" rtl="0" fontAlgn="base">
              <a:spcBef>
                <a:spcPts val="0"/>
              </a:spcBef>
              <a:spcAft>
                <a:spcPts val="0"/>
              </a:spcAft>
              <a:buFont typeface="Arial" panose="020B0604020202020204" pitchFamily="34" charset="0"/>
              <a:buChar char="•"/>
            </a:pPr>
            <a:endParaRPr lang="en-AU" sz="1800" b="0" i="0" u="none" strike="noStrike" dirty="0">
              <a:solidFill>
                <a:srgbClr val="000000"/>
              </a:solidFill>
              <a:effectLst/>
              <a:latin typeface="Arial" panose="020B0604020202020204" pitchFamily="34" charset="0"/>
            </a:endParaRPr>
          </a:p>
          <a:p>
            <a:pPr algn="l" rtl="0" fontAlgn="base">
              <a:spcBef>
                <a:spcPts val="0"/>
              </a:spcBef>
              <a:spcAft>
                <a:spcPts val="0"/>
              </a:spcAft>
              <a:buFont typeface="Arial" panose="020B0604020202020204" pitchFamily="34" charset="0"/>
              <a:buChar char="•"/>
            </a:pPr>
            <a:r>
              <a:rPr lang="en-AU" sz="1800" b="0" i="0" u="none" strike="noStrike" dirty="0">
                <a:solidFill>
                  <a:srgbClr val="000000"/>
                </a:solidFill>
                <a:effectLst/>
                <a:latin typeface="Arial" panose="020B0604020202020204" pitchFamily="34" charset="0"/>
              </a:rPr>
              <a:t> This tells us that no self-consistent unbiased formation pathway for heavy </a:t>
            </a:r>
            <a:r>
              <a:rPr lang="en-AU" sz="1800" b="0" i="0" u="none" strike="noStrike" dirty="0" err="1">
                <a:solidFill>
                  <a:srgbClr val="000000"/>
                </a:solidFill>
                <a:effectLst/>
                <a:latin typeface="Arial" panose="020B0604020202020204" pitchFamily="34" charset="0"/>
              </a:rPr>
              <a:t>dns</a:t>
            </a:r>
            <a:r>
              <a:rPr lang="en-AU" sz="1800" b="0" i="0" u="none" strike="noStrike" dirty="0">
                <a:solidFill>
                  <a:srgbClr val="000000"/>
                </a:solidFill>
                <a:effectLst/>
                <a:latin typeface="Arial" panose="020B0604020202020204" pitchFamily="34" charset="0"/>
              </a:rPr>
              <a:t> exists.</a:t>
            </a:r>
          </a:p>
          <a:p>
            <a:pPr algn="l" rtl="0" fontAlgn="base">
              <a:spcBef>
                <a:spcPts val="0"/>
              </a:spcBef>
              <a:spcAft>
                <a:spcPts val="0"/>
              </a:spcAft>
              <a:buFont typeface="Arial" panose="020B0604020202020204" pitchFamily="34" charset="0"/>
              <a:buChar char="•"/>
            </a:pPr>
            <a:endParaRPr lang="en-AU" sz="1800" b="0" i="0" u="none" strike="noStrike" dirty="0">
              <a:solidFill>
                <a:srgbClr val="000000"/>
              </a:solidFill>
              <a:effectLst/>
              <a:latin typeface="Arial" panose="020B0604020202020204" pitchFamily="34" charset="0"/>
            </a:endParaRPr>
          </a:p>
          <a:p>
            <a:pPr algn="l" rtl="0" fontAlgn="base">
              <a:spcBef>
                <a:spcPts val="0"/>
              </a:spcBef>
              <a:spcAft>
                <a:spcPts val="0"/>
              </a:spcAft>
              <a:buFont typeface="Arial" panose="020B0604020202020204" pitchFamily="34" charset="0"/>
              <a:buChar char="•"/>
            </a:pPr>
            <a:endParaRPr lang="en-AU" sz="1800" b="0" i="0" u="none" strike="noStrike" dirty="0">
              <a:solidFill>
                <a:srgbClr val="000000"/>
              </a:solidFill>
              <a:effectLst/>
              <a:latin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AU" sz="1800" b="0" i="0" u="none" strike="noStrike" dirty="0">
                <a:solidFill>
                  <a:srgbClr val="000000"/>
                </a:solidFill>
                <a:effectLst/>
                <a:latin typeface="Arial" panose="020B0604020202020204" pitchFamily="34" charset="0"/>
              </a:rPr>
              <a:t>Pop synthesis models predict the formation of massive DNSs at solar metallicity despite no such massive DNSs have been observed in the Galactic population.</a:t>
            </a:r>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6</a:t>
            </a:fld>
            <a:endParaRPr lang="en-US"/>
          </a:p>
        </p:txBody>
      </p:sp>
    </p:spTree>
    <p:extLst>
      <p:ext uri="{BB962C8B-B14F-4D97-AF65-F5344CB8AC3E}">
        <p14:creationId xmlns:p14="http://schemas.microsoft.com/office/powerpoint/2010/main" val="1232050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Created a framework to simulate DNS formation </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 He-NS binary1.4 M NS using MESA which is a 1D detailed stellar evolution model.</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I incorporate a prescription for predicting the supernova remnant and the kick </a:t>
            </a:r>
            <a:r>
              <a:rPr lang="en-AU" sz="1200" b="0" i="0" u="none" strike="noStrike" dirty="0" err="1">
                <a:solidFill>
                  <a:srgbClr val="000000"/>
                </a:solidFill>
                <a:effectLst/>
                <a:latin typeface="Arial" panose="020B0604020202020204" pitchFamily="34" charset="0"/>
              </a:rPr>
              <a:t>recieved</a:t>
            </a:r>
            <a:r>
              <a:rPr lang="en-AU" sz="1200" b="0" i="0" u="none" strike="noStrike" dirty="0">
                <a:solidFill>
                  <a:srgbClr val="000000"/>
                </a:solidFill>
                <a:effectLst/>
                <a:latin typeface="Arial" panose="020B0604020202020204" pitchFamily="34" charset="0"/>
              </a:rPr>
              <a:t> by the new born NS mass.</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Later calculate Post SN effects on orbital dynamics, GW merger timescale</a:t>
            </a:r>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7</a:t>
            </a:fld>
            <a:endParaRPr lang="en-US"/>
          </a:p>
        </p:txBody>
      </p:sp>
    </p:spTree>
    <p:extLst>
      <p:ext uri="{BB962C8B-B14F-4D97-AF65-F5344CB8AC3E}">
        <p14:creationId xmlns:p14="http://schemas.microsoft.com/office/powerpoint/2010/main" val="29158110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initial orbital period and He-star mass are two critical parameters that affect the evolution of the binary. </a:t>
            </a:r>
          </a:p>
          <a:p>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Using MESA</a:t>
            </a:r>
          </a:p>
          <a:p>
            <a:r>
              <a:rPr lang="en-AU" dirty="0"/>
              <a:t>modelled a large population of He-Ns binary evolution - as shown in the plot, different </a:t>
            </a:r>
            <a:r>
              <a:rPr lang="en-AU" dirty="0" err="1"/>
              <a:t>color</a:t>
            </a:r>
            <a:r>
              <a:rPr lang="en-AU" dirty="0"/>
              <a:t> points indicates different orbital period.</a:t>
            </a:r>
          </a:p>
          <a:p>
            <a:endParaRPr lang="en-AU" dirty="0"/>
          </a:p>
          <a:p>
            <a:r>
              <a:rPr lang="en-AU" dirty="0"/>
              <a:t>The red and blue line shows the range of the orbital period that allows mass transfer by Roche lobe overflow. </a:t>
            </a:r>
          </a:p>
          <a:p>
            <a:endParaRPr lang="en-AU" dirty="0"/>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8</a:t>
            </a:fld>
            <a:endParaRPr lang="en-US"/>
          </a:p>
        </p:txBody>
      </p:sp>
    </p:spTree>
    <p:extLst>
      <p:ext uri="{BB962C8B-B14F-4D97-AF65-F5344CB8AC3E}">
        <p14:creationId xmlns:p14="http://schemas.microsoft.com/office/powerpoint/2010/main" val="4061835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plot shows the post-SN remnant masses and kick velocities as a function of co core mass.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plot on the left shows remnant masses  - The relationship between the remnant mass and </a:t>
            </a:r>
            <a:r>
              <a:rPr lang="en-US" dirty="0" err="1"/>
              <a:t>mco</a:t>
            </a:r>
            <a:r>
              <a:rPr lang="en-US" dirty="0"/>
              <a:t> is not well understood, but this prescription handles it in such a way that they get a local maxima, producing neutron star remnants of 1.8-2msun. However, some studies consider more of a linear relation, indicating as the co core masses increases, remnant masses will increase. </a:t>
            </a:r>
          </a:p>
          <a:p>
            <a:endParaRPr lang="en-US" dirty="0"/>
          </a:p>
          <a:p>
            <a:r>
              <a:rPr lang="en-US" dirty="0"/>
              <a:t>Plot on the right, shows the kick velocities imparted onto these new born neutron stars. Depending on the final helium envelope and co core mass the star undergoes different supernova explosion,. these supernovae kicks the new born neutron star only to a few km/s, However, this prescription overestimates the explosion energies of ECSN and </a:t>
            </a:r>
            <a:r>
              <a:rPr lang="en-US" dirty="0" err="1"/>
              <a:t>USSNe</a:t>
            </a:r>
            <a:r>
              <a:rPr lang="en-US" dirty="0"/>
              <a:t>.  </a:t>
            </a:r>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9</a:t>
            </a:fld>
            <a:endParaRPr lang="en-US"/>
          </a:p>
        </p:txBody>
      </p:sp>
    </p:spTree>
    <p:extLst>
      <p:ext uri="{BB962C8B-B14F-4D97-AF65-F5344CB8AC3E}">
        <p14:creationId xmlns:p14="http://schemas.microsoft.com/office/powerpoint/2010/main" val="3700505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t>
            </a:r>
            <a:r>
              <a:rPr lang="en-US" dirty="0" err="1"/>
              <a:t>bianries</a:t>
            </a:r>
            <a:r>
              <a:rPr lang="en-US" dirty="0"/>
              <a:t> survive the supernova explosion, it significantly changes the orbital dynamics of the binary </a:t>
            </a:r>
          </a:p>
          <a:p>
            <a:r>
              <a:rPr lang="en-US" dirty="0"/>
              <a:t>This plot shows the weighted </a:t>
            </a:r>
            <a:r>
              <a:rPr lang="en-US" dirty="0" err="1"/>
              <a:t>Porb</a:t>
            </a:r>
            <a:r>
              <a:rPr lang="en-US" dirty="0"/>
              <a:t>-e of all of my models combined. Lower orbital periods have higher weights</a:t>
            </a:r>
          </a:p>
          <a:p>
            <a:endParaRPr lang="en-US" dirty="0"/>
          </a:p>
          <a:p>
            <a:r>
              <a:rPr lang="en-US" dirty="0"/>
              <a:t>If you look at the red stars which is the distribution of the observed DNS s’ </a:t>
            </a:r>
            <a:r>
              <a:rPr lang="en-US" dirty="0" err="1"/>
              <a:t>Porb</a:t>
            </a:r>
            <a:r>
              <a:rPr lang="en-US" dirty="0"/>
              <a:t>-e there’s a gap between e=0.2-0.5, however this gap isn’t reproduced by the model. </a:t>
            </a:r>
          </a:p>
          <a:p>
            <a:endParaRPr lang="en-US" dirty="0"/>
          </a:p>
          <a:p>
            <a:r>
              <a:rPr lang="en-US" dirty="0"/>
              <a:t>Even the systems at low orbital period here receives higher kicks thereby producing broader range of </a:t>
            </a:r>
            <a:r>
              <a:rPr lang="en-US" dirty="0" err="1"/>
              <a:t>ecccentricities</a:t>
            </a:r>
            <a:r>
              <a:rPr lang="en-US" dirty="0"/>
              <a:t>. This is because the standard prescription overestimates the kick velocities for USSN and ECSN, which should be a few tens of km/s. </a:t>
            </a:r>
          </a:p>
          <a:p>
            <a:endParaRPr lang="en-US" dirty="0"/>
          </a:p>
          <a:p>
            <a:r>
              <a:rPr lang="en-US" dirty="0"/>
              <a:t>According to this model it could mean that either we have not observed any DNS in this parameter space until now or that the model overpredicts eccentricities.</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10</a:t>
            </a:fld>
            <a:endParaRPr lang="en-US"/>
          </a:p>
        </p:txBody>
      </p:sp>
    </p:spTree>
    <p:extLst>
      <p:ext uri="{BB962C8B-B14F-4D97-AF65-F5344CB8AC3E}">
        <p14:creationId xmlns:p14="http://schemas.microsoft.com/office/powerpoint/2010/main" val="976173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important distribution is the double neutron star total mass distribution based on the standard model prescription. The white dotted lines represent the observed </a:t>
            </a:r>
            <a:r>
              <a:rPr lang="en-US" dirty="0" err="1"/>
              <a:t>galatic</a:t>
            </a:r>
            <a:r>
              <a:rPr lang="en-US" dirty="0"/>
              <a:t> </a:t>
            </a:r>
            <a:r>
              <a:rPr lang="en-US" dirty="0" err="1"/>
              <a:t>dns</a:t>
            </a:r>
            <a:r>
              <a:rPr lang="en-US" dirty="0"/>
              <a:t> in the field. The red line represents my simulated recycled systems, which is(compared to) representative of the galactic radio sources population</a:t>
            </a:r>
          </a:p>
          <a:p>
            <a:r>
              <a:rPr lang="en-US" dirty="0"/>
              <a:t>The lilac dot dashed line represents all of the simulated systems, which are compared to the GW system population. </a:t>
            </a:r>
          </a:p>
          <a:p>
            <a:r>
              <a:rPr lang="en-US" dirty="0"/>
              <a:t>Here, we can see an extended tail above 3Msun, in both the population, but we would focus on the recycled population. This model overproduces high mass system which cant be seen in the observed population. And this comes from the previously mentioned spike that occurs due to the assumption made of </a:t>
            </a:r>
            <a:r>
              <a:rPr lang="en-US" dirty="0" err="1"/>
              <a:t>remnat</a:t>
            </a:r>
            <a:r>
              <a:rPr lang="en-US" dirty="0"/>
              <a:t> mass and co core mass relation. </a:t>
            </a:r>
          </a:p>
          <a:p>
            <a:endParaRPr lang="en-US" dirty="0"/>
          </a:p>
          <a:p>
            <a:r>
              <a:rPr lang="en-US" dirty="0"/>
              <a:t>This can mean two things – either we haven’t seen any massive systems in radio observations yet or that there’s an </a:t>
            </a:r>
            <a:r>
              <a:rPr lang="en-US" dirty="0" err="1"/>
              <a:t>indiscrepency</a:t>
            </a:r>
            <a:r>
              <a:rPr lang="en-US" dirty="0"/>
              <a:t> between the modeled and observed population </a:t>
            </a:r>
          </a:p>
          <a:p>
            <a:endParaRPr lang="en-US" dirty="0"/>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11</a:t>
            </a:fld>
            <a:endParaRPr lang="en-US"/>
          </a:p>
        </p:txBody>
      </p:sp>
    </p:spTree>
    <p:extLst>
      <p:ext uri="{BB962C8B-B14F-4D97-AF65-F5344CB8AC3E}">
        <p14:creationId xmlns:p14="http://schemas.microsoft.com/office/powerpoint/2010/main" val="4052562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12</a:t>
            </a:fld>
            <a:endParaRPr lang="en-US"/>
          </a:p>
        </p:txBody>
      </p:sp>
    </p:spTree>
    <p:extLst>
      <p:ext uri="{BB962C8B-B14F-4D97-AF65-F5344CB8AC3E}">
        <p14:creationId xmlns:p14="http://schemas.microsoft.com/office/powerpoint/2010/main" val="37108405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calibrate our models to ensure it can explain the observed population first, we modify the standard prescription slightly by changing </a:t>
            </a:r>
            <a:r>
              <a:rPr lang="en-US" dirty="0" err="1"/>
              <a:t>thr</a:t>
            </a:r>
            <a:r>
              <a:rPr lang="en-US" dirty="0"/>
              <a:t> remnant mass and co core mass relationship, incorporating USSN and ECSN condition and </a:t>
            </a:r>
          </a:p>
          <a:p>
            <a:endParaRPr lang="en-US" dirty="0"/>
          </a:p>
          <a:p>
            <a:endParaRPr lang="en-US" dirty="0"/>
          </a:p>
          <a:p>
            <a:r>
              <a:rPr lang="en-AU" dirty="0"/>
              <a:t>But </a:t>
            </a:r>
            <a:r>
              <a:rPr lang="en-AU" b="1" dirty="0"/>
              <a:t>observations show fewer slow-merging systems than theory would predict</a:t>
            </a:r>
            <a:r>
              <a:rPr lang="en-AU" dirty="0"/>
              <a:t>.</a:t>
            </a:r>
          </a:p>
          <a:p>
            <a:r>
              <a:rPr lang="en-AU"/>
              <a:t>So, adding kicks that selectively disrupt some of these slow-merging binaries helps match the </a:t>
            </a:r>
            <a:r>
              <a:rPr lang="en-AU" b="1"/>
              <a:t>theoretical population</a:t>
            </a:r>
            <a:r>
              <a:rPr lang="en-AU"/>
              <a:t> to the </a:t>
            </a:r>
            <a:r>
              <a:rPr lang="en-AU" b="1"/>
              <a:t>radio-visible population</a:t>
            </a:r>
            <a:r>
              <a:rPr lang="en-AU"/>
              <a:t> we actually observe.</a:t>
            </a:r>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13</a:t>
            </a:fld>
            <a:endParaRPr lang="en-US"/>
          </a:p>
        </p:txBody>
      </p:sp>
    </p:spTree>
    <p:extLst>
      <p:ext uri="{BB962C8B-B14F-4D97-AF65-F5344CB8AC3E}">
        <p14:creationId xmlns:p14="http://schemas.microsoft.com/office/powerpoint/2010/main" val="2711554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the remnant masses increases </a:t>
            </a:r>
            <a:r>
              <a:rPr lang="en-US" dirty="0" err="1"/>
              <a:t>graduually</a:t>
            </a:r>
            <a:r>
              <a:rPr lang="en-US" dirty="0"/>
              <a:t> as MCO increases</a:t>
            </a:r>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14</a:t>
            </a:fld>
            <a:endParaRPr lang="en-US"/>
          </a:p>
        </p:txBody>
      </p:sp>
    </p:spTree>
    <p:extLst>
      <p:ext uri="{BB962C8B-B14F-4D97-AF65-F5344CB8AC3E}">
        <p14:creationId xmlns:p14="http://schemas.microsoft.com/office/powerpoint/2010/main" val="28094326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implementing the USSN and kick prescription, new born NS resulting from low mass helium stars received smaller kick of tens of km/s </a:t>
            </a:r>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15</a:t>
            </a:fld>
            <a:endParaRPr lang="en-US"/>
          </a:p>
        </p:txBody>
      </p:sp>
    </p:spTree>
    <p:extLst>
      <p:ext uri="{BB962C8B-B14F-4D97-AF65-F5344CB8AC3E}">
        <p14:creationId xmlns:p14="http://schemas.microsoft.com/office/powerpoint/2010/main" val="17061496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implementing the modification,</a:t>
            </a:r>
          </a:p>
          <a:p>
            <a:r>
              <a:rPr lang="en-US" dirty="0"/>
              <a:t>This is how that </a:t>
            </a:r>
            <a:r>
              <a:rPr lang="en-US" dirty="0" err="1"/>
              <a:t>porb</a:t>
            </a:r>
            <a:r>
              <a:rPr lang="en-US" dirty="0"/>
              <a:t>-e plot look like</a:t>
            </a:r>
          </a:p>
          <a:p>
            <a:endParaRPr lang="en-US" dirty="0"/>
          </a:p>
          <a:p>
            <a:pPr marL="171450" indent="-171450">
              <a:buFontTx/>
              <a:buChar char="-"/>
            </a:pPr>
            <a:r>
              <a:rPr lang="en-US" dirty="0"/>
              <a:t>Appears to be much better!</a:t>
            </a:r>
          </a:p>
          <a:p>
            <a:pPr marL="171450" indent="-171450">
              <a:buFontTx/>
              <a:buChar char="-"/>
            </a:pPr>
            <a:r>
              <a:rPr lang="en-US" dirty="0"/>
              <a:t>Systems that undergo the USSN and kick prescription gets kicked to of tens of km/s which leads to </a:t>
            </a:r>
            <a:r>
              <a:rPr lang="en-US" dirty="0" err="1"/>
              <a:t>llower</a:t>
            </a:r>
            <a:r>
              <a:rPr lang="en-US" dirty="0"/>
              <a:t> eccentric DNS system.</a:t>
            </a:r>
          </a:p>
          <a:p>
            <a:pPr marL="171450" indent="-171450">
              <a:buFontTx/>
              <a:buChar char="-"/>
            </a:pPr>
            <a:r>
              <a:rPr lang="en-US" dirty="0"/>
              <a:t> However the gap I mentioned before between 0.2-0.5 e, remains slightly filled. This is largely due to intermediate mass helium stars. </a:t>
            </a:r>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16</a:t>
            </a:fld>
            <a:endParaRPr lang="en-US"/>
          </a:p>
        </p:txBody>
      </p:sp>
    </p:spTree>
    <p:extLst>
      <p:ext uri="{BB962C8B-B14F-4D97-AF65-F5344CB8AC3E}">
        <p14:creationId xmlns:p14="http://schemas.microsoft.com/office/powerpoint/2010/main" val="1125391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a:t>
            </a:r>
            <a:r>
              <a:rPr lang="en-US" dirty="0" err="1"/>
              <a:t>mtot</a:t>
            </a:r>
            <a:r>
              <a:rPr lang="en-US" dirty="0"/>
              <a:t> distribution looks like </a:t>
            </a:r>
          </a:p>
          <a:p>
            <a:pPr marL="171450" indent="-171450">
              <a:buFontTx/>
              <a:buChar char="-"/>
            </a:pPr>
            <a:r>
              <a:rPr lang="en-US" dirty="0"/>
              <a:t>The tail has grown shorter </a:t>
            </a:r>
          </a:p>
          <a:p>
            <a:pPr marL="171450" indent="-171450">
              <a:buFontTx/>
              <a:buChar char="-"/>
            </a:pPr>
            <a:r>
              <a:rPr lang="en-US" dirty="0"/>
              <a:t>Better agreement with the observed </a:t>
            </a:r>
            <a:r>
              <a:rPr lang="en-US" dirty="0" err="1"/>
              <a:t>dns</a:t>
            </a:r>
            <a:r>
              <a:rPr lang="en-US" dirty="0"/>
              <a:t> total mass distribution</a:t>
            </a:r>
          </a:p>
          <a:p>
            <a:pPr marL="171450" indent="-171450">
              <a:buFontTx/>
              <a:buChar char="-"/>
            </a:pPr>
            <a:r>
              <a:rPr lang="en-US" dirty="0"/>
              <a:t>Peaks at 2.6msun because we choose constant ns1 value</a:t>
            </a:r>
          </a:p>
          <a:p>
            <a:pPr marL="171450" indent="-171450">
              <a:buFontTx/>
              <a:buChar char="-"/>
            </a:pPr>
            <a:endParaRPr lang="en-US" dirty="0"/>
          </a:p>
          <a:p>
            <a:pPr marL="171450" indent="-171450">
              <a:buFontTx/>
              <a:buChar char="-"/>
            </a:pPr>
            <a:r>
              <a:rPr lang="en-US" dirty="0"/>
              <a:t>After calibrating our models with the observed population, we calculate the fraction of heavy </a:t>
            </a:r>
            <a:r>
              <a:rPr lang="en-US" dirty="0" err="1"/>
              <a:t>dns</a:t>
            </a:r>
            <a:r>
              <a:rPr lang="en-US" dirty="0"/>
              <a:t> &gt; 3Msun in all systems which is only 0.01%. This means our model doesn’t produce enough heavy </a:t>
            </a:r>
            <a:r>
              <a:rPr lang="en-US" dirty="0" err="1"/>
              <a:t>dns</a:t>
            </a:r>
            <a:r>
              <a:rPr lang="en-US" dirty="0"/>
              <a:t> systems to explain the GW population. Indicating at heavy DNS formed with helium stars with solar metallicity might be rare.</a:t>
            </a:r>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17</a:t>
            </a:fld>
            <a:endParaRPr lang="en-US"/>
          </a:p>
        </p:txBody>
      </p:sp>
    </p:spTree>
    <p:extLst>
      <p:ext uri="{BB962C8B-B14F-4D97-AF65-F5344CB8AC3E}">
        <p14:creationId xmlns:p14="http://schemas.microsoft.com/office/powerpoint/2010/main" val="38620465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still look at the heavy </a:t>
            </a:r>
            <a:r>
              <a:rPr lang="en-US" dirty="0" err="1"/>
              <a:t>dns</a:t>
            </a:r>
            <a:r>
              <a:rPr lang="en-US" dirty="0"/>
              <a:t> systems produced in our population to see  which formation channel is most likely to form massive gw190425 like systems with the assumption of helium stars with solar metallicity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Since the models doesn’t form enough massive systems at solar </a:t>
            </a:r>
            <a:r>
              <a:rPr lang="en-US" dirty="0" err="1"/>
              <a:t>metalicty</a:t>
            </a:r>
            <a:r>
              <a:rPr lang="en-US" dirty="0"/>
              <a:t>, its difficult to say which formation pathway is a self consistent pathway for forming them as we can’t test other </a:t>
            </a:r>
            <a:r>
              <a:rPr lang="en-US" dirty="0" err="1"/>
              <a:t>unceratinities</a:t>
            </a:r>
            <a:r>
              <a:rPr lang="en-US" dirty="0"/>
              <a:t> here,</a:t>
            </a:r>
            <a:br>
              <a:rPr lang="en-US" dirty="0"/>
            </a:br>
            <a:br>
              <a:rPr lang="en-US" dirty="0"/>
            </a:br>
            <a:r>
              <a:rPr lang="en-US" dirty="0"/>
              <a:t>and so </a:t>
            </a:r>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18</a:t>
            </a:fld>
            <a:endParaRPr lang="en-US"/>
          </a:p>
        </p:txBody>
      </p:sp>
    </p:spTree>
    <p:extLst>
      <p:ext uri="{BB962C8B-B14F-4D97-AF65-F5344CB8AC3E}">
        <p14:creationId xmlns:p14="http://schemas.microsoft.com/office/powerpoint/2010/main" val="34194858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[Something to let audience know we are STILL RECAPPING]</a:t>
            </a:r>
          </a:p>
          <a:p>
            <a:pPr algn="l" rtl="0" fontAlgn="base">
              <a:spcBef>
                <a:spcPts val="0"/>
              </a:spcBef>
              <a:spcAft>
                <a:spcPts val="0"/>
              </a:spcAft>
              <a:buFont typeface="Arial" panose="020B0604020202020204" pitchFamily="34" charset="0"/>
              <a:buChar char="•"/>
            </a:pPr>
            <a:endParaRPr lang="en-AU" sz="1200" b="0" i="0" u="none" strike="noStrike" dirty="0">
              <a:solidFill>
                <a:srgbClr val="000000"/>
              </a:solidFill>
              <a:effectLst/>
              <a:latin typeface="Arial" panose="020B0604020202020204" pitchFamily="34" charset="0"/>
            </a:endParaRP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This plot shows us the radius of the helium stars at the start of he </a:t>
            </a:r>
            <a:r>
              <a:rPr lang="en-AU" sz="1200" b="0" i="0" u="none" strike="noStrike" dirty="0" err="1">
                <a:solidFill>
                  <a:srgbClr val="000000"/>
                </a:solidFill>
                <a:effectLst/>
                <a:latin typeface="Arial" panose="020B0604020202020204" pitchFamily="34" charset="0"/>
              </a:rPr>
              <a:t>zams</a:t>
            </a:r>
            <a:r>
              <a:rPr lang="en-AU" sz="1200" b="0" i="0" u="none" strike="noStrike" dirty="0">
                <a:solidFill>
                  <a:srgbClr val="000000"/>
                </a:solidFill>
                <a:effectLst/>
                <a:latin typeface="Arial" panose="020B0604020202020204" pitchFamily="34" charset="0"/>
              </a:rPr>
              <a:t> and the maximum radius before igniting carbon burning</a:t>
            </a:r>
          </a:p>
          <a:p>
            <a:pPr algn="l" rtl="0" fontAlgn="base">
              <a:spcBef>
                <a:spcPts val="0"/>
              </a:spcBef>
              <a:spcAft>
                <a:spcPts val="0"/>
              </a:spcAft>
              <a:buFont typeface="Arial" panose="020B0604020202020204" pitchFamily="34" charset="0"/>
              <a:buChar char="•"/>
            </a:pPr>
            <a:endParaRPr lang="en-AU" sz="1200" b="0" i="0" u="none" strike="noStrike" dirty="0">
              <a:solidFill>
                <a:srgbClr val="000000"/>
              </a:solidFill>
              <a:effectLst/>
              <a:latin typeface="Arial" panose="020B0604020202020204" pitchFamily="34" charset="0"/>
            </a:endParaRP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whether the star undergoes RLO MT depends on the initial mass. for 2.9 M, the radius expands to more than 100 and will undergo Roche lobe overflow. whereas &gt;= 3.5 M doesn’t expand much and may or may not. It may if in close</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 </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Plot gives parameter space explore final fate of He in He-NS.</a:t>
            </a:r>
          </a:p>
        </p:txBody>
      </p:sp>
      <p:sp>
        <p:nvSpPr>
          <p:cNvPr id="4" name="Slide Number Placeholder 3"/>
          <p:cNvSpPr>
            <a:spLocks noGrp="1"/>
          </p:cNvSpPr>
          <p:nvPr>
            <p:ph type="sldNum" sz="quarter" idx="5"/>
          </p:nvPr>
        </p:nvSpPr>
        <p:spPr/>
        <p:txBody>
          <a:bodyPr/>
          <a:lstStyle/>
          <a:p>
            <a:fld id="{2AC9DE2E-90A1-4A41-9686-B2741A90A966}" type="slidenum">
              <a:rPr lang="en-US" smtClean="0"/>
              <a:t>22</a:t>
            </a:fld>
            <a:endParaRPr lang="en-US"/>
          </a:p>
        </p:txBody>
      </p:sp>
    </p:spTree>
    <p:extLst>
      <p:ext uri="{BB962C8B-B14F-4D97-AF65-F5344CB8AC3E}">
        <p14:creationId xmlns:p14="http://schemas.microsoft.com/office/powerpoint/2010/main" val="35128298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plot shows the post-SN remnant masses and kick velocities as a function of co core mass.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plot on the left shows remnant masses  - The relationship between the remnant mass and </a:t>
            </a:r>
            <a:r>
              <a:rPr lang="en-US" dirty="0" err="1"/>
              <a:t>mco</a:t>
            </a:r>
            <a:r>
              <a:rPr lang="en-US" dirty="0"/>
              <a:t> is not well understood, but this prescription handles it in such a way that they get a local maxima, producing neutron star remnants of 1.8-2msun. However, some studies consider more of a linear relation, indicating as the co core masses increases, remnant masses will increase. </a:t>
            </a:r>
          </a:p>
          <a:p>
            <a:endParaRPr lang="en-US" dirty="0"/>
          </a:p>
          <a:p>
            <a:r>
              <a:rPr lang="en-US" dirty="0"/>
              <a:t>Plot on the right, shows the kick velocities imparted onto these new born neutron stars. Depending on the final helium envelope and co core mass the star undergoes different supernova explosion, as I mentioned in the previous slide. these supernovae kicks the new born neutron star only to a few km/s, However, this prescription overestimates the explosion energies of ECSN and </a:t>
            </a:r>
            <a:r>
              <a:rPr lang="en-US" dirty="0" err="1"/>
              <a:t>USSNe</a:t>
            </a:r>
            <a:r>
              <a:rPr lang="en-US" dirty="0"/>
              <a:t>.  </a:t>
            </a:r>
          </a:p>
          <a:p>
            <a:r>
              <a:rPr lang="en-US" dirty="0"/>
              <a:t>-------------------------------------------------------</a:t>
            </a:r>
          </a:p>
          <a:p>
            <a:endParaRPr lang="en-US" dirty="0"/>
          </a:p>
          <a:p>
            <a:endParaRPr lang="en-US" dirty="0"/>
          </a:p>
          <a:p>
            <a:r>
              <a:rPr lang="en-US" dirty="0"/>
              <a:t> </a:t>
            </a:r>
          </a:p>
          <a:p>
            <a:endParaRPr lang="en-US" dirty="0"/>
          </a:p>
          <a:p>
            <a:endParaRPr lang="en-US" dirty="0"/>
          </a:p>
        </p:txBody>
      </p:sp>
      <p:sp>
        <p:nvSpPr>
          <p:cNvPr id="4" name="Slide Number Placeholder 3"/>
          <p:cNvSpPr>
            <a:spLocks noGrp="1"/>
          </p:cNvSpPr>
          <p:nvPr>
            <p:ph type="sldNum" sz="quarter" idx="5"/>
          </p:nvPr>
        </p:nvSpPr>
        <p:spPr/>
        <p:txBody>
          <a:bodyPr/>
          <a:lstStyle/>
          <a:p>
            <a:fld id="{2AC9DE2E-90A1-4A41-9686-B2741A90A966}" type="slidenum">
              <a:rPr lang="en-US" smtClean="0"/>
              <a:t>23</a:t>
            </a:fld>
            <a:endParaRPr lang="en-US"/>
          </a:p>
        </p:txBody>
      </p:sp>
    </p:spTree>
    <p:extLst>
      <p:ext uri="{BB962C8B-B14F-4D97-AF65-F5344CB8AC3E}">
        <p14:creationId xmlns:p14="http://schemas.microsoft.com/office/powerpoint/2010/main" val="14825728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If the </a:t>
            </a:r>
            <a:r>
              <a:rPr lang="en-US" dirty="0" err="1"/>
              <a:t>bianries</a:t>
            </a:r>
            <a:r>
              <a:rPr lang="en-US" dirty="0"/>
              <a:t> survive the supernova explosion, it significantly changes the orbital dynamics of the binary </a:t>
            </a:r>
          </a:p>
          <a:p>
            <a:r>
              <a:rPr lang="en-US" dirty="0"/>
              <a:t>This plot shows the weighted </a:t>
            </a:r>
            <a:r>
              <a:rPr lang="en-US" dirty="0" err="1"/>
              <a:t>Porb</a:t>
            </a:r>
            <a:r>
              <a:rPr lang="en-US" dirty="0"/>
              <a:t>-e of all of my models combined. Lower orbital periods have higher weights</a:t>
            </a:r>
          </a:p>
          <a:p>
            <a:endParaRPr lang="en-US" dirty="0"/>
          </a:p>
          <a:p>
            <a:r>
              <a:rPr lang="en-US" dirty="0"/>
              <a:t>If you look at the red stars which is the distribution of the observed DNS s’ </a:t>
            </a:r>
            <a:r>
              <a:rPr lang="en-US" dirty="0" err="1"/>
              <a:t>Porb</a:t>
            </a:r>
            <a:r>
              <a:rPr lang="en-US" dirty="0"/>
              <a:t>-e there’s a gap between e=0.2-0.5, however this gap isn’t reproduced by the model. </a:t>
            </a:r>
          </a:p>
          <a:p>
            <a:endParaRPr lang="en-US" dirty="0"/>
          </a:p>
          <a:p>
            <a:r>
              <a:rPr lang="en-US" dirty="0"/>
              <a:t>Even the systems at low orbital period here receives higher kicks thereby producing broader range of </a:t>
            </a:r>
            <a:r>
              <a:rPr lang="en-US" dirty="0" err="1"/>
              <a:t>ecccentricities</a:t>
            </a:r>
            <a:r>
              <a:rPr lang="en-US" dirty="0"/>
              <a:t>. This is because the standard prescription overestimates the kick velocities for USSN and ECSN, which should be a few tens of km/s. </a:t>
            </a:r>
          </a:p>
          <a:p>
            <a:endParaRPr lang="en-US" dirty="0"/>
          </a:p>
          <a:p>
            <a:r>
              <a:rPr lang="en-US" dirty="0"/>
              <a:t>According to this model it could mean that either we have not observed any DNS in this parameter space until now or that the model overpredicts eccentricities.</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2AC9DE2E-90A1-4A41-9686-B2741A90A966}" type="slidenum">
              <a:rPr lang="en-US" smtClean="0"/>
              <a:t>24</a:t>
            </a:fld>
            <a:endParaRPr lang="en-US"/>
          </a:p>
        </p:txBody>
      </p:sp>
    </p:spTree>
    <p:extLst>
      <p:ext uri="{BB962C8B-B14F-4D97-AF65-F5344CB8AC3E}">
        <p14:creationId xmlns:p14="http://schemas.microsoft.com/office/powerpoint/2010/main" val="39841462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the calibrated model, To test all the </a:t>
            </a:r>
            <a:r>
              <a:rPr lang="en-US" dirty="0" err="1"/>
              <a:t>uncertainities</a:t>
            </a:r>
            <a:r>
              <a:rPr lang="en-US" dirty="0"/>
              <a:t>,  we will simulate models with</a:t>
            </a:r>
          </a:p>
          <a:p>
            <a:r>
              <a:rPr lang="en-US" dirty="0"/>
              <a:t>Lower metallicities</a:t>
            </a:r>
          </a:p>
          <a:p>
            <a:r>
              <a:rPr lang="en-US" dirty="0"/>
              <a:t>Massive first born NS </a:t>
            </a:r>
          </a:p>
          <a:p>
            <a:r>
              <a:rPr lang="en-US" dirty="0"/>
              <a:t>What happens to the binary if we allow super </a:t>
            </a:r>
            <a:r>
              <a:rPr lang="en-US" dirty="0" err="1"/>
              <a:t>eddington</a:t>
            </a:r>
            <a:r>
              <a:rPr lang="en-US" dirty="0"/>
              <a:t> accretion</a:t>
            </a:r>
          </a:p>
          <a:p>
            <a:endParaRPr lang="en-US" dirty="0"/>
          </a:p>
          <a:p>
            <a:r>
              <a:rPr lang="en-AU" sz="1200" kern="1200" dirty="0" err="1">
                <a:solidFill>
                  <a:schemeClr val="tx1"/>
                </a:solidFill>
                <a:effectLst/>
                <a:latin typeface="+mn-lt"/>
                <a:ea typeface="+mn-ea"/>
                <a:cs typeface="+mn-cs"/>
              </a:rPr>
              <a:t>Thisstudyislimitedtomodelsassumingafixedfirst-bornneutron</a:t>
            </a:r>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star mass of 1.4 M⊙ and </a:t>
            </a:r>
            <a:r>
              <a:rPr lang="en-AU" sz="1200" kern="1200" dirty="0" err="1">
                <a:solidFill>
                  <a:schemeClr val="tx1"/>
                </a:solidFill>
                <a:effectLst/>
                <a:latin typeface="+mn-lt"/>
                <a:ea typeface="+mn-ea"/>
                <a:cs typeface="+mn-cs"/>
              </a:rPr>
              <a:t>modeling</a:t>
            </a:r>
            <a:r>
              <a:rPr lang="en-AU" sz="1200" kern="1200" dirty="0">
                <a:solidFill>
                  <a:schemeClr val="tx1"/>
                </a:solidFill>
                <a:effectLst/>
                <a:latin typeface="+mn-lt"/>
                <a:ea typeface="+mn-ea"/>
                <a:cs typeface="+mn-cs"/>
              </a:rPr>
              <a:t> He–NS binary evolution at so-</a:t>
            </a:r>
          </a:p>
          <a:p>
            <a:r>
              <a:rPr lang="en-AU" sz="1200" kern="1200" dirty="0">
                <a:solidFill>
                  <a:schemeClr val="tx1"/>
                </a:solidFill>
                <a:effectLst/>
                <a:latin typeface="+mn-lt"/>
                <a:ea typeface="+mn-ea"/>
                <a:cs typeface="+mn-cs"/>
              </a:rPr>
              <a:t>lar metallicity. These simplifications constrain our ability to explore</a:t>
            </a:r>
          </a:p>
          <a:p>
            <a:r>
              <a:rPr lang="en-AU" sz="1200" kern="1200" dirty="0">
                <a:solidFill>
                  <a:schemeClr val="tx1"/>
                </a:solidFill>
                <a:effectLst/>
                <a:latin typeface="+mn-lt"/>
                <a:ea typeface="+mn-ea"/>
                <a:cs typeface="+mn-cs"/>
              </a:rPr>
              <a:t>additional uncertainties relevant to the formation of GW190425, as</a:t>
            </a:r>
          </a:p>
          <a:p>
            <a:r>
              <a:rPr lang="en-AU" sz="1200" kern="1200" dirty="0">
                <a:solidFill>
                  <a:schemeClr val="tx1"/>
                </a:solidFill>
                <a:effectLst/>
                <a:latin typeface="+mn-lt"/>
                <a:ea typeface="+mn-ea"/>
                <a:cs typeface="+mn-cs"/>
              </a:rPr>
              <a:t>outlined in Section 1. In Part II of this work, we will systematically</a:t>
            </a:r>
          </a:p>
          <a:p>
            <a:r>
              <a:rPr lang="en-AU" sz="1200" kern="1200" dirty="0">
                <a:solidFill>
                  <a:schemeClr val="tx1"/>
                </a:solidFill>
                <a:effectLst/>
                <a:latin typeface="+mn-lt"/>
                <a:ea typeface="+mn-ea"/>
                <a:cs typeface="+mn-cs"/>
              </a:rPr>
              <a:t>examine how the evolution of double neutron star systems is </a:t>
            </a:r>
            <a:r>
              <a:rPr lang="en-AU" sz="1200" kern="1200" dirty="0" err="1">
                <a:solidFill>
                  <a:schemeClr val="tx1"/>
                </a:solidFill>
                <a:effectLst/>
                <a:latin typeface="+mn-lt"/>
                <a:ea typeface="+mn-ea"/>
                <a:cs typeface="+mn-cs"/>
              </a:rPr>
              <a:t>influ</a:t>
            </a:r>
            <a:r>
              <a:rPr lang="en-AU" sz="1200" kern="1200" dirty="0">
                <a:solidFill>
                  <a:schemeClr val="tx1"/>
                </a:solidFill>
                <a:effectLst/>
                <a:latin typeface="+mn-lt"/>
                <a:ea typeface="+mn-ea"/>
                <a:cs typeface="+mn-cs"/>
              </a:rPr>
              <a:t>-</a:t>
            </a:r>
          </a:p>
          <a:p>
            <a:r>
              <a:rPr lang="en-AU" sz="1200" kern="1200" dirty="0" err="1">
                <a:solidFill>
                  <a:schemeClr val="tx1"/>
                </a:solidFill>
                <a:effectLst/>
                <a:latin typeface="+mn-lt"/>
                <a:ea typeface="+mn-ea"/>
                <a:cs typeface="+mn-cs"/>
              </a:rPr>
              <a:t>enced</a:t>
            </a:r>
            <a:r>
              <a:rPr lang="en-AU" sz="1200" kern="1200" dirty="0">
                <a:solidFill>
                  <a:schemeClr val="tx1"/>
                </a:solidFill>
                <a:effectLst/>
                <a:latin typeface="+mn-lt"/>
                <a:ea typeface="+mn-ea"/>
                <a:cs typeface="+mn-cs"/>
              </a:rPr>
              <a:t> by lower metallicities, assess how different first-born neutron</a:t>
            </a:r>
          </a:p>
          <a:p>
            <a:r>
              <a:rPr lang="en-AU" sz="1200" kern="1200" dirty="0">
                <a:solidFill>
                  <a:schemeClr val="tx1"/>
                </a:solidFill>
                <a:effectLst/>
                <a:latin typeface="+mn-lt"/>
                <a:ea typeface="+mn-ea"/>
                <a:cs typeface="+mn-cs"/>
              </a:rPr>
              <a:t>star masses, particularly more massive neutron stars as proposed by</a:t>
            </a:r>
          </a:p>
          <a:p>
            <a:r>
              <a:rPr lang="en-AU" sz="1200" kern="1200" dirty="0">
                <a:solidFill>
                  <a:schemeClr val="tx1"/>
                </a:solidFill>
                <a:effectLst/>
                <a:latin typeface="+mn-lt"/>
                <a:ea typeface="+mn-ea"/>
                <a:cs typeface="+mn-cs"/>
              </a:rPr>
              <a:t>Qin et al. (2024), affect binary outcomes, and investigate the </a:t>
            </a:r>
            <a:r>
              <a:rPr lang="en-AU" sz="1200" kern="1200" dirty="0" err="1">
                <a:solidFill>
                  <a:schemeClr val="tx1"/>
                </a:solidFill>
                <a:effectLst/>
                <a:latin typeface="+mn-lt"/>
                <a:ea typeface="+mn-ea"/>
                <a:cs typeface="+mn-cs"/>
              </a:rPr>
              <a:t>conse</a:t>
            </a:r>
            <a:r>
              <a:rPr lang="en-AU" sz="1200" kern="1200" dirty="0">
                <a:solidFill>
                  <a:schemeClr val="tx1"/>
                </a:solidFill>
                <a:effectLst/>
                <a:latin typeface="+mn-lt"/>
                <a:ea typeface="+mn-ea"/>
                <a:cs typeface="+mn-cs"/>
              </a:rPr>
              <a:t>-</a:t>
            </a:r>
          </a:p>
          <a:p>
            <a:r>
              <a:rPr lang="en-AU" sz="1200" kern="1200" dirty="0" err="1">
                <a:solidFill>
                  <a:schemeClr val="tx1"/>
                </a:solidFill>
                <a:effectLst/>
                <a:latin typeface="+mn-lt"/>
                <a:ea typeface="+mn-ea"/>
                <a:cs typeface="+mn-cs"/>
              </a:rPr>
              <a:t>quences</a:t>
            </a:r>
            <a:r>
              <a:rPr lang="en-AU" sz="1200" kern="1200" dirty="0">
                <a:solidFill>
                  <a:schemeClr val="tx1"/>
                </a:solidFill>
                <a:effectLst/>
                <a:latin typeface="+mn-lt"/>
                <a:ea typeface="+mn-ea"/>
                <a:cs typeface="+mn-cs"/>
              </a:rPr>
              <a:t> of allowing for super-Eddington accretion (cf. Zhang et al.</a:t>
            </a:r>
          </a:p>
          <a:p>
            <a:r>
              <a:rPr lang="en-AU" sz="1200" kern="1200" dirty="0">
                <a:solidFill>
                  <a:schemeClr val="tx1"/>
                </a:solidFill>
                <a:effectLst/>
                <a:latin typeface="+mn-lt"/>
                <a:ea typeface="+mn-ea"/>
                <a:cs typeface="+mn-cs"/>
              </a:rPr>
              <a:t>2023).</a:t>
            </a:r>
          </a:p>
          <a:p>
            <a:r>
              <a:rPr lang="en-AU" sz="1200" kern="1200" dirty="0">
                <a:solidFill>
                  <a:schemeClr val="tx1"/>
                </a:solidFill>
                <a:effectLst/>
                <a:latin typeface="+mn-lt"/>
                <a:ea typeface="+mn-ea"/>
                <a:cs typeface="+mn-cs"/>
              </a:rPr>
              <a:t>Havin</a:t>
            </a:r>
          </a:p>
          <a:p>
            <a:endParaRPr lang="en-US" dirty="0"/>
          </a:p>
          <a:p>
            <a:endParaRPr lang="en-US" dirty="0"/>
          </a:p>
          <a:p>
            <a:r>
              <a:rPr lang="en-US" dirty="0"/>
              <a:t>These assumptions will give a common ground to test all the </a:t>
            </a:r>
            <a:r>
              <a:rPr lang="en-US" dirty="0" err="1"/>
              <a:t>uncertainitis</a:t>
            </a:r>
            <a:r>
              <a:rPr lang="en-US" dirty="0"/>
              <a:t> associated with gw190425 formation and we will be able to find a self consistent formation pathway for massive systems.</a:t>
            </a:r>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25</a:t>
            </a:fld>
            <a:endParaRPr lang="en-US"/>
          </a:p>
        </p:txBody>
      </p:sp>
    </p:spTree>
    <p:extLst>
      <p:ext uri="{BB962C8B-B14F-4D97-AF65-F5344CB8AC3E}">
        <p14:creationId xmlns:p14="http://schemas.microsoft.com/office/powerpoint/2010/main" val="13482596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important distribution is the double neutron star total mass distribution based on the standard model prescription. The white dotted lines represent the observed </a:t>
            </a:r>
            <a:r>
              <a:rPr lang="en-US" dirty="0" err="1"/>
              <a:t>galatic</a:t>
            </a:r>
            <a:r>
              <a:rPr lang="en-US" dirty="0"/>
              <a:t> </a:t>
            </a:r>
            <a:r>
              <a:rPr lang="en-US" dirty="0" err="1"/>
              <a:t>dns</a:t>
            </a:r>
            <a:r>
              <a:rPr lang="en-US" dirty="0"/>
              <a:t> in the field. The red line represents my simulated recycled systems, which is(compared to) representative of the galactic radio sources population</a:t>
            </a:r>
          </a:p>
          <a:p>
            <a:r>
              <a:rPr lang="en-US" dirty="0"/>
              <a:t>The lilac dot dashed line represents all of the simulated systems, which are compared to the GW system population. </a:t>
            </a:r>
          </a:p>
          <a:p>
            <a:r>
              <a:rPr lang="en-US" dirty="0"/>
              <a:t>Here, we can see an extended tail above 3Msun, in both the population, but we would focus on the recycled population. This model overproduces high mass system which cant be seen in the observed population. And this comes from the previously mentioned spike that occurs due to the assumption made of </a:t>
            </a:r>
            <a:r>
              <a:rPr lang="en-US" dirty="0" err="1"/>
              <a:t>remnat</a:t>
            </a:r>
            <a:r>
              <a:rPr lang="en-US" dirty="0"/>
              <a:t> mass and co core mass relation. </a:t>
            </a:r>
          </a:p>
          <a:p>
            <a:endParaRPr lang="en-US" dirty="0"/>
          </a:p>
          <a:p>
            <a:r>
              <a:rPr lang="en-US" dirty="0"/>
              <a:t>This can mean two things – either we haven’t seen any massive systems in radio observations yet or that there’s an </a:t>
            </a:r>
            <a:r>
              <a:rPr lang="en-US" dirty="0" err="1"/>
              <a:t>indiscrepency</a:t>
            </a:r>
            <a:r>
              <a:rPr lang="en-US" dirty="0"/>
              <a:t> between the modeled and observed population </a:t>
            </a:r>
          </a:p>
          <a:p>
            <a:endParaRPr lang="en-US" dirty="0"/>
          </a:p>
          <a:p>
            <a:r>
              <a:rPr lang="en-US" dirty="0"/>
              <a:t> </a:t>
            </a:r>
          </a:p>
        </p:txBody>
      </p:sp>
      <p:sp>
        <p:nvSpPr>
          <p:cNvPr id="4" name="Slide Number Placeholder 3"/>
          <p:cNvSpPr>
            <a:spLocks noGrp="1"/>
          </p:cNvSpPr>
          <p:nvPr>
            <p:ph type="sldNum" sz="quarter" idx="5"/>
          </p:nvPr>
        </p:nvSpPr>
        <p:spPr/>
        <p:txBody>
          <a:bodyPr/>
          <a:lstStyle/>
          <a:p>
            <a:fld id="{2AC9DE2E-90A1-4A41-9686-B2741A90A966}" type="slidenum">
              <a:rPr lang="en-US" smtClean="0"/>
              <a:t>26</a:t>
            </a:fld>
            <a:endParaRPr lang="en-US"/>
          </a:p>
        </p:txBody>
      </p:sp>
    </p:spTree>
    <p:extLst>
      <p:ext uri="{BB962C8B-B14F-4D97-AF65-F5344CB8AC3E}">
        <p14:creationId xmlns:p14="http://schemas.microsoft.com/office/powerpoint/2010/main" val="15787953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spcBef>
                <a:spcPts val="0"/>
              </a:spcBef>
              <a:spcAft>
                <a:spcPts val="0"/>
              </a:spcAft>
            </a:pPr>
            <a:r>
              <a:rPr lang="en-AU" sz="1200" b="1" i="0" u="none" strike="noStrike" dirty="0">
                <a:solidFill>
                  <a:srgbClr val="000000"/>
                </a:solidFill>
                <a:effectLst/>
                <a:latin typeface="Arial" panose="020B0604020202020204" pitchFamily="34" charset="0"/>
              </a:rPr>
              <a:t>Introduction</a:t>
            </a:r>
            <a:endParaRPr lang="en-AU" b="0" i="0" u="none" strike="noStrike" dirty="0">
              <a:solidFill>
                <a:srgbClr val="000000"/>
              </a:solidFill>
              <a:effectLst/>
              <a:latin typeface="Aptos" panose="020B0004020202020204" pitchFamily="34" charset="0"/>
            </a:endParaRP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Why care about DNS – </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 for </a:t>
            </a:r>
            <a:r>
              <a:rPr lang="en-AU" sz="1200" b="0" i="0" u="none" strike="noStrike" dirty="0" err="1">
                <a:solidFill>
                  <a:srgbClr val="000000"/>
                </a:solidFill>
                <a:effectLst/>
                <a:latin typeface="Arial" panose="020B0604020202020204" pitchFamily="34" charset="0"/>
              </a:rPr>
              <a:t>eg</a:t>
            </a:r>
            <a:r>
              <a:rPr lang="en-AU" sz="1200" b="0" i="0" u="none" strike="noStrike" dirty="0">
                <a:solidFill>
                  <a:srgbClr val="000000"/>
                </a:solidFill>
                <a:effectLst/>
                <a:latin typeface="Arial" panose="020B0604020202020204" pitchFamily="34" charset="0"/>
              </a:rPr>
              <a:t> play important role in learning the origins of diff Sne,</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 The merging of neutron stars may give rise to a short gamma-ray burst (GRB) , emitting bright electromagnetic radiation called a </a:t>
            </a:r>
            <a:r>
              <a:rPr lang="en-AU" sz="1200" b="0" i="0" u="none" strike="noStrike" dirty="0" err="1">
                <a:solidFill>
                  <a:srgbClr val="000000"/>
                </a:solidFill>
                <a:effectLst/>
                <a:latin typeface="Arial" panose="020B0604020202020204" pitchFamily="34" charset="0"/>
              </a:rPr>
              <a:t>kilonova</a:t>
            </a:r>
            <a:endParaRPr lang="en-AU" sz="1200" b="0" i="0" u="none" strike="noStrike" dirty="0">
              <a:solidFill>
                <a:srgbClr val="000000"/>
              </a:solidFill>
              <a:effectLst/>
              <a:latin typeface="Arial" panose="020B0604020202020204" pitchFamily="34" charset="0"/>
            </a:endParaRP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Extreme physical conditions in </a:t>
            </a:r>
            <a:r>
              <a:rPr lang="en-AU" sz="1200" b="0" i="0" u="none" strike="noStrike" dirty="0" err="1">
                <a:solidFill>
                  <a:srgbClr val="000000"/>
                </a:solidFill>
                <a:effectLst/>
                <a:latin typeface="Arial" panose="020B0604020202020204" pitchFamily="34" charset="0"/>
              </a:rPr>
              <a:t>kilonovae</a:t>
            </a:r>
            <a:r>
              <a:rPr lang="en-AU" sz="1200" b="0" i="0" u="none" strike="noStrike" dirty="0">
                <a:solidFill>
                  <a:srgbClr val="000000"/>
                </a:solidFill>
                <a:effectLst/>
                <a:latin typeface="Arial" panose="020B0604020202020204" pitchFamily="34" charset="0"/>
              </a:rPr>
              <a:t> produce heavy r-process elements</a:t>
            </a:r>
          </a:p>
          <a:p>
            <a:pPr algn="l" rtl="0" fontAlgn="base">
              <a:spcBef>
                <a:spcPts val="0"/>
              </a:spcBef>
              <a:spcAft>
                <a:spcPts val="0"/>
              </a:spcAft>
              <a:buFont typeface="Arial" panose="020B0604020202020204" pitchFamily="34" charset="0"/>
              <a:buChar char="•"/>
            </a:pPr>
            <a:endParaRPr lang="en-AU" sz="1200" b="0" i="0" u="none" strike="noStrike" dirty="0">
              <a:solidFill>
                <a:srgbClr val="000000"/>
              </a:solidFill>
              <a:effectLst/>
              <a:latin typeface="Arial" panose="020B0604020202020204" pitchFamily="34" charset="0"/>
            </a:endParaRP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 Understanding GRB and </a:t>
            </a:r>
            <a:r>
              <a:rPr lang="en-AU" sz="1200" b="0" i="0" u="none" strike="noStrike" dirty="0" err="1">
                <a:solidFill>
                  <a:srgbClr val="000000"/>
                </a:solidFill>
                <a:effectLst/>
                <a:latin typeface="Arial" panose="020B0604020202020204" pitchFamily="34" charset="0"/>
              </a:rPr>
              <a:t>kilonovae</a:t>
            </a:r>
            <a:r>
              <a:rPr lang="en-AU" sz="1200" b="0" i="0" u="none" strike="noStrike" dirty="0">
                <a:solidFill>
                  <a:srgbClr val="000000"/>
                </a:solidFill>
                <a:effectLst/>
                <a:latin typeface="Arial" panose="020B0604020202020204" pitchFamily="34" charset="0"/>
              </a:rPr>
              <a:t> will help us learn about the formation of heavy elements in the future.</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 most importantly double neutron star evolve through multiple mass transfer processes and survives two supernovae explosion, which is too much to go through. Hence, DNSs can be used to back trace the evolutionary processes and enhance our understanding about massive binary evolution</a:t>
            </a:r>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27</a:t>
            </a:fld>
            <a:endParaRPr lang="en-US"/>
          </a:p>
        </p:txBody>
      </p:sp>
    </p:spTree>
    <p:extLst>
      <p:ext uri="{BB962C8B-B14F-4D97-AF65-F5344CB8AC3E}">
        <p14:creationId xmlns:p14="http://schemas.microsoft.com/office/powerpoint/2010/main" val="9241132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The binaries that undergo mass transfer, gets stripped and leave behind a co metal core – Depending on how much helium is left behind with the metal core of the star, it will undergo different types of supernova explosion such as </a:t>
            </a:r>
            <a:r>
              <a:rPr lang="en-AU" dirty="0" err="1"/>
              <a:t>ussn</a:t>
            </a:r>
            <a:r>
              <a:rPr lang="en-AU" dirty="0"/>
              <a:t>, </a:t>
            </a:r>
            <a:r>
              <a:rPr lang="en-AU" dirty="0" err="1"/>
              <a:t>ecsn</a:t>
            </a:r>
            <a:r>
              <a:rPr lang="en-AU" dirty="0"/>
              <a:t> etc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use </a:t>
            </a:r>
            <a:r>
              <a:rPr lang="en-US" dirty="0" err="1"/>
              <a:t>mandel</a:t>
            </a:r>
            <a:r>
              <a:rPr lang="en-US" dirty="0"/>
              <a:t> and muller prescription to simulate this</a:t>
            </a:r>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28</a:t>
            </a:fld>
            <a:endParaRPr lang="en-US"/>
          </a:p>
        </p:txBody>
      </p:sp>
    </p:spTree>
    <p:extLst>
      <p:ext uri="{BB962C8B-B14F-4D97-AF65-F5344CB8AC3E}">
        <p14:creationId xmlns:p14="http://schemas.microsoft.com/office/powerpoint/2010/main" val="28414575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So how are they formed? Well there’s two kinds. Isolated and dynamical</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AU" sz="1200" b="0" i="0" u="none" strike="noStrike" dirty="0">
                <a:solidFill>
                  <a:srgbClr val="000000"/>
                </a:solidFill>
                <a:effectLst/>
                <a:latin typeface="Arial" panose="020B0604020202020204" pitchFamily="34" charset="0"/>
              </a:rPr>
              <a:t>In isolated, pair of stars live life together, two NS formed sequentially through SN</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In dynamical, system originate densely populated stellar environments - globular clusters</a:t>
            </a:r>
          </a:p>
          <a:p>
            <a:pPr algn="l" rtl="0" fontAlgn="base">
              <a:spcBef>
                <a:spcPts val="0"/>
              </a:spcBef>
              <a:spcAft>
                <a:spcPts val="0"/>
              </a:spcAft>
              <a:buFont typeface="Arial" panose="020B0604020202020204" pitchFamily="34" charset="0"/>
              <a:buChar char="•"/>
            </a:pPr>
            <a:r>
              <a:rPr lang="en-AU" sz="1200" b="0" i="0" u="none" strike="noStrike" dirty="0">
                <a:solidFill>
                  <a:srgbClr val="000000"/>
                </a:solidFill>
                <a:effectLst/>
                <a:latin typeface="Arial" panose="020B0604020202020204" pitchFamily="34" charset="0"/>
              </a:rPr>
              <a:t>My research is focused on the formation of DNS via the isolated evolution channel. 🐒</a:t>
            </a:r>
          </a:p>
          <a:p>
            <a:endParaRPr lang="en-US" dirty="0"/>
          </a:p>
        </p:txBody>
      </p:sp>
      <p:sp>
        <p:nvSpPr>
          <p:cNvPr id="4" name="Slide Number Placeholder 3"/>
          <p:cNvSpPr>
            <a:spLocks noGrp="1"/>
          </p:cNvSpPr>
          <p:nvPr>
            <p:ph type="sldNum" sz="quarter" idx="5"/>
          </p:nvPr>
        </p:nvSpPr>
        <p:spPr/>
        <p:txBody>
          <a:bodyPr/>
          <a:lstStyle/>
          <a:p>
            <a:fld id="{0B25D8BC-926B-4F45-81A5-11EEE3BA4CC6}" type="slidenum">
              <a:rPr lang="en-US" smtClean="0"/>
              <a:t>29</a:t>
            </a:fld>
            <a:endParaRPr lang="en-US"/>
          </a:p>
        </p:txBody>
      </p:sp>
    </p:spTree>
    <p:extLst>
      <p:ext uri="{BB962C8B-B14F-4D97-AF65-F5344CB8AC3E}">
        <p14:creationId xmlns:p14="http://schemas.microsoft.com/office/powerpoint/2010/main" val="2876400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r>
              <a:rPr lang="en-AU"/>
              <a:t>Ashwathi Nair</a:t>
            </a:r>
            <a:endParaRPr lang="en-US"/>
          </a:p>
        </p:txBody>
      </p:sp>
      <p:sp>
        <p:nvSpPr>
          <p:cNvPr id="5" name="Footer Placeholder 4"/>
          <p:cNvSpPr>
            <a:spLocks noGrp="1"/>
          </p:cNvSpPr>
          <p:nvPr>
            <p:ph type="ftr" sz="quarter" idx="11"/>
          </p:nvPr>
        </p:nvSpPr>
        <p:spPr/>
        <p:txBody>
          <a:bodyPr/>
          <a:lstStyle/>
          <a:p>
            <a:r>
              <a:rPr lang="en-US"/>
              <a:t>Binary Stars in a New Era</a:t>
            </a:r>
          </a:p>
        </p:txBody>
      </p:sp>
      <p:sp>
        <p:nvSpPr>
          <p:cNvPr id="6" name="Slide Number Placeholder 5"/>
          <p:cNvSpPr>
            <a:spLocks noGrp="1"/>
          </p:cNvSpPr>
          <p:nvPr>
            <p:ph type="sldNum" sz="quarter" idx="12"/>
          </p:nvPr>
        </p:nvSpPr>
        <p:spPr/>
        <p:txBody>
          <a:bodyPr/>
          <a:lstStyle/>
          <a:p>
            <a:fld id="{CE0A201B-ED89-3E49-8333-B23E6243976D}" type="slidenum">
              <a:rPr lang="en-US" smtClean="0"/>
              <a:t>‹#›</a:t>
            </a:fld>
            <a:endParaRPr lang="en-US"/>
          </a:p>
        </p:txBody>
      </p:sp>
    </p:spTree>
    <p:extLst>
      <p:ext uri="{BB962C8B-B14F-4D97-AF65-F5344CB8AC3E}">
        <p14:creationId xmlns:p14="http://schemas.microsoft.com/office/powerpoint/2010/main" val="25861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AU"/>
              <a:t>Ashwathi Nair</a:t>
            </a:r>
            <a:endParaRPr lang="en-US"/>
          </a:p>
        </p:txBody>
      </p:sp>
      <p:sp>
        <p:nvSpPr>
          <p:cNvPr id="5" name="Footer Placeholder 4"/>
          <p:cNvSpPr>
            <a:spLocks noGrp="1"/>
          </p:cNvSpPr>
          <p:nvPr>
            <p:ph type="ftr" sz="quarter" idx="11"/>
          </p:nvPr>
        </p:nvSpPr>
        <p:spPr/>
        <p:txBody>
          <a:bodyPr/>
          <a:lstStyle/>
          <a:p>
            <a:r>
              <a:rPr lang="en-US"/>
              <a:t>Binary Stars in a New Era</a:t>
            </a:r>
          </a:p>
        </p:txBody>
      </p:sp>
      <p:sp>
        <p:nvSpPr>
          <p:cNvPr id="6" name="Slide Number Placeholder 5"/>
          <p:cNvSpPr>
            <a:spLocks noGrp="1"/>
          </p:cNvSpPr>
          <p:nvPr>
            <p:ph type="sldNum" sz="quarter" idx="12"/>
          </p:nvPr>
        </p:nvSpPr>
        <p:spPr/>
        <p:txBody>
          <a:bodyPr/>
          <a:lstStyle/>
          <a:p>
            <a:fld id="{CE0A201B-ED89-3E49-8333-B23E6243976D}" type="slidenum">
              <a:rPr lang="en-US" smtClean="0"/>
              <a:t>‹#›</a:t>
            </a:fld>
            <a:endParaRPr lang="en-US"/>
          </a:p>
        </p:txBody>
      </p:sp>
    </p:spTree>
    <p:extLst>
      <p:ext uri="{BB962C8B-B14F-4D97-AF65-F5344CB8AC3E}">
        <p14:creationId xmlns:p14="http://schemas.microsoft.com/office/powerpoint/2010/main" val="225341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r>
              <a:rPr lang="en-AU"/>
              <a:t>Ashwathi Nair</a:t>
            </a:r>
            <a:endParaRPr lang="en-US"/>
          </a:p>
        </p:txBody>
      </p:sp>
      <p:sp>
        <p:nvSpPr>
          <p:cNvPr id="5" name="Footer Placeholder 4"/>
          <p:cNvSpPr>
            <a:spLocks noGrp="1"/>
          </p:cNvSpPr>
          <p:nvPr>
            <p:ph type="ftr" sz="quarter" idx="11"/>
          </p:nvPr>
        </p:nvSpPr>
        <p:spPr/>
        <p:txBody>
          <a:bodyPr/>
          <a:lstStyle/>
          <a:p>
            <a:r>
              <a:rPr lang="en-US"/>
              <a:t>Binary Stars in a New Era</a:t>
            </a:r>
          </a:p>
        </p:txBody>
      </p:sp>
      <p:sp>
        <p:nvSpPr>
          <p:cNvPr id="6" name="Slide Number Placeholder 5"/>
          <p:cNvSpPr>
            <a:spLocks noGrp="1"/>
          </p:cNvSpPr>
          <p:nvPr>
            <p:ph type="sldNum" sz="quarter" idx="12"/>
          </p:nvPr>
        </p:nvSpPr>
        <p:spPr/>
        <p:txBody>
          <a:bodyPr/>
          <a:lstStyle/>
          <a:p>
            <a:fld id="{CE0A201B-ED89-3E49-8333-B23E6243976D}" type="slidenum">
              <a:rPr lang="en-US" smtClean="0"/>
              <a:t>‹#›</a:t>
            </a:fld>
            <a:endParaRPr lang="en-US"/>
          </a:p>
        </p:txBody>
      </p:sp>
    </p:spTree>
    <p:extLst>
      <p:ext uri="{BB962C8B-B14F-4D97-AF65-F5344CB8AC3E}">
        <p14:creationId xmlns:p14="http://schemas.microsoft.com/office/powerpoint/2010/main" val="2884322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r>
              <a:rPr lang="en-AU"/>
              <a:t>Ashwathi Nair</a:t>
            </a:r>
            <a:endParaRPr lang="en-US"/>
          </a:p>
        </p:txBody>
      </p:sp>
      <p:sp>
        <p:nvSpPr>
          <p:cNvPr id="6" name="Footer Placeholder 5"/>
          <p:cNvSpPr>
            <a:spLocks noGrp="1"/>
          </p:cNvSpPr>
          <p:nvPr>
            <p:ph type="ftr" sz="quarter" idx="11"/>
          </p:nvPr>
        </p:nvSpPr>
        <p:spPr/>
        <p:txBody>
          <a:bodyPr/>
          <a:lstStyle/>
          <a:p>
            <a:r>
              <a:rPr lang="en-US"/>
              <a:t>Binary Stars in a New Era</a:t>
            </a:r>
          </a:p>
        </p:txBody>
      </p:sp>
      <p:sp>
        <p:nvSpPr>
          <p:cNvPr id="7" name="Slide Number Placeholder 6"/>
          <p:cNvSpPr>
            <a:spLocks noGrp="1"/>
          </p:cNvSpPr>
          <p:nvPr>
            <p:ph type="sldNum" sz="quarter" idx="12"/>
          </p:nvPr>
        </p:nvSpPr>
        <p:spPr/>
        <p:txBody>
          <a:bodyPr/>
          <a:lstStyle/>
          <a:p>
            <a:fld id="{CE0A201B-ED89-3E49-8333-B23E6243976D}" type="slidenum">
              <a:rPr lang="en-US" smtClean="0"/>
              <a:t>‹#›</a:t>
            </a:fld>
            <a:endParaRPr lang="en-US"/>
          </a:p>
        </p:txBody>
      </p:sp>
    </p:spTree>
    <p:extLst>
      <p:ext uri="{BB962C8B-B14F-4D97-AF65-F5344CB8AC3E}">
        <p14:creationId xmlns:p14="http://schemas.microsoft.com/office/powerpoint/2010/main" val="302688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r>
              <a:rPr lang="en-AU"/>
              <a:t>Ashwathi Nair</a:t>
            </a:r>
            <a:endParaRPr lang="en-US"/>
          </a:p>
        </p:txBody>
      </p:sp>
      <p:sp>
        <p:nvSpPr>
          <p:cNvPr id="8" name="Footer Placeholder 7"/>
          <p:cNvSpPr>
            <a:spLocks noGrp="1"/>
          </p:cNvSpPr>
          <p:nvPr>
            <p:ph type="ftr" sz="quarter" idx="11"/>
          </p:nvPr>
        </p:nvSpPr>
        <p:spPr/>
        <p:txBody>
          <a:bodyPr/>
          <a:lstStyle/>
          <a:p>
            <a:r>
              <a:rPr lang="en-US"/>
              <a:t>Binary Stars in a New Era</a:t>
            </a:r>
          </a:p>
        </p:txBody>
      </p:sp>
      <p:sp>
        <p:nvSpPr>
          <p:cNvPr id="9" name="Slide Number Placeholder 8"/>
          <p:cNvSpPr>
            <a:spLocks noGrp="1"/>
          </p:cNvSpPr>
          <p:nvPr>
            <p:ph type="sldNum" sz="quarter" idx="12"/>
          </p:nvPr>
        </p:nvSpPr>
        <p:spPr/>
        <p:txBody>
          <a:bodyPr/>
          <a:lstStyle/>
          <a:p>
            <a:fld id="{CE0A201B-ED89-3E49-8333-B23E6243976D}" type="slidenum">
              <a:rPr lang="en-US" smtClean="0"/>
              <a:t>‹#›</a:t>
            </a:fld>
            <a:endParaRPr lang="en-US"/>
          </a:p>
        </p:txBody>
      </p:sp>
    </p:spTree>
    <p:extLst>
      <p:ext uri="{BB962C8B-B14F-4D97-AF65-F5344CB8AC3E}">
        <p14:creationId xmlns:p14="http://schemas.microsoft.com/office/powerpoint/2010/main" val="1844722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r>
              <a:rPr lang="en-AU"/>
              <a:t>Ashwathi Nair</a:t>
            </a:r>
            <a:endParaRPr lang="en-US"/>
          </a:p>
        </p:txBody>
      </p:sp>
      <p:sp>
        <p:nvSpPr>
          <p:cNvPr id="4" name="Footer Placeholder 3"/>
          <p:cNvSpPr>
            <a:spLocks noGrp="1"/>
          </p:cNvSpPr>
          <p:nvPr>
            <p:ph type="ftr" sz="quarter" idx="11"/>
          </p:nvPr>
        </p:nvSpPr>
        <p:spPr/>
        <p:txBody>
          <a:bodyPr/>
          <a:lstStyle/>
          <a:p>
            <a:r>
              <a:rPr lang="en-US"/>
              <a:t>Binary Stars in a New Era</a:t>
            </a:r>
          </a:p>
        </p:txBody>
      </p:sp>
      <p:sp>
        <p:nvSpPr>
          <p:cNvPr id="5" name="Slide Number Placeholder 4"/>
          <p:cNvSpPr>
            <a:spLocks noGrp="1"/>
          </p:cNvSpPr>
          <p:nvPr>
            <p:ph type="sldNum" sz="quarter" idx="12"/>
          </p:nvPr>
        </p:nvSpPr>
        <p:spPr/>
        <p:txBody>
          <a:bodyPr/>
          <a:lstStyle/>
          <a:p>
            <a:fld id="{CE0A201B-ED89-3E49-8333-B23E6243976D}" type="slidenum">
              <a:rPr lang="en-US" smtClean="0"/>
              <a:t>‹#›</a:t>
            </a:fld>
            <a:endParaRPr lang="en-US"/>
          </a:p>
        </p:txBody>
      </p:sp>
    </p:spTree>
    <p:extLst>
      <p:ext uri="{BB962C8B-B14F-4D97-AF65-F5344CB8AC3E}">
        <p14:creationId xmlns:p14="http://schemas.microsoft.com/office/powerpoint/2010/main" val="3972236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AU"/>
              <a:t>Ashwathi Nair</a:t>
            </a:r>
            <a:endParaRPr lang="en-US" dirty="0"/>
          </a:p>
        </p:txBody>
      </p:sp>
      <p:sp>
        <p:nvSpPr>
          <p:cNvPr id="3" name="Footer Placeholder 2"/>
          <p:cNvSpPr>
            <a:spLocks noGrp="1"/>
          </p:cNvSpPr>
          <p:nvPr>
            <p:ph type="ftr" sz="quarter" idx="11"/>
          </p:nvPr>
        </p:nvSpPr>
        <p:spPr/>
        <p:txBody>
          <a:bodyPr/>
          <a:lstStyle>
            <a:lvl1pPr>
              <a:defRPr>
                <a:solidFill>
                  <a:schemeClr val="accent5">
                    <a:lumMod val="20000"/>
                    <a:lumOff val="80000"/>
                  </a:schemeClr>
                </a:solidFill>
              </a:defRPr>
            </a:lvl1pPr>
          </a:lstStyle>
          <a:p>
            <a:r>
              <a:rPr lang="en-US"/>
              <a:t>Binary Stars in a New Era</a:t>
            </a:r>
            <a:endParaRPr lang="en-US" dirty="0"/>
          </a:p>
        </p:txBody>
      </p:sp>
      <p:sp>
        <p:nvSpPr>
          <p:cNvPr id="4" name="Slide Number Placeholder 3"/>
          <p:cNvSpPr>
            <a:spLocks noGrp="1"/>
          </p:cNvSpPr>
          <p:nvPr>
            <p:ph type="sldNum" sz="quarter" idx="12"/>
          </p:nvPr>
        </p:nvSpPr>
        <p:spPr/>
        <p:txBody>
          <a:bodyPr/>
          <a:lstStyle/>
          <a:p>
            <a:fld id="{CE0A201B-ED89-3E49-8333-B23E6243976D}" type="slidenum">
              <a:rPr lang="en-US" smtClean="0"/>
              <a:t>‹#›</a:t>
            </a:fld>
            <a:endParaRPr lang="en-US"/>
          </a:p>
        </p:txBody>
      </p:sp>
      <p:grpSp>
        <p:nvGrpSpPr>
          <p:cNvPr id="23" name="Group 22">
            <a:extLst>
              <a:ext uri="{FF2B5EF4-FFF2-40B4-BE49-F238E27FC236}">
                <a16:creationId xmlns:a16="http://schemas.microsoft.com/office/drawing/2014/main" id="{F72B1DE5-9A2B-7D1D-B0E5-9CDA98E713EF}"/>
              </a:ext>
            </a:extLst>
          </p:cNvPr>
          <p:cNvGrpSpPr/>
          <p:nvPr userDrawn="1"/>
        </p:nvGrpSpPr>
        <p:grpSpPr>
          <a:xfrm>
            <a:off x="3241159" y="137306"/>
            <a:ext cx="6412549" cy="364342"/>
            <a:chOff x="3241158" y="137302"/>
            <a:chExt cx="6412549" cy="364342"/>
          </a:xfrm>
        </p:grpSpPr>
        <p:grpSp>
          <p:nvGrpSpPr>
            <p:cNvPr id="8" name="Group 7">
              <a:extLst>
                <a:ext uri="{FF2B5EF4-FFF2-40B4-BE49-F238E27FC236}">
                  <a16:creationId xmlns:a16="http://schemas.microsoft.com/office/drawing/2014/main" id="{AE35F99F-0F39-C19B-9899-25814F5CE49E}"/>
                </a:ext>
              </a:extLst>
            </p:cNvPr>
            <p:cNvGrpSpPr/>
            <p:nvPr userDrawn="1"/>
          </p:nvGrpSpPr>
          <p:grpSpPr>
            <a:xfrm>
              <a:off x="3241158" y="137302"/>
              <a:ext cx="2614218" cy="364342"/>
              <a:chOff x="1060174" y="172278"/>
              <a:chExt cx="2720920" cy="364342"/>
            </a:xfrm>
          </p:grpSpPr>
          <p:sp>
            <p:nvSpPr>
              <p:cNvPr id="7" name="Rounded Rectangle 6">
                <a:extLst>
                  <a:ext uri="{FF2B5EF4-FFF2-40B4-BE49-F238E27FC236}">
                    <a16:creationId xmlns:a16="http://schemas.microsoft.com/office/drawing/2014/main" id="{7BDD1D94-5F55-7854-8EE3-5399EF4D7994}"/>
                  </a:ext>
                </a:extLst>
              </p:cNvPr>
              <p:cNvSpPr/>
              <p:nvPr userDrawn="1"/>
            </p:nvSpPr>
            <p:spPr>
              <a:xfrm>
                <a:off x="1060174" y="172278"/>
                <a:ext cx="1378346" cy="364342"/>
              </a:xfrm>
              <a:prstGeom prst="roundRect">
                <a:avLst/>
              </a:prstGeom>
              <a:solidFill>
                <a:srgbClr val="B07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 name="TextBox 5">
                <a:extLst>
                  <a:ext uri="{FF2B5EF4-FFF2-40B4-BE49-F238E27FC236}">
                    <a16:creationId xmlns:a16="http://schemas.microsoft.com/office/drawing/2014/main" id="{DD21870A-2FA6-7FE1-C504-A233E4C23DB7}"/>
                  </a:ext>
                </a:extLst>
              </p:cNvPr>
              <p:cNvSpPr txBox="1"/>
              <p:nvPr userDrawn="1"/>
            </p:nvSpPr>
            <p:spPr>
              <a:xfrm>
                <a:off x="1210173" y="200442"/>
                <a:ext cx="2570921" cy="307777"/>
              </a:xfrm>
              <a:prstGeom prst="rect">
                <a:avLst/>
              </a:prstGeom>
              <a:noFill/>
            </p:spPr>
            <p:txBody>
              <a:bodyPr wrap="square" rtlCol="0">
                <a:spAutoFit/>
              </a:bodyPr>
              <a:lstStyle/>
              <a:p>
                <a:r>
                  <a:rPr lang="en-US" sz="1400" b="1" dirty="0">
                    <a:latin typeface="Seaford Display" pitchFamily="2" charset="0"/>
                  </a:rPr>
                  <a:t>Introduction</a:t>
                </a:r>
              </a:p>
            </p:txBody>
          </p:sp>
        </p:grpSp>
        <p:sp>
          <p:nvSpPr>
            <p:cNvPr id="9" name="TextBox 8">
              <a:extLst>
                <a:ext uri="{FF2B5EF4-FFF2-40B4-BE49-F238E27FC236}">
                  <a16:creationId xmlns:a16="http://schemas.microsoft.com/office/drawing/2014/main" id="{DD17B765-54C0-A0FF-0335-D83E31E6CF2F}"/>
                </a:ext>
              </a:extLst>
            </p:cNvPr>
            <p:cNvSpPr txBox="1"/>
            <p:nvPr userDrawn="1"/>
          </p:nvSpPr>
          <p:spPr>
            <a:xfrm>
              <a:off x="4793456" y="165839"/>
              <a:ext cx="1593311" cy="307777"/>
            </a:xfrm>
            <a:prstGeom prst="rect">
              <a:avLst/>
            </a:prstGeom>
            <a:noFill/>
          </p:spPr>
          <p:txBody>
            <a:bodyPr wrap="square" rtlCol="0">
              <a:spAutoFit/>
            </a:bodyPr>
            <a:lstStyle/>
            <a:p>
              <a:r>
                <a:rPr lang="en-US" sz="1400" b="0" dirty="0">
                  <a:latin typeface="Seaford Display" pitchFamily="2" charset="0"/>
                </a:rPr>
                <a:t>Methodology</a:t>
              </a:r>
            </a:p>
          </p:txBody>
        </p:sp>
        <p:sp>
          <p:nvSpPr>
            <p:cNvPr id="12" name="TextBox 11">
              <a:extLst>
                <a:ext uri="{FF2B5EF4-FFF2-40B4-BE49-F238E27FC236}">
                  <a16:creationId xmlns:a16="http://schemas.microsoft.com/office/drawing/2014/main" id="{30EDAF68-D282-D34A-F7B5-8A99CBFC2E98}"/>
                </a:ext>
              </a:extLst>
            </p:cNvPr>
            <p:cNvSpPr txBox="1"/>
            <p:nvPr userDrawn="1"/>
          </p:nvSpPr>
          <p:spPr>
            <a:xfrm>
              <a:off x="6517074" y="179667"/>
              <a:ext cx="1798983" cy="307777"/>
            </a:xfrm>
            <a:prstGeom prst="rect">
              <a:avLst/>
            </a:prstGeom>
            <a:noFill/>
          </p:spPr>
          <p:txBody>
            <a:bodyPr wrap="square" rtlCol="0">
              <a:spAutoFit/>
            </a:bodyPr>
            <a:lstStyle/>
            <a:p>
              <a:r>
                <a:rPr lang="en-US" sz="1400" b="0" dirty="0">
                  <a:latin typeface="Seaford Display" pitchFamily="2" charset="0"/>
                </a:rPr>
                <a:t>Results</a:t>
              </a:r>
            </a:p>
          </p:txBody>
        </p:sp>
        <p:sp>
          <p:nvSpPr>
            <p:cNvPr id="13" name="TextBox 12">
              <a:extLst>
                <a:ext uri="{FF2B5EF4-FFF2-40B4-BE49-F238E27FC236}">
                  <a16:creationId xmlns:a16="http://schemas.microsoft.com/office/drawing/2014/main" id="{CB2F950B-B0C6-7297-FD05-CDE7ED284716}"/>
                </a:ext>
              </a:extLst>
            </p:cNvPr>
            <p:cNvSpPr txBox="1"/>
            <p:nvPr userDrawn="1"/>
          </p:nvSpPr>
          <p:spPr>
            <a:xfrm>
              <a:off x="7854724" y="165466"/>
              <a:ext cx="1798983" cy="307777"/>
            </a:xfrm>
            <a:prstGeom prst="rect">
              <a:avLst/>
            </a:prstGeom>
            <a:noFill/>
          </p:spPr>
          <p:txBody>
            <a:bodyPr wrap="square" rtlCol="0">
              <a:spAutoFit/>
            </a:bodyPr>
            <a:lstStyle/>
            <a:p>
              <a:r>
                <a:rPr lang="en-US" sz="1400" b="0" dirty="0">
                  <a:latin typeface="Seaford Display" pitchFamily="2" charset="0"/>
                </a:rPr>
                <a:t>Conclusion</a:t>
              </a:r>
            </a:p>
          </p:txBody>
        </p:sp>
      </p:grpSp>
      <p:sp>
        <p:nvSpPr>
          <p:cNvPr id="20" name="TextBox 19">
            <a:extLst>
              <a:ext uri="{FF2B5EF4-FFF2-40B4-BE49-F238E27FC236}">
                <a16:creationId xmlns:a16="http://schemas.microsoft.com/office/drawing/2014/main" id="{10C923B4-37E7-43AE-6E94-8A507EE5CC6F}"/>
              </a:ext>
            </a:extLst>
          </p:cNvPr>
          <p:cNvSpPr txBox="1"/>
          <p:nvPr userDrawn="1"/>
        </p:nvSpPr>
        <p:spPr>
          <a:xfrm>
            <a:off x="4514592" y="105962"/>
            <a:ext cx="247184" cy="369332"/>
          </a:xfrm>
          <a:prstGeom prst="rect">
            <a:avLst/>
          </a:prstGeom>
          <a:noFill/>
        </p:spPr>
        <p:txBody>
          <a:bodyPr wrap="none" rtlCol="0">
            <a:spAutoFit/>
          </a:bodyPr>
          <a:lstStyle/>
          <a:p>
            <a:r>
              <a:rPr lang="en-US" dirty="0"/>
              <a:t>|</a:t>
            </a:r>
          </a:p>
        </p:txBody>
      </p:sp>
      <p:sp>
        <p:nvSpPr>
          <p:cNvPr id="21" name="TextBox 20">
            <a:extLst>
              <a:ext uri="{FF2B5EF4-FFF2-40B4-BE49-F238E27FC236}">
                <a16:creationId xmlns:a16="http://schemas.microsoft.com/office/drawing/2014/main" id="{0E77DF1A-B7FD-9D5E-AC6A-CA22283C902B}"/>
              </a:ext>
            </a:extLst>
          </p:cNvPr>
          <p:cNvSpPr txBox="1"/>
          <p:nvPr userDrawn="1"/>
        </p:nvSpPr>
        <p:spPr>
          <a:xfrm>
            <a:off x="5990621" y="103911"/>
            <a:ext cx="247184" cy="369332"/>
          </a:xfrm>
          <a:prstGeom prst="rect">
            <a:avLst/>
          </a:prstGeom>
          <a:noFill/>
        </p:spPr>
        <p:txBody>
          <a:bodyPr wrap="none" rtlCol="0">
            <a:spAutoFit/>
          </a:bodyPr>
          <a:lstStyle/>
          <a:p>
            <a:r>
              <a:rPr lang="en-US" dirty="0"/>
              <a:t>|</a:t>
            </a:r>
          </a:p>
        </p:txBody>
      </p:sp>
      <p:sp>
        <p:nvSpPr>
          <p:cNvPr id="22" name="TextBox 21">
            <a:extLst>
              <a:ext uri="{FF2B5EF4-FFF2-40B4-BE49-F238E27FC236}">
                <a16:creationId xmlns:a16="http://schemas.microsoft.com/office/drawing/2014/main" id="{30D47D25-47A0-AA91-AEA9-74D04BB4A16C}"/>
              </a:ext>
            </a:extLst>
          </p:cNvPr>
          <p:cNvSpPr txBox="1"/>
          <p:nvPr userDrawn="1"/>
        </p:nvSpPr>
        <p:spPr>
          <a:xfrm>
            <a:off x="7477234" y="118198"/>
            <a:ext cx="247184"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41946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AU"/>
              <a:t>Ashwathi Nair</a:t>
            </a:r>
            <a:endParaRPr lang="en-US" dirty="0"/>
          </a:p>
        </p:txBody>
      </p:sp>
      <p:sp>
        <p:nvSpPr>
          <p:cNvPr id="3" name="Footer Placeholder 2"/>
          <p:cNvSpPr>
            <a:spLocks noGrp="1"/>
          </p:cNvSpPr>
          <p:nvPr>
            <p:ph type="ftr" sz="quarter" idx="11"/>
          </p:nvPr>
        </p:nvSpPr>
        <p:spPr/>
        <p:txBody>
          <a:bodyPr/>
          <a:lstStyle>
            <a:lvl1pPr>
              <a:defRPr>
                <a:solidFill>
                  <a:schemeClr val="accent5">
                    <a:lumMod val="20000"/>
                    <a:lumOff val="80000"/>
                  </a:schemeClr>
                </a:solidFill>
              </a:defRPr>
            </a:lvl1pPr>
          </a:lstStyle>
          <a:p>
            <a:r>
              <a:rPr lang="en-US"/>
              <a:t>Binary Stars in a New Era</a:t>
            </a:r>
            <a:endParaRPr lang="en-US" dirty="0"/>
          </a:p>
        </p:txBody>
      </p:sp>
      <p:sp>
        <p:nvSpPr>
          <p:cNvPr id="4" name="Slide Number Placeholder 3"/>
          <p:cNvSpPr>
            <a:spLocks noGrp="1"/>
          </p:cNvSpPr>
          <p:nvPr>
            <p:ph type="sldNum" sz="quarter" idx="12"/>
          </p:nvPr>
        </p:nvSpPr>
        <p:spPr/>
        <p:txBody>
          <a:bodyPr/>
          <a:lstStyle/>
          <a:p>
            <a:fld id="{CE0A201B-ED89-3E49-8333-B23E6243976D}" type="slidenum">
              <a:rPr lang="en-US" smtClean="0"/>
              <a:t>‹#›</a:t>
            </a:fld>
            <a:endParaRPr lang="en-US"/>
          </a:p>
        </p:txBody>
      </p:sp>
      <p:grpSp>
        <p:nvGrpSpPr>
          <p:cNvPr id="23" name="Group 22">
            <a:extLst>
              <a:ext uri="{FF2B5EF4-FFF2-40B4-BE49-F238E27FC236}">
                <a16:creationId xmlns:a16="http://schemas.microsoft.com/office/drawing/2014/main" id="{F72B1DE5-9A2B-7D1D-B0E5-9CDA98E713EF}"/>
              </a:ext>
            </a:extLst>
          </p:cNvPr>
          <p:cNvGrpSpPr/>
          <p:nvPr userDrawn="1"/>
        </p:nvGrpSpPr>
        <p:grpSpPr>
          <a:xfrm>
            <a:off x="3385276" y="137306"/>
            <a:ext cx="6268432" cy="364342"/>
            <a:chOff x="3385275" y="137302"/>
            <a:chExt cx="6268432" cy="364342"/>
          </a:xfrm>
        </p:grpSpPr>
        <p:sp>
          <p:nvSpPr>
            <p:cNvPr id="6" name="TextBox 5">
              <a:extLst>
                <a:ext uri="{FF2B5EF4-FFF2-40B4-BE49-F238E27FC236}">
                  <a16:creationId xmlns:a16="http://schemas.microsoft.com/office/drawing/2014/main" id="{DD21870A-2FA6-7FE1-C504-A233E4C23DB7}"/>
                </a:ext>
              </a:extLst>
            </p:cNvPr>
            <p:cNvSpPr txBox="1"/>
            <p:nvPr userDrawn="1"/>
          </p:nvSpPr>
          <p:spPr>
            <a:xfrm>
              <a:off x="3385275" y="165466"/>
              <a:ext cx="2470101" cy="307777"/>
            </a:xfrm>
            <a:prstGeom prst="rect">
              <a:avLst/>
            </a:prstGeom>
            <a:noFill/>
          </p:spPr>
          <p:txBody>
            <a:bodyPr wrap="square" rtlCol="0">
              <a:spAutoFit/>
            </a:bodyPr>
            <a:lstStyle/>
            <a:p>
              <a:r>
                <a:rPr lang="en-US" sz="1400" b="0" dirty="0">
                  <a:latin typeface="Seaford Display" pitchFamily="2" charset="0"/>
                </a:rPr>
                <a:t>Introduction</a:t>
              </a:r>
            </a:p>
          </p:txBody>
        </p:sp>
        <p:grpSp>
          <p:nvGrpSpPr>
            <p:cNvPr id="15" name="Group 14">
              <a:extLst>
                <a:ext uri="{FF2B5EF4-FFF2-40B4-BE49-F238E27FC236}">
                  <a16:creationId xmlns:a16="http://schemas.microsoft.com/office/drawing/2014/main" id="{B11D15C7-76D1-22CD-A786-8F192BDA7F42}"/>
                </a:ext>
              </a:extLst>
            </p:cNvPr>
            <p:cNvGrpSpPr/>
            <p:nvPr userDrawn="1"/>
          </p:nvGrpSpPr>
          <p:grpSpPr>
            <a:xfrm>
              <a:off x="4727439" y="137302"/>
              <a:ext cx="1332717" cy="364342"/>
              <a:chOff x="4259105" y="148324"/>
              <a:chExt cx="1332717" cy="364342"/>
            </a:xfrm>
          </p:grpSpPr>
          <p:sp>
            <p:nvSpPr>
              <p:cNvPr id="14" name="Rounded Rectangle 13">
                <a:extLst>
                  <a:ext uri="{FF2B5EF4-FFF2-40B4-BE49-F238E27FC236}">
                    <a16:creationId xmlns:a16="http://schemas.microsoft.com/office/drawing/2014/main" id="{7F00C094-94D4-CFFC-A614-E7AF99D6B999}"/>
                  </a:ext>
                </a:extLst>
              </p:cNvPr>
              <p:cNvSpPr/>
              <p:nvPr userDrawn="1"/>
            </p:nvSpPr>
            <p:spPr>
              <a:xfrm>
                <a:off x="4259105" y="148324"/>
                <a:ext cx="1324293" cy="364342"/>
              </a:xfrm>
              <a:prstGeom prst="roundRect">
                <a:avLst/>
              </a:prstGeom>
              <a:solidFill>
                <a:srgbClr val="B07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 name="TextBox 8">
                <a:extLst>
                  <a:ext uri="{FF2B5EF4-FFF2-40B4-BE49-F238E27FC236}">
                    <a16:creationId xmlns:a16="http://schemas.microsoft.com/office/drawing/2014/main" id="{DD17B765-54C0-A0FF-0335-D83E31E6CF2F}"/>
                  </a:ext>
                </a:extLst>
              </p:cNvPr>
              <p:cNvSpPr txBox="1"/>
              <p:nvPr userDrawn="1"/>
            </p:nvSpPr>
            <p:spPr>
              <a:xfrm>
                <a:off x="4341676" y="184560"/>
                <a:ext cx="1250146" cy="307777"/>
              </a:xfrm>
              <a:prstGeom prst="rect">
                <a:avLst/>
              </a:prstGeom>
              <a:noFill/>
            </p:spPr>
            <p:txBody>
              <a:bodyPr wrap="square" rtlCol="0">
                <a:spAutoFit/>
              </a:bodyPr>
              <a:lstStyle/>
              <a:p>
                <a:r>
                  <a:rPr lang="en-US" sz="1400" b="1" dirty="0">
                    <a:latin typeface="Seaford Display" pitchFamily="2" charset="0"/>
                  </a:rPr>
                  <a:t>Methodology</a:t>
                </a:r>
              </a:p>
            </p:txBody>
          </p:sp>
        </p:grpSp>
        <p:sp>
          <p:nvSpPr>
            <p:cNvPr id="12" name="TextBox 11">
              <a:extLst>
                <a:ext uri="{FF2B5EF4-FFF2-40B4-BE49-F238E27FC236}">
                  <a16:creationId xmlns:a16="http://schemas.microsoft.com/office/drawing/2014/main" id="{30EDAF68-D282-D34A-F7B5-8A99CBFC2E98}"/>
                </a:ext>
              </a:extLst>
            </p:cNvPr>
            <p:cNvSpPr txBox="1"/>
            <p:nvPr userDrawn="1"/>
          </p:nvSpPr>
          <p:spPr>
            <a:xfrm>
              <a:off x="6517074" y="179667"/>
              <a:ext cx="1798983" cy="307777"/>
            </a:xfrm>
            <a:prstGeom prst="rect">
              <a:avLst/>
            </a:prstGeom>
            <a:noFill/>
          </p:spPr>
          <p:txBody>
            <a:bodyPr wrap="square" rtlCol="0">
              <a:spAutoFit/>
            </a:bodyPr>
            <a:lstStyle/>
            <a:p>
              <a:r>
                <a:rPr lang="en-US" sz="1400" dirty="0">
                  <a:latin typeface="Seaford Display" pitchFamily="2" charset="0"/>
                </a:rPr>
                <a:t>Results</a:t>
              </a:r>
            </a:p>
          </p:txBody>
        </p:sp>
        <p:sp>
          <p:nvSpPr>
            <p:cNvPr id="13" name="TextBox 12">
              <a:extLst>
                <a:ext uri="{FF2B5EF4-FFF2-40B4-BE49-F238E27FC236}">
                  <a16:creationId xmlns:a16="http://schemas.microsoft.com/office/drawing/2014/main" id="{CB2F950B-B0C6-7297-FD05-CDE7ED284716}"/>
                </a:ext>
              </a:extLst>
            </p:cNvPr>
            <p:cNvSpPr txBox="1"/>
            <p:nvPr userDrawn="1"/>
          </p:nvSpPr>
          <p:spPr>
            <a:xfrm>
              <a:off x="7854724" y="165466"/>
              <a:ext cx="1798983" cy="307777"/>
            </a:xfrm>
            <a:prstGeom prst="rect">
              <a:avLst/>
            </a:prstGeom>
            <a:noFill/>
          </p:spPr>
          <p:txBody>
            <a:bodyPr wrap="square" rtlCol="0">
              <a:spAutoFit/>
            </a:bodyPr>
            <a:lstStyle/>
            <a:p>
              <a:r>
                <a:rPr lang="en-US" sz="1400" dirty="0">
                  <a:latin typeface="Seaford Display" pitchFamily="2" charset="0"/>
                </a:rPr>
                <a:t>Conclusion</a:t>
              </a:r>
            </a:p>
          </p:txBody>
        </p:sp>
      </p:grpSp>
      <p:sp>
        <p:nvSpPr>
          <p:cNvPr id="20" name="TextBox 19">
            <a:extLst>
              <a:ext uri="{FF2B5EF4-FFF2-40B4-BE49-F238E27FC236}">
                <a16:creationId xmlns:a16="http://schemas.microsoft.com/office/drawing/2014/main" id="{10C923B4-37E7-43AE-6E94-8A507EE5CC6F}"/>
              </a:ext>
            </a:extLst>
          </p:cNvPr>
          <p:cNvSpPr txBox="1"/>
          <p:nvPr userDrawn="1"/>
        </p:nvSpPr>
        <p:spPr>
          <a:xfrm>
            <a:off x="4514592" y="105962"/>
            <a:ext cx="247184" cy="369332"/>
          </a:xfrm>
          <a:prstGeom prst="rect">
            <a:avLst/>
          </a:prstGeom>
          <a:noFill/>
        </p:spPr>
        <p:txBody>
          <a:bodyPr wrap="none" rtlCol="0">
            <a:spAutoFit/>
          </a:bodyPr>
          <a:lstStyle/>
          <a:p>
            <a:r>
              <a:rPr lang="en-US" dirty="0"/>
              <a:t>|</a:t>
            </a:r>
          </a:p>
        </p:txBody>
      </p:sp>
      <p:sp>
        <p:nvSpPr>
          <p:cNvPr id="21" name="TextBox 20">
            <a:extLst>
              <a:ext uri="{FF2B5EF4-FFF2-40B4-BE49-F238E27FC236}">
                <a16:creationId xmlns:a16="http://schemas.microsoft.com/office/drawing/2014/main" id="{0E77DF1A-B7FD-9D5E-AC6A-CA22283C902B}"/>
              </a:ext>
            </a:extLst>
          </p:cNvPr>
          <p:cNvSpPr txBox="1"/>
          <p:nvPr userDrawn="1"/>
        </p:nvSpPr>
        <p:spPr>
          <a:xfrm>
            <a:off x="5990621" y="103911"/>
            <a:ext cx="247184" cy="369332"/>
          </a:xfrm>
          <a:prstGeom prst="rect">
            <a:avLst/>
          </a:prstGeom>
          <a:noFill/>
        </p:spPr>
        <p:txBody>
          <a:bodyPr wrap="none" rtlCol="0">
            <a:spAutoFit/>
          </a:bodyPr>
          <a:lstStyle/>
          <a:p>
            <a:r>
              <a:rPr lang="en-US" dirty="0"/>
              <a:t>|</a:t>
            </a:r>
          </a:p>
        </p:txBody>
      </p:sp>
      <p:sp>
        <p:nvSpPr>
          <p:cNvPr id="22" name="TextBox 21">
            <a:extLst>
              <a:ext uri="{FF2B5EF4-FFF2-40B4-BE49-F238E27FC236}">
                <a16:creationId xmlns:a16="http://schemas.microsoft.com/office/drawing/2014/main" id="{30D47D25-47A0-AA91-AEA9-74D04BB4A16C}"/>
              </a:ext>
            </a:extLst>
          </p:cNvPr>
          <p:cNvSpPr txBox="1"/>
          <p:nvPr userDrawn="1"/>
        </p:nvSpPr>
        <p:spPr>
          <a:xfrm>
            <a:off x="7477234" y="118198"/>
            <a:ext cx="247184"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233070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AU"/>
              <a:t>Ashwathi Nair</a:t>
            </a:r>
            <a:endParaRPr lang="en-US" dirty="0"/>
          </a:p>
        </p:txBody>
      </p:sp>
      <p:sp>
        <p:nvSpPr>
          <p:cNvPr id="3" name="Footer Placeholder 2"/>
          <p:cNvSpPr>
            <a:spLocks noGrp="1"/>
          </p:cNvSpPr>
          <p:nvPr>
            <p:ph type="ftr" sz="quarter" idx="11"/>
          </p:nvPr>
        </p:nvSpPr>
        <p:spPr/>
        <p:txBody>
          <a:bodyPr/>
          <a:lstStyle>
            <a:lvl1pPr>
              <a:defRPr>
                <a:solidFill>
                  <a:schemeClr val="accent5">
                    <a:lumMod val="20000"/>
                    <a:lumOff val="80000"/>
                  </a:schemeClr>
                </a:solidFill>
              </a:defRPr>
            </a:lvl1pPr>
          </a:lstStyle>
          <a:p>
            <a:r>
              <a:rPr lang="en-US"/>
              <a:t>Binary Stars in a New Era</a:t>
            </a:r>
            <a:endParaRPr lang="en-US" dirty="0"/>
          </a:p>
        </p:txBody>
      </p:sp>
      <p:sp>
        <p:nvSpPr>
          <p:cNvPr id="4" name="Slide Number Placeholder 3"/>
          <p:cNvSpPr>
            <a:spLocks noGrp="1"/>
          </p:cNvSpPr>
          <p:nvPr>
            <p:ph type="sldNum" sz="quarter" idx="12"/>
          </p:nvPr>
        </p:nvSpPr>
        <p:spPr/>
        <p:txBody>
          <a:bodyPr/>
          <a:lstStyle/>
          <a:p>
            <a:fld id="{CE0A201B-ED89-3E49-8333-B23E6243976D}" type="slidenum">
              <a:rPr lang="en-US" smtClean="0"/>
              <a:t>‹#›</a:t>
            </a:fld>
            <a:endParaRPr lang="en-US"/>
          </a:p>
        </p:txBody>
      </p:sp>
      <p:grpSp>
        <p:nvGrpSpPr>
          <p:cNvPr id="23" name="Group 22">
            <a:extLst>
              <a:ext uri="{FF2B5EF4-FFF2-40B4-BE49-F238E27FC236}">
                <a16:creationId xmlns:a16="http://schemas.microsoft.com/office/drawing/2014/main" id="{F72B1DE5-9A2B-7D1D-B0E5-9CDA98E713EF}"/>
              </a:ext>
            </a:extLst>
          </p:cNvPr>
          <p:cNvGrpSpPr/>
          <p:nvPr userDrawn="1"/>
        </p:nvGrpSpPr>
        <p:grpSpPr>
          <a:xfrm>
            <a:off x="3385276" y="137303"/>
            <a:ext cx="6268432" cy="364345"/>
            <a:chOff x="3385275" y="137299"/>
            <a:chExt cx="6268432" cy="364345"/>
          </a:xfrm>
        </p:grpSpPr>
        <p:sp>
          <p:nvSpPr>
            <p:cNvPr id="6" name="TextBox 5">
              <a:extLst>
                <a:ext uri="{FF2B5EF4-FFF2-40B4-BE49-F238E27FC236}">
                  <a16:creationId xmlns:a16="http://schemas.microsoft.com/office/drawing/2014/main" id="{DD21870A-2FA6-7FE1-C504-A233E4C23DB7}"/>
                </a:ext>
              </a:extLst>
            </p:cNvPr>
            <p:cNvSpPr txBox="1"/>
            <p:nvPr userDrawn="1"/>
          </p:nvSpPr>
          <p:spPr>
            <a:xfrm>
              <a:off x="3385275" y="165466"/>
              <a:ext cx="2470101" cy="307777"/>
            </a:xfrm>
            <a:prstGeom prst="rect">
              <a:avLst/>
            </a:prstGeom>
            <a:noFill/>
          </p:spPr>
          <p:txBody>
            <a:bodyPr wrap="square" rtlCol="0">
              <a:spAutoFit/>
            </a:bodyPr>
            <a:lstStyle/>
            <a:p>
              <a:r>
                <a:rPr lang="en-US" sz="1400" dirty="0">
                  <a:latin typeface="Seaford Display" pitchFamily="2" charset="0"/>
                </a:rPr>
                <a:t>Introduction</a:t>
              </a:r>
            </a:p>
          </p:txBody>
        </p:sp>
        <p:sp>
          <p:nvSpPr>
            <p:cNvPr id="9" name="TextBox 8">
              <a:extLst>
                <a:ext uri="{FF2B5EF4-FFF2-40B4-BE49-F238E27FC236}">
                  <a16:creationId xmlns:a16="http://schemas.microsoft.com/office/drawing/2014/main" id="{DD17B765-54C0-A0FF-0335-D83E31E6CF2F}"/>
                </a:ext>
              </a:extLst>
            </p:cNvPr>
            <p:cNvSpPr txBox="1"/>
            <p:nvPr userDrawn="1"/>
          </p:nvSpPr>
          <p:spPr>
            <a:xfrm>
              <a:off x="4824257" y="169567"/>
              <a:ext cx="1250146" cy="307777"/>
            </a:xfrm>
            <a:prstGeom prst="rect">
              <a:avLst/>
            </a:prstGeom>
            <a:noFill/>
          </p:spPr>
          <p:txBody>
            <a:bodyPr wrap="square" rtlCol="0">
              <a:spAutoFit/>
            </a:bodyPr>
            <a:lstStyle/>
            <a:p>
              <a:r>
                <a:rPr lang="en-US" sz="1400" dirty="0">
                  <a:latin typeface="Seaford Display" pitchFamily="2" charset="0"/>
                </a:rPr>
                <a:t>Methodology</a:t>
              </a:r>
            </a:p>
          </p:txBody>
        </p:sp>
        <p:grpSp>
          <p:nvGrpSpPr>
            <p:cNvPr id="17" name="Group 16">
              <a:extLst>
                <a:ext uri="{FF2B5EF4-FFF2-40B4-BE49-F238E27FC236}">
                  <a16:creationId xmlns:a16="http://schemas.microsoft.com/office/drawing/2014/main" id="{1B2EA515-BEF7-6BB7-AC46-536D374522AD}"/>
                </a:ext>
              </a:extLst>
            </p:cNvPr>
            <p:cNvGrpSpPr/>
            <p:nvPr userDrawn="1"/>
          </p:nvGrpSpPr>
          <p:grpSpPr>
            <a:xfrm>
              <a:off x="6181516" y="137299"/>
              <a:ext cx="2134541" cy="364345"/>
              <a:chOff x="5848439" y="136522"/>
              <a:chExt cx="2134541" cy="364345"/>
            </a:xfrm>
          </p:grpSpPr>
          <p:sp>
            <p:nvSpPr>
              <p:cNvPr id="16" name="Rounded Rectangle 15">
                <a:extLst>
                  <a:ext uri="{FF2B5EF4-FFF2-40B4-BE49-F238E27FC236}">
                    <a16:creationId xmlns:a16="http://schemas.microsoft.com/office/drawing/2014/main" id="{B2CBCEE4-61FB-C225-FA7C-36A5B1734E2B}"/>
                  </a:ext>
                </a:extLst>
              </p:cNvPr>
              <p:cNvSpPr/>
              <p:nvPr userDrawn="1"/>
            </p:nvSpPr>
            <p:spPr>
              <a:xfrm>
                <a:off x="5848439" y="136522"/>
                <a:ext cx="1324293" cy="364345"/>
              </a:xfrm>
              <a:prstGeom prst="roundRect">
                <a:avLst/>
              </a:prstGeom>
              <a:solidFill>
                <a:srgbClr val="B07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 name="TextBox 11">
                <a:extLst>
                  <a:ext uri="{FF2B5EF4-FFF2-40B4-BE49-F238E27FC236}">
                    <a16:creationId xmlns:a16="http://schemas.microsoft.com/office/drawing/2014/main" id="{30EDAF68-D282-D34A-F7B5-8A99CBFC2E98}"/>
                  </a:ext>
                </a:extLst>
              </p:cNvPr>
              <p:cNvSpPr txBox="1"/>
              <p:nvPr userDrawn="1"/>
            </p:nvSpPr>
            <p:spPr>
              <a:xfrm>
                <a:off x="6183997" y="178890"/>
                <a:ext cx="1798983" cy="307777"/>
              </a:xfrm>
              <a:prstGeom prst="rect">
                <a:avLst/>
              </a:prstGeom>
              <a:noFill/>
            </p:spPr>
            <p:txBody>
              <a:bodyPr wrap="square" rtlCol="0">
                <a:spAutoFit/>
              </a:bodyPr>
              <a:lstStyle/>
              <a:p>
                <a:r>
                  <a:rPr lang="en-US" sz="1400" b="1" dirty="0">
                    <a:latin typeface="Seaford Display" pitchFamily="2" charset="0"/>
                  </a:rPr>
                  <a:t>Results</a:t>
                </a:r>
              </a:p>
            </p:txBody>
          </p:sp>
        </p:grpSp>
        <p:sp>
          <p:nvSpPr>
            <p:cNvPr id="13" name="TextBox 12">
              <a:extLst>
                <a:ext uri="{FF2B5EF4-FFF2-40B4-BE49-F238E27FC236}">
                  <a16:creationId xmlns:a16="http://schemas.microsoft.com/office/drawing/2014/main" id="{CB2F950B-B0C6-7297-FD05-CDE7ED284716}"/>
                </a:ext>
              </a:extLst>
            </p:cNvPr>
            <p:cNvSpPr txBox="1"/>
            <p:nvPr userDrawn="1"/>
          </p:nvSpPr>
          <p:spPr>
            <a:xfrm>
              <a:off x="7854724" y="165466"/>
              <a:ext cx="1798983" cy="307777"/>
            </a:xfrm>
            <a:prstGeom prst="rect">
              <a:avLst/>
            </a:prstGeom>
            <a:noFill/>
          </p:spPr>
          <p:txBody>
            <a:bodyPr wrap="square" rtlCol="0">
              <a:spAutoFit/>
            </a:bodyPr>
            <a:lstStyle/>
            <a:p>
              <a:r>
                <a:rPr lang="en-US" sz="1400" dirty="0">
                  <a:latin typeface="Seaford Display" pitchFamily="2" charset="0"/>
                </a:rPr>
                <a:t>Conclusion</a:t>
              </a:r>
            </a:p>
          </p:txBody>
        </p:sp>
      </p:grpSp>
      <p:sp>
        <p:nvSpPr>
          <p:cNvPr id="20" name="TextBox 19">
            <a:extLst>
              <a:ext uri="{FF2B5EF4-FFF2-40B4-BE49-F238E27FC236}">
                <a16:creationId xmlns:a16="http://schemas.microsoft.com/office/drawing/2014/main" id="{10C923B4-37E7-43AE-6E94-8A507EE5CC6F}"/>
              </a:ext>
            </a:extLst>
          </p:cNvPr>
          <p:cNvSpPr txBox="1"/>
          <p:nvPr userDrawn="1"/>
        </p:nvSpPr>
        <p:spPr>
          <a:xfrm>
            <a:off x="4514592" y="105962"/>
            <a:ext cx="247184" cy="369332"/>
          </a:xfrm>
          <a:prstGeom prst="rect">
            <a:avLst/>
          </a:prstGeom>
          <a:noFill/>
        </p:spPr>
        <p:txBody>
          <a:bodyPr wrap="none" rtlCol="0">
            <a:spAutoFit/>
          </a:bodyPr>
          <a:lstStyle/>
          <a:p>
            <a:r>
              <a:rPr lang="en-US" dirty="0"/>
              <a:t>|</a:t>
            </a:r>
          </a:p>
        </p:txBody>
      </p:sp>
      <p:sp>
        <p:nvSpPr>
          <p:cNvPr id="21" name="TextBox 20">
            <a:extLst>
              <a:ext uri="{FF2B5EF4-FFF2-40B4-BE49-F238E27FC236}">
                <a16:creationId xmlns:a16="http://schemas.microsoft.com/office/drawing/2014/main" id="{0E77DF1A-B7FD-9D5E-AC6A-CA22283C902B}"/>
              </a:ext>
            </a:extLst>
          </p:cNvPr>
          <p:cNvSpPr txBox="1"/>
          <p:nvPr userDrawn="1"/>
        </p:nvSpPr>
        <p:spPr>
          <a:xfrm>
            <a:off x="5990621" y="103911"/>
            <a:ext cx="247184" cy="369332"/>
          </a:xfrm>
          <a:prstGeom prst="rect">
            <a:avLst/>
          </a:prstGeom>
          <a:noFill/>
        </p:spPr>
        <p:txBody>
          <a:bodyPr wrap="none" rtlCol="0">
            <a:spAutoFit/>
          </a:bodyPr>
          <a:lstStyle/>
          <a:p>
            <a:r>
              <a:rPr lang="en-US" dirty="0"/>
              <a:t>|</a:t>
            </a:r>
          </a:p>
        </p:txBody>
      </p:sp>
      <p:sp>
        <p:nvSpPr>
          <p:cNvPr id="22" name="TextBox 21">
            <a:extLst>
              <a:ext uri="{FF2B5EF4-FFF2-40B4-BE49-F238E27FC236}">
                <a16:creationId xmlns:a16="http://schemas.microsoft.com/office/drawing/2014/main" id="{30D47D25-47A0-AA91-AEA9-74D04BB4A16C}"/>
              </a:ext>
            </a:extLst>
          </p:cNvPr>
          <p:cNvSpPr txBox="1"/>
          <p:nvPr userDrawn="1"/>
        </p:nvSpPr>
        <p:spPr>
          <a:xfrm>
            <a:off x="7477234" y="118198"/>
            <a:ext cx="247184"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2353754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AU"/>
              <a:t>Ashwathi Nair</a:t>
            </a:r>
            <a:endParaRPr lang="en-US" dirty="0"/>
          </a:p>
        </p:txBody>
      </p:sp>
      <p:sp>
        <p:nvSpPr>
          <p:cNvPr id="3" name="Footer Placeholder 2"/>
          <p:cNvSpPr>
            <a:spLocks noGrp="1"/>
          </p:cNvSpPr>
          <p:nvPr>
            <p:ph type="ftr" sz="quarter" idx="11"/>
          </p:nvPr>
        </p:nvSpPr>
        <p:spPr/>
        <p:txBody>
          <a:bodyPr/>
          <a:lstStyle>
            <a:lvl1pPr>
              <a:defRPr>
                <a:solidFill>
                  <a:schemeClr val="accent5">
                    <a:lumMod val="20000"/>
                    <a:lumOff val="80000"/>
                  </a:schemeClr>
                </a:solidFill>
              </a:defRPr>
            </a:lvl1pPr>
          </a:lstStyle>
          <a:p>
            <a:r>
              <a:rPr lang="en-US"/>
              <a:t>Binary Stars in a New Era</a:t>
            </a:r>
            <a:endParaRPr lang="en-US" dirty="0"/>
          </a:p>
        </p:txBody>
      </p:sp>
      <p:sp>
        <p:nvSpPr>
          <p:cNvPr id="4" name="Slide Number Placeholder 3"/>
          <p:cNvSpPr>
            <a:spLocks noGrp="1"/>
          </p:cNvSpPr>
          <p:nvPr>
            <p:ph type="sldNum" sz="quarter" idx="12"/>
          </p:nvPr>
        </p:nvSpPr>
        <p:spPr/>
        <p:txBody>
          <a:bodyPr/>
          <a:lstStyle/>
          <a:p>
            <a:fld id="{CE0A201B-ED89-3E49-8333-B23E6243976D}" type="slidenum">
              <a:rPr lang="en-US" smtClean="0"/>
              <a:t>‹#›</a:t>
            </a:fld>
            <a:endParaRPr lang="en-US"/>
          </a:p>
        </p:txBody>
      </p:sp>
      <p:grpSp>
        <p:nvGrpSpPr>
          <p:cNvPr id="23" name="Group 22">
            <a:extLst>
              <a:ext uri="{FF2B5EF4-FFF2-40B4-BE49-F238E27FC236}">
                <a16:creationId xmlns:a16="http://schemas.microsoft.com/office/drawing/2014/main" id="{F72B1DE5-9A2B-7D1D-B0E5-9CDA98E713EF}"/>
              </a:ext>
            </a:extLst>
          </p:cNvPr>
          <p:cNvGrpSpPr/>
          <p:nvPr userDrawn="1"/>
        </p:nvGrpSpPr>
        <p:grpSpPr>
          <a:xfrm>
            <a:off x="3385276" y="136525"/>
            <a:ext cx="6268432" cy="365124"/>
            <a:chOff x="3385275" y="136521"/>
            <a:chExt cx="6268432" cy="365124"/>
          </a:xfrm>
        </p:grpSpPr>
        <p:sp>
          <p:nvSpPr>
            <p:cNvPr id="6" name="TextBox 5">
              <a:extLst>
                <a:ext uri="{FF2B5EF4-FFF2-40B4-BE49-F238E27FC236}">
                  <a16:creationId xmlns:a16="http://schemas.microsoft.com/office/drawing/2014/main" id="{DD21870A-2FA6-7FE1-C504-A233E4C23DB7}"/>
                </a:ext>
              </a:extLst>
            </p:cNvPr>
            <p:cNvSpPr txBox="1"/>
            <p:nvPr userDrawn="1"/>
          </p:nvSpPr>
          <p:spPr>
            <a:xfrm>
              <a:off x="3385275" y="165466"/>
              <a:ext cx="2470101" cy="307777"/>
            </a:xfrm>
            <a:prstGeom prst="rect">
              <a:avLst/>
            </a:prstGeom>
            <a:noFill/>
          </p:spPr>
          <p:txBody>
            <a:bodyPr wrap="square" rtlCol="0">
              <a:spAutoFit/>
            </a:bodyPr>
            <a:lstStyle/>
            <a:p>
              <a:r>
                <a:rPr lang="en-US" sz="1400" dirty="0">
                  <a:latin typeface="Seaford Display" pitchFamily="2" charset="0"/>
                </a:rPr>
                <a:t>Introduction</a:t>
              </a:r>
            </a:p>
          </p:txBody>
        </p:sp>
        <p:sp>
          <p:nvSpPr>
            <p:cNvPr id="9" name="TextBox 8">
              <a:extLst>
                <a:ext uri="{FF2B5EF4-FFF2-40B4-BE49-F238E27FC236}">
                  <a16:creationId xmlns:a16="http://schemas.microsoft.com/office/drawing/2014/main" id="{DD17B765-54C0-A0FF-0335-D83E31E6CF2F}"/>
                </a:ext>
              </a:extLst>
            </p:cNvPr>
            <p:cNvSpPr txBox="1"/>
            <p:nvPr userDrawn="1"/>
          </p:nvSpPr>
          <p:spPr>
            <a:xfrm>
              <a:off x="4824257" y="169567"/>
              <a:ext cx="1250146" cy="307777"/>
            </a:xfrm>
            <a:prstGeom prst="rect">
              <a:avLst/>
            </a:prstGeom>
            <a:noFill/>
          </p:spPr>
          <p:txBody>
            <a:bodyPr wrap="square" rtlCol="0">
              <a:spAutoFit/>
            </a:bodyPr>
            <a:lstStyle/>
            <a:p>
              <a:r>
                <a:rPr lang="en-US" sz="1400" dirty="0">
                  <a:latin typeface="Seaford Display" pitchFamily="2" charset="0"/>
                </a:rPr>
                <a:t>Methodology</a:t>
              </a:r>
            </a:p>
          </p:txBody>
        </p:sp>
        <p:sp>
          <p:nvSpPr>
            <p:cNvPr id="12" name="TextBox 11">
              <a:extLst>
                <a:ext uri="{FF2B5EF4-FFF2-40B4-BE49-F238E27FC236}">
                  <a16:creationId xmlns:a16="http://schemas.microsoft.com/office/drawing/2014/main" id="{30EDAF68-D282-D34A-F7B5-8A99CBFC2E98}"/>
                </a:ext>
              </a:extLst>
            </p:cNvPr>
            <p:cNvSpPr txBox="1"/>
            <p:nvPr userDrawn="1"/>
          </p:nvSpPr>
          <p:spPr>
            <a:xfrm>
              <a:off x="6517074" y="179667"/>
              <a:ext cx="1798983" cy="307777"/>
            </a:xfrm>
            <a:prstGeom prst="rect">
              <a:avLst/>
            </a:prstGeom>
            <a:noFill/>
          </p:spPr>
          <p:txBody>
            <a:bodyPr wrap="square" rtlCol="0">
              <a:spAutoFit/>
            </a:bodyPr>
            <a:lstStyle/>
            <a:p>
              <a:r>
                <a:rPr lang="en-US" sz="1400" dirty="0">
                  <a:latin typeface="Seaford Display" pitchFamily="2" charset="0"/>
                </a:rPr>
                <a:t>Results</a:t>
              </a:r>
            </a:p>
          </p:txBody>
        </p:sp>
        <p:grpSp>
          <p:nvGrpSpPr>
            <p:cNvPr id="19" name="Group 18">
              <a:extLst>
                <a:ext uri="{FF2B5EF4-FFF2-40B4-BE49-F238E27FC236}">
                  <a16:creationId xmlns:a16="http://schemas.microsoft.com/office/drawing/2014/main" id="{5A477423-669A-58FE-6690-AEA060639DE7}"/>
                </a:ext>
              </a:extLst>
            </p:cNvPr>
            <p:cNvGrpSpPr/>
            <p:nvPr userDrawn="1"/>
          </p:nvGrpSpPr>
          <p:grpSpPr>
            <a:xfrm>
              <a:off x="7673589" y="136521"/>
              <a:ext cx="1980118" cy="365124"/>
              <a:chOff x="8605250" y="136520"/>
              <a:chExt cx="1980118" cy="365124"/>
            </a:xfrm>
          </p:grpSpPr>
          <p:sp>
            <p:nvSpPr>
              <p:cNvPr id="18" name="Rounded Rectangle 17">
                <a:extLst>
                  <a:ext uri="{FF2B5EF4-FFF2-40B4-BE49-F238E27FC236}">
                    <a16:creationId xmlns:a16="http://schemas.microsoft.com/office/drawing/2014/main" id="{F085BEC9-F115-6871-CD7A-6BB1D3B89F71}"/>
                  </a:ext>
                </a:extLst>
              </p:cNvPr>
              <p:cNvSpPr/>
              <p:nvPr userDrawn="1"/>
            </p:nvSpPr>
            <p:spPr>
              <a:xfrm>
                <a:off x="8605250" y="136520"/>
                <a:ext cx="1442643" cy="365124"/>
              </a:xfrm>
              <a:prstGeom prst="roundRect">
                <a:avLst/>
              </a:prstGeom>
              <a:solidFill>
                <a:srgbClr val="B07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3" name="TextBox 12">
                <a:extLst>
                  <a:ext uri="{FF2B5EF4-FFF2-40B4-BE49-F238E27FC236}">
                    <a16:creationId xmlns:a16="http://schemas.microsoft.com/office/drawing/2014/main" id="{CB2F950B-B0C6-7297-FD05-CDE7ED284716}"/>
                  </a:ext>
                </a:extLst>
              </p:cNvPr>
              <p:cNvSpPr txBox="1"/>
              <p:nvPr userDrawn="1"/>
            </p:nvSpPr>
            <p:spPr>
              <a:xfrm>
                <a:off x="8786385" y="165465"/>
                <a:ext cx="1798983" cy="307777"/>
              </a:xfrm>
              <a:prstGeom prst="rect">
                <a:avLst/>
              </a:prstGeom>
              <a:noFill/>
            </p:spPr>
            <p:txBody>
              <a:bodyPr wrap="square" rtlCol="0">
                <a:spAutoFit/>
              </a:bodyPr>
              <a:lstStyle/>
              <a:p>
                <a:r>
                  <a:rPr lang="en-US" sz="1400" b="1" dirty="0">
                    <a:latin typeface="Seaford Display" pitchFamily="2" charset="0"/>
                  </a:rPr>
                  <a:t>Conclusion</a:t>
                </a:r>
              </a:p>
            </p:txBody>
          </p:sp>
        </p:grpSp>
      </p:grpSp>
      <p:sp>
        <p:nvSpPr>
          <p:cNvPr id="20" name="TextBox 19">
            <a:extLst>
              <a:ext uri="{FF2B5EF4-FFF2-40B4-BE49-F238E27FC236}">
                <a16:creationId xmlns:a16="http://schemas.microsoft.com/office/drawing/2014/main" id="{10C923B4-37E7-43AE-6E94-8A507EE5CC6F}"/>
              </a:ext>
            </a:extLst>
          </p:cNvPr>
          <p:cNvSpPr txBox="1"/>
          <p:nvPr userDrawn="1"/>
        </p:nvSpPr>
        <p:spPr>
          <a:xfrm>
            <a:off x="4514592" y="105962"/>
            <a:ext cx="247184" cy="369332"/>
          </a:xfrm>
          <a:prstGeom prst="rect">
            <a:avLst/>
          </a:prstGeom>
          <a:noFill/>
        </p:spPr>
        <p:txBody>
          <a:bodyPr wrap="none" rtlCol="0">
            <a:spAutoFit/>
          </a:bodyPr>
          <a:lstStyle/>
          <a:p>
            <a:r>
              <a:rPr lang="en-US" dirty="0"/>
              <a:t>|</a:t>
            </a:r>
          </a:p>
        </p:txBody>
      </p:sp>
      <p:sp>
        <p:nvSpPr>
          <p:cNvPr id="21" name="TextBox 20">
            <a:extLst>
              <a:ext uri="{FF2B5EF4-FFF2-40B4-BE49-F238E27FC236}">
                <a16:creationId xmlns:a16="http://schemas.microsoft.com/office/drawing/2014/main" id="{0E77DF1A-B7FD-9D5E-AC6A-CA22283C902B}"/>
              </a:ext>
            </a:extLst>
          </p:cNvPr>
          <p:cNvSpPr txBox="1"/>
          <p:nvPr userDrawn="1"/>
        </p:nvSpPr>
        <p:spPr>
          <a:xfrm>
            <a:off x="5990621" y="103911"/>
            <a:ext cx="247184" cy="369332"/>
          </a:xfrm>
          <a:prstGeom prst="rect">
            <a:avLst/>
          </a:prstGeom>
          <a:noFill/>
        </p:spPr>
        <p:txBody>
          <a:bodyPr wrap="none" rtlCol="0">
            <a:spAutoFit/>
          </a:bodyPr>
          <a:lstStyle/>
          <a:p>
            <a:r>
              <a:rPr lang="en-US" dirty="0"/>
              <a:t>|</a:t>
            </a:r>
          </a:p>
        </p:txBody>
      </p:sp>
      <p:sp>
        <p:nvSpPr>
          <p:cNvPr id="22" name="TextBox 21">
            <a:extLst>
              <a:ext uri="{FF2B5EF4-FFF2-40B4-BE49-F238E27FC236}">
                <a16:creationId xmlns:a16="http://schemas.microsoft.com/office/drawing/2014/main" id="{30D47D25-47A0-AA91-AEA9-74D04BB4A16C}"/>
              </a:ext>
            </a:extLst>
          </p:cNvPr>
          <p:cNvSpPr txBox="1"/>
          <p:nvPr userDrawn="1"/>
        </p:nvSpPr>
        <p:spPr>
          <a:xfrm>
            <a:off x="7477234" y="118198"/>
            <a:ext cx="247184"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366020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AU"/>
              <a:t>Ashwathi Nair</a:t>
            </a:r>
            <a:endParaRPr lang="en-US"/>
          </a:p>
        </p:txBody>
      </p:sp>
      <p:sp>
        <p:nvSpPr>
          <p:cNvPr id="3" name="Footer Placeholder 2"/>
          <p:cNvSpPr>
            <a:spLocks noGrp="1"/>
          </p:cNvSpPr>
          <p:nvPr>
            <p:ph type="ftr" sz="quarter" idx="11"/>
          </p:nvPr>
        </p:nvSpPr>
        <p:spPr/>
        <p:txBody>
          <a:bodyPr/>
          <a:lstStyle/>
          <a:p>
            <a:r>
              <a:rPr lang="en-US"/>
              <a:t>Binary Stars in a New Era</a:t>
            </a:r>
          </a:p>
        </p:txBody>
      </p:sp>
      <p:sp>
        <p:nvSpPr>
          <p:cNvPr id="4" name="Slide Number Placeholder 3"/>
          <p:cNvSpPr>
            <a:spLocks noGrp="1"/>
          </p:cNvSpPr>
          <p:nvPr>
            <p:ph type="sldNum" sz="quarter" idx="12"/>
          </p:nvPr>
        </p:nvSpPr>
        <p:spPr/>
        <p:txBody>
          <a:bodyPr/>
          <a:lstStyle/>
          <a:p>
            <a:fld id="{CE0A201B-ED89-3E49-8333-B23E6243976D}" type="slidenum">
              <a:rPr lang="en-US" smtClean="0"/>
              <a:t>‹#›</a:t>
            </a:fld>
            <a:endParaRPr lang="en-US"/>
          </a:p>
        </p:txBody>
      </p:sp>
      <p:grpSp>
        <p:nvGrpSpPr>
          <p:cNvPr id="8" name="Group 7">
            <a:extLst>
              <a:ext uri="{FF2B5EF4-FFF2-40B4-BE49-F238E27FC236}">
                <a16:creationId xmlns:a16="http://schemas.microsoft.com/office/drawing/2014/main" id="{AE35F99F-0F39-C19B-9899-25814F5CE49E}"/>
              </a:ext>
            </a:extLst>
          </p:cNvPr>
          <p:cNvGrpSpPr/>
          <p:nvPr userDrawn="1"/>
        </p:nvGrpSpPr>
        <p:grpSpPr>
          <a:xfrm>
            <a:off x="2686878" y="136525"/>
            <a:ext cx="2703443" cy="369332"/>
            <a:chOff x="1060174" y="172278"/>
            <a:chExt cx="2703443" cy="369332"/>
          </a:xfrm>
        </p:grpSpPr>
        <p:sp>
          <p:nvSpPr>
            <p:cNvPr id="7" name="Rounded Rectangle 6">
              <a:extLst>
                <a:ext uri="{FF2B5EF4-FFF2-40B4-BE49-F238E27FC236}">
                  <a16:creationId xmlns:a16="http://schemas.microsoft.com/office/drawing/2014/main" id="{7BDD1D94-5F55-7854-8EE3-5399EF4D7994}"/>
                </a:ext>
              </a:extLst>
            </p:cNvPr>
            <p:cNvSpPr/>
            <p:nvPr userDrawn="1"/>
          </p:nvSpPr>
          <p:spPr>
            <a:xfrm>
              <a:off x="1060174" y="172278"/>
              <a:ext cx="1643269" cy="369332"/>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D21870A-2FA6-7FE1-C504-A233E4C23DB7}"/>
                </a:ext>
              </a:extLst>
            </p:cNvPr>
            <p:cNvSpPr txBox="1"/>
            <p:nvPr userDrawn="1"/>
          </p:nvSpPr>
          <p:spPr>
            <a:xfrm>
              <a:off x="1192696" y="172278"/>
              <a:ext cx="2570921" cy="369332"/>
            </a:xfrm>
            <a:prstGeom prst="rect">
              <a:avLst/>
            </a:prstGeom>
            <a:noFill/>
          </p:spPr>
          <p:txBody>
            <a:bodyPr wrap="square" rtlCol="0">
              <a:spAutoFit/>
            </a:bodyPr>
            <a:lstStyle/>
            <a:p>
              <a:r>
                <a:rPr lang="en-US" dirty="0">
                  <a:latin typeface="Seaford Display" pitchFamily="2" charset="0"/>
                </a:rPr>
                <a:t>Introduction</a:t>
              </a:r>
            </a:p>
          </p:txBody>
        </p:sp>
      </p:grpSp>
      <p:grpSp>
        <p:nvGrpSpPr>
          <p:cNvPr id="11" name="Group 10">
            <a:extLst>
              <a:ext uri="{FF2B5EF4-FFF2-40B4-BE49-F238E27FC236}">
                <a16:creationId xmlns:a16="http://schemas.microsoft.com/office/drawing/2014/main" id="{C3442FE6-49F7-2965-C9A6-5CEB10D8F953}"/>
              </a:ext>
            </a:extLst>
          </p:cNvPr>
          <p:cNvGrpSpPr/>
          <p:nvPr userDrawn="1"/>
        </p:nvGrpSpPr>
        <p:grpSpPr>
          <a:xfrm>
            <a:off x="4572000" y="136525"/>
            <a:ext cx="1881809" cy="369332"/>
            <a:chOff x="4572000" y="136525"/>
            <a:chExt cx="1881809" cy="369332"/>
          </a:xfrm>
        </p:grpSpPr>
        <p:sp>
          <p:nvSpPr>
            <p:cNvPr id="10" name="Rounded Rectangle 9">
              <a:extLst>
                <a:ext uri="{FF2B5EF4-FFF2-40B4-BE49-F238E27FC236}">
                  <a16:creationId xmlns:a16="http://schemas.microsoft.com/office/drawing/2014/main" id="{28B88E3B-0733-5781-CC3A-613A92CDFA3C}"/>
                </a:ext>
              </a:extLst>
            </p:cNvPr>
            <p:cNvSpPr/>
            <p:nvPr userDrawn="1"/>
          </p:nvSpPr>
          <p:spPr>
            <a:xfrm>
              <a:off x="4572000" y="136525"/>
              <a:ext cx="1881809" cy="369332"/>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D17B765-54C0-A0FF-0335-D83E31E6CF2F}"/>
                </a:ext>
              </a:extLst>
            </p:cNvPr>
            <p:cNvSpPr txBox="1"/>
            <p:nvPr userDrawn="1"/>
          </p:nvSpPr>
          <p:spPr>
            <a:xfrm>
              <a:off x="4772627" y="136525"/>
              <a:ext cx="1442643" cy="369332"/>
            </a:xfrm>
            <a:prstGeom prst="rect">
              <a:avLst/>
            </a:prstGeom>
            <a:noFill/>
          </p:spPr>
          <p:txBody>
            <a:bodyPr wrap="square" rtlCol="0">
              <a:spAutoFit/>
            </a:bodyPr>
            <a:lstStyle/>
            <a:p>
              <a:r>
                <a:rPr lang="en-US" dirty="0">
                  <a:latin typeface="Seaford Display" pitchFamily="2" charset="0"/>
                </a:rPr>
                <a:t>Methodology</a:t>
              </a:r>
            </a:p>
          </p:txBody>
        </p:sp>
      </p:grpSp>
    </p:spTree>
    <p:extLst>
      <p:ext uri="{BB962C8B-B14F-4D97-AF65-F5344CB8AC3E}">
        <p14:creationId xmlns:p14="http://schemas.microsoft.com/office/powerpoint/2010/main" val="117770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r>
              <a:rPr lang="en-AU"/>
              <a:t>Ashwathi Nair</a:t>
            </a:r>
            <a:endParaRPr lang="en-US"/>
          </a:p>
        </p:txBody>
      </p:sp>
      <p:sp>
        <p:nvSpPr>
          <p:cNvPr id="6" name="Footer Placeholder 5"/>
          <p:cNvSpPr>
            <a:spLocks noGrp="1"/>
          </p:cNvSpPr>
          <p:nvPr>
            <p:ph type="ftr" sz="quarter" idx="11"/>
          </p:nvPr>
        </p:nvSpPr>
        <p:spPr/>
        <p:txBody>
          <a:bodyPr/>
          <a:lstStyle/>
          <a:p>
            <a:r>
              <a:rPr lang="en-US"/>
              <a:t>Binary Stars in a New Era</a:t>
            </a:r>
          </a:p>
        </p:txBody>
      </p:sp>
      <p:sp>
        <p:nvSpPr>
          <p:cNvPr id="7" name="Slide Number Placeholder 6"/>
          <p:cNvSpPr>
            <a:spLocks noGrp="1"/>
          </p:cNvSpPr>
          <p:nvPr>
            <p:ph type="sldNum" sz="quarter" idx="12"/>
          </p:nvPr>
        </p:nvSpPr>
        <p:spPr/>
        <p:txBody>
          <a:bodyPr/>
          <a:lstStyle/>
          <a:p>
            <a:fld id="{CE0A201B-ED89-3E49-8333-B23E6243976D}" type="slidenum">
              <a:rPr lang="en-US" smtClean="0"/>
              <a:t>‹#›</a:t>
            </a:fld>
            <a:endParaRPr lang="en-US"/>
          </a:p>
        </p:txBody>
      </p:sp>
    </p:spTree>
    <p:extLst>
      <p:ext uri="{BB962C8B-B14F-4D97-AF65-F5344CB8AC3E}">
        <p14:creationId xmlns:p14="http://schemas.microsoft.com/office/powerpoint/2010/main" val="175772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r>
              <a:rPr lang="en-AU"/>
              <a:t>Ashwathi Nair</a:t>
            </a:r>
            <a:endParaRPr lang="en-US"/>
          </a:p>
        </p:txBody>
      </p:sp>
      <p:sp>
        <p:nvSpPr>
          <p:cNvPr id="6" name="Footer Placeholder 5"/>
          <p:cNvSpPr>
            <a:spLocks noGrp="1"/>
          </p:cNvSpPr>
          <p:nvPr>
            <p:ph type="ftr" sz="quarter" idx="11"/>
          </p:nvPr>
        </p:nvSpPr>
        <p:spPr/>
        <p:txBody>
          <a:bodyPr/>
          <a:lstStyle/>
          <a:p>
            <a:r>
              <a:rPr lang="en-US"/>
              <a:t>Binary Stars in a New Era</a:t>
            </a:r>
          </a:p>
        </p:txBody>
      </p:sp>
      <p:sp>
        <p:nvSpPr>
          <p:cNvPr id="7" name="Slide Number Placeholder 6"/>
          <p:cNvSpPr>
            <a:spLocks noGrp="1"/>
          </p:cNvSpPr>
          <p:nvPr>
            <p:ph type="sldNum" sz="quarter" idx="12"/>
          </p:nvPr>
        </p:nvSpPr>
        <p:spPr/>
        <p:txBody>
          <a:bodyPr/>
          <a:lstStyle/>
          <a:p>
            <a:fld id="{CE0A201B-ED89-3E49-8333-B23E6243976D}" type="slidenum">
              <a:rPr lang="en-US" smtClean="0"/>
              <a:t>‹#›</a:t>
            </a:fld>
            <a:endParaRPr lang="en-US"/>
          </a:p>
        </p:txBody>
      </p:sp>
    </p:spTree>
    <p:extLst>
      <p:ext uri="{BB962C8B-B14F-4D97-AF65-F5344CB8AC3E}">
        <p14:creationId xmlns:p14="http://schemas.microsoft.com/office/powerpoint/2010/main" val="35430935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AU"/>
              <a:t>Ashwathi Nair</a:t>
            </a:r>
            <a:endParaRPr lang="en-US"/>
          </a:p>
        </p:txBody>
      </p:sp>
      <p:sp>
        <p:nvSpPr>
          <p:cNvPr id="5" name="Footer Placeholder 4"/>
          <p:cNvSpPr>
            <a:spLocks noGrp="1"/>
          </p:cNvSpPr>
          <p:nvPr>
            <p:ph type="ftr" sz="quarter" idx="11"/>
          </p:nvPr>
        </p:nvSpPr>
        <p:spPr/>
        <p:txBody>
          <a:bodyPr/>
          <a:lstStyle/>
          <a:p>
            <a:r>
              <a:rPr lang="en-US"/>
              <a:t>Binary Stars in a New Era</a:t>
            </a:r>
          </a:p>
        </p:txBody>
      </p:sp>
      <p:sp>
        <p:nvSpPr>
          <p:cNvPr id="6" name="Slide Number Placeholder 5"/>
          <p:cNvSpPr>
            <a:spLocks noGrp="1"/>
          </p:cNvSpPr>
          <p:nvPr>
            <p:ph type="sldNum" sz="quarter" idx="12"/>
          </p:nvPr>
        </p:nvSpPr>
        <p:spPr/>
        <p:txBody>
          <a:bodyPr/>
          <a:lstStyle/>
          <a:p>
            <a:fld id="{CE0A201B-ED89-3E49-8333-B23E6243976D}" type="slidenum">
              <a:rPr lang="en-US" smtClean="0"/>
              <a:t>‹#›</a:t>
            </a:fld>
            <a:endParaRPr lang="en-US"/>
          </a:p>
        </p:txBody>
      </p:sp>
    </p:spTree>
    <p:extLst>
      <p:ext uri="{BB962C8B-B14F-4D97-AF65-F5344CB8AC3E}">
        <p14:creationId xmlns:p14="http://schemas.microsoft.com/office/powerpoint/2010/main" val="23010710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AU"/>
              <a:t>Ashwathi Nair</a:t>
            </a:r>
            <a:endParaRPr lang="en-US"/>
          </a:p>
        </p:txBody>
      </p:sp>
      <p:sp>
        <p:nvSpPr>
          <p:cNvPr id="5" name="Footer Placeholder 4"/>
          <p:cNvSpPr>
            <a:spLocks noGrp="1"/>
          </p:cNvSpPr>
          <p:nvPr>
            <p:ph type="ftr" sz="quarter" idx="11"/>
          </p:nvPr>
        </p:nvSpPr>
        <p:spPr/>
        <p:txBody>
          <a:bodyPr/>
          <a:lstStyle/>
          <a:p>
            <a:r>
              <a:rPr lang="en-US"/>
              <a:t>Binary Stars in a New Era</a:t>
            </a:r>
          </a:p>
        </p:txBody>
      </p:sp>
      <p:sp>
        <p:nvSpPr>
          <p:cNvPr id="6" name="Slide Number Placeholder 5"/>
          <p:cNvSpPr>
            <a:spLocks noGrp="1"/>
          </p:cNvSpPr>
          <p:nvPr>
            <p:ph type="sldNum" sz="quarter" idx="12"/>
          </p:nvPr>
        </p:nvSpPr>
        <p:spPr/>
        <p:txBody>
          <a:bodyPr/>
          <a:lstStyle/>
          <a:p>
            <a:fld id="{CE0A201B-ED89-3E49-8333-B23E6243976D}" type="slidenum">
              <a:rPr lang="en-US" smtClean="0"/>
              <a:t>‹#›</a:t>
            </a:fld>
            <a:endParaRPr lang="en-US"/>
          </a:p>
        </p:txBody>
      </p:sp>
    </p:spTree>
    <p:extLst>
      <p:ext uri="{BB962C8B-B14F-4D97-AF65-F5344CB8AC3E}">
        <p14:creationId xmlns:p14="http://schemas.microsoft.com/office/powerpoint/2010/main" val="18514796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5_Blank">
    <p:bg>
      <p:bgRef idx="1001">
        <a:schemeClr val="bg1"/>
      </p:bgRef>
    </p:bg>
    <p:spTree>
      <p:nvGrpSpPr>
        <p:cNvPr id="1" name=""/>
        <p:cNvGrpSpPr/>
        <p:nvPr/>
      </p:nvGrpSpPr>
      <p:grpSpPr>
        <a:xfrm>
          <a:off x="0" y="0"/>
          <a:ext cx="0" cy="0"/>
          <a:chOff x="0" y="0"/>
          <a:chExt cx="0" cy="0"/>
        </a:xfrm>
      </p:grpSpPr>
      <p:sp>
        <p:nvSpPr>
          <p:cNvPr id="6" name="Alternative Process 5">
            <a:extLst>
              <a:ext uri="{FF2B5EF4-FFF2-40B4-BE49-F238E27FC236}">
                <a16:creationId xmlns:a16="http://schemas.microsoft.com/office/drawing/2014/main" id="{84E64C4B-B36B-3CA2-A221-1331FA819CC6}"/>
              </a:ext>
            </a:extLst>
          </p:cNvPr>
          <p:cNvSpPr/>
          <p:nvPr userDrawn="1"/>
        </p:nvSpPr>
        <p:spPr>
          <a:xfrm>
            <a:off x="3981691" y="136528"/>
            <a:ext cx="2743200" cy="307777"/>
          </a:xfrm>
          <a:prstGeom prst="flowChartAlternateProcess">
            <a:avLst/>
          </a:prstGeom>
          <a:solidFill>
            <a:srgbClr val="A37FE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1D5304BB-8EC2-49A7-E9AA-46ED62E6CAB0}"/>
              </a:ext>
            </a:extLst>
          </p:cNvPr>
          <p:cNvSpPr>
            <a:spLocks noGrp="1"/>
          </p:cNvSpPr>
          <p:nvPr>
            <p:ph type="dt" sz="half" idx="10"/>
          </p:nvPr>
        </p:nvSpPr>
        <p:spPr>
          <a:xfrm>
            <a:off x="317340" y="6356347"/>
            <a:ext cx="2857016" cy="365125"/>
          </a:xfrm>
        </p:spPr>
        <p:txBody>
          <a:bodyPr/>
          <a:lstStyle>
            <a:lvl1pPr>
              <a:defRPr>
                <a:solidFill>
                  <a:schemeClr val="tx1"/>
                </a:solidFill>
              </a:defRPr>
            </a:lvl1pPr>
          </a:lstStyle>
          <a:p>
            <a:r>
              <a:rPr lang="en-AU"/>
              <a:t>Ashwathi Nair</a:t>
            </a:r>
            <a:endParaRPr lang="en-US" dirty="0"/>
          </a:p>
        </p:txBody>
      </p:sp>
      <p:sp>
        <p:nvSpPr>
          <p:cNvPr id="3" name="Footer Placeholder 2">
            <a:extLst>
              <a:ext uri="{FF2B5EF4-FFF2-40B4-BE49-F238E27FC236}">
                <a16:creationId xmlns:a16="http://schemas.microsoft.com/office/drawing/2014/main" id="{68FED538-2091-86C2-224F-826AA30C9873}"/>
              </a:ext>
            </a:extLst>
          </p:cNvPr>
          <p:cNvSpPr>
            <a:spLocks noGrp="1"/>
          </p:cNvSpPr>
          <p:nvPr>
            <p:ph type="ftr" sz="quarter" idx="11"/>
          </p:nvPr>
        </p:nvSpPr>
        <p:spPr>
          <a:xfrm>
            <a:off x="3635896" y="6356347"/>
            <a:ext cx="4919241" cy="365125"/>
          </a:xfrm>
        </p:spPr>
        <p:txBody>
          <a:bodyPr/>
          <a:lstStyle>
            <a:lvl1pPr>
              <a:defRPr>
                <a:solidFill>
                  <a:schemeClr val="tx1"/>
                </a:solidFill>
              </a:defRPr>
            </a:lvl1pPr>
          </a:lstStyle>
          <a:p>
            <a:r>
              <a:rPr lang="en-US"/>
              <a:t>Binary Stars in a New Era</a:t>
            </a:r>
            <a:endParaRPr lang="en-US" dirty="0"/>
          </a:p>
        </p:txBody>
      </p:sp>
      <p:sp>
        <p:nvSpPr>
          <p:cNvPr id="4" name="Slide Number Placeholder 3">
            <a:extLst>
              <a:ext uri="{FF2B5EF4-FFF2-40B4-BE49-F238E27FC236}">
                <a16:creationId xmlns:a16="http://schemas.microsoft.com/office/drawing/2014/main" id="{B68B90D4-7CBB-C337-ADEE-F7A13FB815DA}"/>
              </a:ext>
            </a:extLst>
          </p:cNvPr>
          <p:cNvSpPr>
            <a:spLocks noGrp="1"/>
          </p:cNvSpPr>
          <p:nvPr>
            <p:ph type="sldNum" sz="quarter" idx="12"/>
          </p:nvPr>
        </p:nvSpPr>
        <p:spPr>
          <a:xfrm>
            <a:off x="9016678" y="6356347"/>
            <a:ext cx="2857017" cy="365125"/>
          </a:xfrm>
        </p:spPr>
        <p:txBody>
          <a:bodyPr/>
          <a:lstStyle/>
          <a:p>
            <a:fld id="{4A7A06D8-6BB7-C344-81C2-850CCC820A67}" type="slidenum">
              <a:rPr lang="en-US" smtClean="0"/>
              <a:t>‹#›</a:t>
            </a:fld>
            <a:endParaRPr lang="en-US"/>
          </a:p>
        </p:txBody>
      </p:sp>
      <p:sp>
        <p:nvSpPr>
          <p:cNvPr id="5" name="TextBox 4">
            <a:extLst>
              <a:ext uri="{FF2B5EF4-FFF2-40B4-BE49-F238E27FC236}">
                <a16:creationId xmlns:a16="http://schemas.microsoft.com/office/drawing/2014/main" id="{A07E56DC-FE92-280E-7EFB-23C1E101D30B}"/>
              </a:ext>
            </a:extLst>
          </p:cNvPr>
          <p:cNvSpPr txBox="1"/>
          <p:nvPr userDrawn="1"/>
        </p:nvSpPr>
        <p:spPr>
          <a:xfrm>
            <a:off x="120540" y="136528"/>
            <a:ext cx="11949952" cy="307777"/>
          </a:xfrm>
          <a:prstGeom prst="rect">
            <a:avLst/>
          </a:prstGeom>
          <a:noFill/>
        </p:spPr>
        <p:txBody>
          <a:bodyPr wrap="square" rtlCol="0">
            <a:spAutoFit/>
          </a:bodyPr>
          <a:lstStyle/>
          <a:p>
            <a:pPr algn="ctr"/>
            <a:r>
              <a:rPr lang="en-US" sz="1400" b="0" dirty="0">
                <a:solidFill>
                  <a:schemeClr val="bg1">
                    <a:lumMod val="65000"/>
                    <a:lumOff val="35000"/>
                  </a:schemeClr>
                </a:solidFill>
              </a:rPr>
              <a:t>Overview</a:t>
            </a:r>
            <a:r>
              <a:rPr lang="en-US" sz="1400" dirty="0"/>
              <a:t>   |    </a:t>
            </a:r>
            <a:r>
              <a:rPr lang="en-US" sz="1400" dirty="0">
                <a:solidFill>
                  <a:schemeClr val="bg1">
                    <a:lumMod val="65000"/>
                    <a:lumOff val="35000"/>
                  </a:schemeClr>
                </a:solidFill>
              </a:rPr>
              <a:t>Introduction</a:t>
            </a:r>
            <a:r>
              <a:rPr lang="en-US" sz="1400" dirty="0"/>
              <a:t>   |   </a:t>
            </a:r>
            <a:r>
              <a:rPr lang="en-US" sz="1400" b="1" dirty="0">
                <a:solidFill>
                  <a:schemeClr val="tx1"/>
                </a:solidFill>
              </a:rPr>
              <a:t>Work Accomplished  In A Year   </a:t>
            </a:r>
            <a:r>
              <a:rPr lang="en-US" sz="1400" dirty="0"/>
              <a:t>|   </a:t>
            </a:r>
            <a:r>
              <a:rPr lang="en-US" sz="1400" dirty="0">
                <a:solidFill>
                  <a:schemeClr val="bg1">
                    <a:lumMod val="65000"/>
                    <a:lumOff val="35000"/>
                  </a:schemeClr>
                </a:solidFill>
              </a:rPr>
              <a:t>Future Work and Projects   </a:t>
            </a:r>
            <a:r>
              <a:rPr lang="en-US" sz="1400" dirty="0"/>
              <a:t>|   </a:t>
            </a:r>
            <a:r>
              <a:rPr lang="en-US" sz="1400" dirty="0">
                <a:solidFill>
                  <a:schemeClr val="bg1">
                    <a:lumMod val="65000"/>
                    <a:lumOff val="35000"/>
                  </a:schemeClr>
                </a:solidFill>
              </a:rPr>
              <a:t>Future Timeline</a:t>
            </a:r>
          </a:p>
        </p:txBody>
      </p:sp>
    </p:spTree>
    <p:extLst>
      <p:ext uri="{BB962C8B-B14F-4D97-AF65-F5344CB8AC3E}">
        <p14:creationId xmlns:p14="http://schemas.microsoft.com/office/powerpoint/2010/main" val="220222072"/>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65485-1C4E-1D3F-9968-4AC6689E062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6217A91-4970-53FF-37A2-C39480CA18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05910E8-78C2-0592-432A-CDB8D95D3CF1}"/>
              </a:ext>
            </a:extLst>
          </p:cNvPr>
          <p:cNvSpPr>
            <a:spLocks noGrp="1"/>
          </p:cNvSpPr>
          <p:nvPr>
            <p:ph type="dt" sz="half" idx="10"/>
          </p:nvPr>
        </p:nvSpPr>
        <p:spPr/>
        <p:txBody>
          <a:bodyPr/>
          <a:lstStyle/>
          <a:p>
            <a:r>
              <a:rPr lang="en-AU"/>
              <a:t>Ashwathi Nair</a:t>
            </a:r>
            <a:endParaRPr lang="en-US"/>
          </a:p>
        </p:txBody>
      </p:sp>
      <p:sp>
        <p:nvSpPr>
          <p:cNvPr id="5" name="Footer Placeholder 4">
            <a:extLst>
              <a:ext uri="{FF2B5EF4-FFF2-40B4-BE49-F238E27FC236}">
                <a16:creationId xmlns:a16="http://schemas.microsoft.com/office/drawing/2014/main" id="{EB4B1E75-192D-3C88-B6C1-7999704E37C8}"/>
              </a:ext>
            </a:extLst>
          </p:cNvPr>
          <p:cNvSpPr>
            <a:spLocks noGrp="1"/>
          </p:cNvSpPr>
          <p:nvPr>
            <p:ph type="ftr" sz="quarter" idx="11"/>
          </p:nvPr>
        </p:nvSpPr>
        <p:spPr/>
        <p:txBody>
          <a:bodyPr/>
          <a:lstStyle/>
          <a:p>
            <a:r>
              <a:rPr lang="en-US"/>
              <a:t>Binary Stars in a New Era</a:t>
            </a:r>
          </a:p>
        </p:txBody>
      </p:sp>
      <p:sp>
        <p:nvSpPr>
          <p:cNvPr id="6" name="Slide Number Placeholder 5">
            <a:extLst>
              <a:ext uri="{FF2B5EF4-FFF2-40B4-BE49-F238E27FC236}">
                <a16:creationId xmlns:a16="http://schemas.microsoft.com/office/drawing/2014/main" id="{D379A072-3308-3275-8D27-537AD667B338}"/>
              </a:ext>
            </a:extLst>
          </p:cNvPr>
          <p:cNvSpPr>
            <a:spLocks noGrp="1"/>
          </p:cNvSpPr>
          <p:nvPr>
            <p:ph type="sldNum" sz="quarter" idx="12"/>
          </p:nvPr>
        </p:nvSpPr>
        <p:spPr/>
        <p:txBody>
          <a:bodyPr/>
          <a:lstStyle/>
          <a:p>
            <a:fld id="{057B2A9F-4DD7-114B-9F95-85EF9E9B3D2F}" type="slidenum">
              <a:rPr lang="en-US" smtClean="0"/>
              <a:t>‹#›</a:t>
            </a:fld>
            <a:endParaRPr lang="en-US"/>
          </a:p>
        </p:txBody>
      </p:sp>
    </p:spTree>
    <p:extLst>
      <p:ext uri="{BB962C8B-B14F-4D97-AF65-F5344CB8AC3E}">
        <p14:creationId xmlns:p14="http://schemas.microsoft.com/office/powerpoint/2010/main" val="39178297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0D6BB-D26A-EB82-7DFB-6530C1E5BBE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113ED32-768B-C6DA-DAC0-77CF4091DE4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68F8BB5-13D2-D5CF-EFDB-BE99501724D6}"/>
              </a:ext>
            </a:extLst>
          </p:cNvPr>
          <p:cNvSpPr>
            <a:spLocks noGrp="1"/>
          </p:cNvSpPr>
          <p:nvPr>
            <p:ph type="dt" sz="half" idx="10"/>
          </p:nvPr>
        </p:nvSpPr>
        <p:spPr/>
        <p:txBody>
          <a:bodyPr/>
          <a:lstStyle/>
          <a:p>
            <a:r>
              <a:rPr lang="en-AU"/>
              <a:t>Ashwathi Nair</a:t>
            </a:r>
            <a:endParaRPr lang="en-US"/>
          </a:p>
        </p:txBody>
      </p:sp>
      <p:sp>
        <p:nvSpPr>
          <p:cNvPr id="5" name="Footer Placeholder 4">
            <a:extLst>
              <a:ext uri="{FF2B5EF4-FFF2-40B4-BE49-F238E27FC236}">
                <a16:creationId xmlns:a16="http://schemas.microsoft.com/office/drawing/2014/main" id="{3051B1AA-1639-624B-FB35-B8D30CB790B7}"/>
              </a:ext>
            </a:extLst>
          </p:cNvPr>
          <p:cNvSpPr>
            <a:spLocks noGrp="1"/>
          </p:cNvSpPr>
          <p:nvPr>
            <p:ph type="ftr" sz="quarter" idx="11"/>
          </p:nvPr>
        </p:nvSpPr>
        <p:spPr/>
        <p:txBody>
          <a:bodyPr/>
          <a:lstStyle/>
          <a:p>
            <a:r>
              <a:rPr lang="en-US"/>
              <a:t>Binary Stars in a New Era</a:t>
            </a:r>
          </a:p>
        </p:txBody>
      </p:sp>
      <p:sp>
        <p:nvSpPr>
          <p:cNvPr id="6" name="Slide Number Placeholder 5">
            <a:extLst>
              <a:ext uri="{FF2B5EF4-FFF2-40B4-BE49-F238E27FC236}">
                <a16:creationId xmlns:a16="http://schemas.microsoft.com/office/drawing/2014/main" id="{51CCED24-FF35-CA14-C580-6AD571DE6C69}"/>
              </a:ext>
            </a:extLst>
          </p:cNvPr>
          <p:cNvSpPr>
            <a:spLocks noGrp="1"/>
          </p:cNvSpPr>
          <p:nvPr>
            <p:ph type="sldNum" sz="quarter" idx="12"/>
          </p:nvPr>
        </p:nvSpPr>
        <p:spPr/>
        <p:txBody>
          <a:bodyPr/>
          <a:lstStyle/>
          <a:p>
            <a:fld id="{057B2A9F-4DD7-114B-9F95-85EF9E9B3D2F}" type="slidenum">
              <a:rPr lang="en-US" smtClean="0"/>
              <a:t>‹#›</a:t>
            </a:fld>
            <a:endParaRPr lang="en-US"/>
          </a:p>
        </p:txBody>
      </p:sp>
    </p:spTree>
    <p:extLst>
      <p:ext uri="{BB962C8B-B14F-4D97-AF65-F5344CB8AC3E}">
        <p14:creationId xmlns:p14="http://schemas.microsoft.com/office/powerpoint/2010/main" val="18666348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8CD86-E411-F9E2-F05A-9A13C5D7B74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C9B0269-7C64-9495-61BE-71E7BC1D305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03AAD49-FFE1-A885-D6F1-EDC957DD73CA}"/>
              </a:ext>
            </a:extLst>
          </p:cNvPr>
          <p:cNvSpPr>
            <a:spLocks noGrp="1"/>
          </p:cNvSpPr>
          <p:nvPr>
            <p:ph type="dt" sz="half" idx="10"/>
          </p:nvPr>
        </p:nvSpPr>
        <p:spPr/>
        <p:txBody>
          <a:bodyPr/>
          <a:lstStyle/>
          <a:p>
            <a:r>
              <a:rPr lang="en-AU"/>
              <a:t>Ashwathi Nair</a:t>
            </a:r>
            <a:endParaRPr lang="en-US"/>
          </a:p>
        </p:txBody>
      </p:sp>
      <p:sp>
        <p:nvSpPr>
          <p:cNvPr id="5" name="Footer Placeholder 4">
            <a:extLst>
              <a:ext uri="{FF2B5EF4-FFF2-40B4-BE49-F238E27FC236}">
                <a16:creationId xmlns:a16="http://schemas.microsoft.com/office/drawing/2014/main" id="{A6387889-D911-2279-8CCE-14CA723D1593}"/>
              </a:ext>
            </a:extLst>
          </p:cNvPr>
          <p:cNvSpPr>
            <a:spLocks noGrp="1"/>
          </p:cNvSpPr>
          <p:nvPr>
            <p:ph type="ftr" sz="quarter" idx="11"/>
          </p:nvPr>
        </p:nvSpPr>
        <p:spPr/>
        <p:txBody>
          <a:bodyPr/>
          <a:lstStyle/>
          <a:p>
            <a:r>
              <a:rPr lang="en-US"/>
              <a:t>Binary Stars in a New Era</a:t>
            </a:r>
          </a:p>
        </p:txBody>
      </p:sp>
      <p:sp>
        <p:nvSpPr>
          <p:cNvPr id="6" name="Slide Number Placeholder 5">
            <a:extLst>
              <a:ext uri="{FF2B5EF4-FFF2-40B4-BE49-F238E27FC236}">
                <a16:creationId xmlns:a16="http://schemas.microsoft.com/office/drawing/2014/main" id="{9044D99E-6732-0CF3-7250-638FDC187178}"/>
              </a:ext>
            </a:extLst>
          </p:cNvPr>
          <p:cNvSpPr>
            <a:spLocks noGrp="1"/>
          </p:cNvSpPr>
          <p:nvPr>
            <p:ph type="sldNum" sz="quarter" idx="12"/>
          </p:nvPr>
        </p:nvSpPr>
        <p:spPr/>
        <p:txBody>
          <a:bodyPr/>
          <a:lstStyle/>
          <a:p>
            <a:fld id="{057B2A9F-4DD7-114B-9F95-85EF9E9B3D2F}" type="slidenum">
              <a:rPr lang="en-US" smtClean="0"/>
              <a:t>‹#›</a:t>
            </a:fld>
            <a:endParaRPr lang="en-US"/>
          </a:p>
        </p:txBody>
      </p:sp>
    </p:spTree>
    <p:extLst>
      <p:ext uri="{BB962C8B-B14F-4D97-AF65-F5344CB8AC3E}">
        <p14:creationId xmlns:p14="http://schemas.microsoft.com/office/powerpoint/2010/main" val="41396715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5A0F9-130D-52EB-9338-7F9C18A4B95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00D9946-7895-0591-BF61-CE5A9A83260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052EF9F-F252-33C2-D976-C6E2BD6E5BD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2C6DFF7-8C9B-5B83-8309-0DD2206485D2}"/>
              </a:ext>
            </a:extLst>
          </p:cNvPr>
          <p:cNvSpPr>
            <a:spLocks noGrp="1"/>
          </p:cNvSpPr>
          <p:nvPr>
            <p:ph type="dt" sz="half" idx="10"/>
          </p:nvPr>
        </p:nvSpPr>
        <p:spPr/>
        <p:txBody>
          <a:bodyPr/>
          <a:lstStyle/>
          <a:p>
            <a:r>
              <a:rPr lang="en-AU"/>
              <a:t>Ashwathi Nair</a:t>
            </a:r>
            <a:endParaRPr lang="en-US"/>
          </a:p>
        </p:txBody>
      </p:sp>
      <p:sp>
        <p:nvSpPr>
          <p:cNvPr id="6" name="Footer Placeholder 5">
            <a:extLst>
              <a:ext uri="{FF2B5EF4-FFF2-40B4-BE49-F238E27FC236}">
                <a16:creationId xmlns:a16="http://schemas.microsoft.com/office/drawing/2014/main" id="{015CFA85-E4F7-7B8F-F518-31EA05FC4078}"/>
              </a:ext>
            </a:extLst>
          </p:cNvPr>
          <p:cNvSpPr>
            <a:spLocks noGrp="1"/>
          </p:cNvSpPr>
          <p:nvPr>
            <p:ph type="ftr" sz="quarter" idx="11"/>
          </p:nvPr>
        </p:nvSpPr>
        <p:spPr/>
        <p:txBody>
          <a:bodyPr/>
          <a:lstStyle/>
          <a:p>
            <a:r>
              <a:rPr lang="en-US"/>
              <a:t>Binary Stars in a New Era</a:t>
            </a:r>
          </a:p>
        </p:txBody>
      </p:sp>
      <p:sp>
        <p:nvSpPr>
          <p:cNvPr id="7" name="Slide Number Placeholder 6">
            <a:extLst>
              <a:ext uri="{FF2B5EF4-FFF2-40B4-BE49-F238E27FC236}">
                <a16:creationId xmlns:a16="http://schemas.microsoft.com/office/drawing/2014/main" id="{CAC69230-5A72-0400-6F26-C8EA96735241}"/>
              </a:ext>
            </a:extLst>
          </p:cNvPr>
          <p:cNvSpPr>
            <a:spLocks noGrp="1"/>
          </p:cNvSpPr>
          <p:nvPr>
            <p:ph type="sldNum" sz="quarter" idx="12"/>
          </p:nvPr>
        </p:nvSpPr>
        <p:spPr/>
        <p:txBody>
          <a:bodyPr/>
          <a:lstStyle/>
          <a:p>
            <a:fld id="{057B2A9F-4DD7-114B-9F95-85EF9E9B3D2F}" type="slidenum">
              <a:rPr lang="en-US" smtClean="0"/>
              <a:t>‹#›</a:t>
            </a:fld>
            <a:endParaRPr lang="en-US"/>
          </a:p>
        </p:txBody>
      </p:sp>
    </p:spTree>
    <p:extLst>
      <p:ext uri="{BB962C8B-B14F-4D97-AF65-F5344CB8AC3E}">
        <p14:creationId xmlns:p14="http://schemas.microsoft.com/office/powerpoint/2010/main" val="8779094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545D5-2C8C-C42E-E59E-528FA7B0A07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6D9E0C-31E1-A3A2-B897-67EE3BAD47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F448854-F003-3A1F-E442-9026F3903AC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9281341-4896-1969-F5AD-780D7CD97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4EBB265-AE77-276F-6B6E-557C6528DC5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C133D13-9BC1-34BC-ABDC-13DEEDCA8703}"/>
              </a:ext>
            </a:extLst>
          </p:cNvPr>
          <p:cNvSpPr>
            <a:spLocks noGrp="1"/>
          </p:cNvSpPr>
          <p:nvPr>
            <p:ph type="dt" sz="half" idx="10"/>
          </p:nvPr>
        </p:nvSpPr>
        <p:spPr/>
        <p:txBody>
          <a:bodyPr/>
          <a:lstStyle/>
          <a:p>
            <a:r>
              <a:rPr lang="en-AU"/>
              <a:t>Ashwathi Nair</a:t>
            </a:r>
            <a:endParaRPr lang="en-US"/>
          </a:p>
        </p:txBody>
      </p:sp>
      <p:sp>
        <p:nvSpPr>
          <p:cNvPr id="8" name="Footer Placeholder 7">
            <a:extLst>
              <a:ext uri="{FF2B5EF4-FFF2-40B4-BE49-F238E27FC236}">
                <a16:creationId xmlns:a16="http://schemas.microsoft.com/office/drawing/2014/main" id="{247EB8BF-0D1B-C337-1905-C028CE641943}"/>
              </a:ext>
            </a:extLst>
          </p:cNvPr>
          <p:cNvSpPr>
            <a:spLocks noGrp="1"/>
          </p:cNvSpPr>
          <p:nvPr>
            <p:ph type="ftr" sz="quarter" idx="11"/>
          </p:nvPr>
        </p:nvSpPr>
        <p:spPr/>
        <p:txBody>
          <a:bodyPr/>
          <a:lstStyle/>
          <a:p>
            <a:r>
              <a:rPr lang="en-US"/>
              <a:t>Binary Stars in a New Era</a:t>
            </a:r>
          </a:p>
        </p:txBody>
      </p:sp>
      <p:sp>
        <p:nvSpPr>
          <p:cNvPr id="9" name="Slide Number Placeholder 8">
            <a:extLst>
              <a:ext uri="{FF2B5EF4-FFF2-40B4-BE49-F238E27FC236}">
                <a16:creationId xmlns:a16="http://schemas.microsoft.com/office/drawing/2014/main" id="{99FBBD02-CA9A-F791-D1FD-A09459AC9F2C}"/>
              </a:ext>
            </a:extLst>
          </p:cNvPr>
          <p:cNvSpPr>
            <a:spLocks noGrp="1"/>
          </p:cNvSpPr>
          <p:nvPr>
            <p:ph type="sldNum" sz="quarter" idx="12"/>
          </p:nvPr>
        </p:nvSpPr>
        <p:spPr/>
        <p:txBody>
          <a:bodyPr/>
          <a:lstStyle/>
          <a:p>
            <a:fld id="{057B2A9F-4DD7-114B-9F95-85EF9E9B3D2F}" type="slidenum">
              <a:rPr lang="en-US" smtClean="0"/>
              <a:t>‹#›</a:t>
            </a:fld>
            <a:endParaRPr lang="en-US"/>
          </a:p>
        </p:txBody>
      </p:sp>
    </p:spTree>
    <p:extLst>
      <p:ext uri="{BB962C8B-B14F-4D97-AF65-F5344CB8AC3E}">
        <p14:creationId xmlns:p14="http://schemas.microsoft.com/office/powerpoint/2010/main" val="9752721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F5BBC-A469-56DB-82E0-31314654AAF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2FEF664-906E-A1DF-2C1B-B7471C5D46C5}"/>
              </a:ext>
            </a:extLst>
          </p:cNvPr>
          <p:cNvSpPr>
            <a:spLocks noGrp="1"/>
          </p:cNvSpPr>
          <p:nvPr>
            <p:ph type="dt" sz="half" idx="10"/>
          </p:nvPr>
        </p:nvSpPr>
        <p:spPr/>
        <p:txBody>
          <a:bodyPr/>
          <a:lstStyle/>
          <a:p>
            <a:r>
              <a:rPr lang="en-AU"/>
              <a:t>Ashwathi Nair</a:t>
            </a:r>
            <a:endParaRPr lang="en-US"/>
          </a:p>
        </p:txBody>
      </p:sp>
      <p:sp>
        <p:nvSpPr>
          <p:cNvPr id="4" name="Footer Placeholder 3">
            <a:extLst>
              <a:ext uri="{FF2B5EF4-FFF2-40B4-BE49-F238E27FC236}">
                <a16:creationId xmlns:a16="http://schemas.microsoft.com/office/drawing/2014/main" id="{08D809F3-3429-2E1B-E085-210F5A48BE2F}"/>
              </a:ext>
            </a:extLst>
          </p:cNvPr>
          <p:cNvSpPr>
            <a:spLocks noGrp="1"/>
          </p:cNvSpPr>
          <p:nvPr>
            <p:ph type="ftr" sz="quarter" idx="11"/>
          </p:nvPr>
        </p:nvSpPr>
        <p:spPr/>
        <p:txBody>
          <a:bodyPr/>
          <a:lstStyle/>
          <a:p>
            <a:r>
              <a:rPr lang="en-US"/>
              <a:t>Binary Stars in a New Era</a:t>
            </a:r>
          </a:p>
        </p:txBody>
      </p:sp>
      <p:sp>
        <p:nvSpPr>
          <p:cNvPr id="5" name="Slide Number Placeholder 4">
            <a:extLst>
              <a:ext uri="{FF2B5EF4-FFF2-40B4-BE49-F238E27FC236}">
                <a16:creationId xmlns:a16="http://schemas.microsoft.com/office/drawing/2014/main" id="{DA4D3E00-7290-0063-8962-FF292917FBDC}"/>
              </a:ext>
            </a:extLst>
          </p:cNvPr>
          <p:cNvSpPr>
            <a:spLocks noGrp="1"/>
          </p:cNvSpPr>
          <p:nvPr>
            <p:ph type="sldNum" sz="quarter" idx="12"/>
          </p:nvPr>
        </p:nvSpPr>
        <p:spPr/>
        <p:txBody>
          <a:bodyPr/>
          <a:lstStyle/>
          <a:p>
            <a:fld id="{057B2A9F-4DD7-114B-9F95-85EF9E9B3D2F}" type="slidenum">
              <a:rPr lang="en-US" smtClean="0"/>
              <a:t>‹#›</a:t>
            </a:fld>
            <a:endParaRPr lang="en-US"/>
          </a:p>
        </p:txBody>
      </p:sp>
    </p:spTree>
    <p:extLst>
      <p:ext uri="{BB962C8B-B14F-4D97-AF65-F5344CB8AC3E}">
        <p14:creationId xmlns:p14="http://schemas.microsoft.com/office/powerpoint/2010/main" val="17777888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062366-6CEB-E90E-EF70-D4A5BA94B2FF}"/>
              </a:ext>
            </a:extLst>
          </p:cNvPr>
          <p:cNvSpPr>
            <a:spLocks noGrp="1"/>
          </p:cNvSpPr>
          <p:nvPr>
            <p:ph type="dt" sz="half" idx="10"/>
          </p:nvPr>
        </p:nvSpPr>
        <p:spPr/>
        <p:txBody>
          <a:bodyPr/>
          <a:lstStyle/>
          <a:p>
            <a:r>
              <a:rPr lang="en-AU"/>
              <a:t>Ashwathi Nair</a:t>
            </a:r>
            <a:endParaRPr lang="en-US"/>
          </a:p>
        </p:txBody>
      </p:sp>
      <p:sp>
        <p:nvSpPr>
          <p:cNvPr id="3" name="Footer Placeholder 2">
            <a:extLst>
              <a:ext uri="{FF2B5EF4-FFF2-40B4-BE49-F238E27FC236}">
                <a16:creationId xmlns:a16="http://schemas.microsoft.com/office/drawing/2014/main" id="{F1B71450-A7A9-3752-7AB7-7BD8F5D5B837}"/>
              </a:ext>
            </a:extLst>
          </p:cNvPr>
          <p:cNvSpPr>
            <a:spLocks noGrp="1"/>
          </p:cNvSpPr>
          <p:nvPr>
            <p:ph type="ftr" sz="quarter" idx="11"/>
          </p:nvPr>
        </p:nvSpPr>
        <p:spPr/>
        <p:txBody>
          <a:bodyPr/>
          <a:lstStyle/>
          <a:p>
            <a:r>
              <a:rPr lang="en-US"/>
              <a:t>Binary Stars in a New Era</a:t>
            </a:r>
          </a:p>
        </p:txBody>
      </p:sp>
      <p:sp>
        <p:nvSpPr>
          <p:cNvPr id="4" name="Slide Number Placeholder 3">
            <a:extLst>
              <a:ext uri="{FF2B5EF4-FFF2-40B4-BE49-F238E27FC236}">
                <a16:creationId xmlns:a16="http://schemas.microsoft.com/office/drawing/2014/main" id="{0189A1DE-D497-1339-63B1-3987D205D6B0}"/>
              </a:ext>
            </a:extLst>
          </p:cNvPr>
          <p:cNvSpPr>
            <a:spLocks noGrp="1"/>
          </p:cNvSpPr>
          <p:nvPr>
            <p:ph type="sldNum" sz="quarter" idx="12"/>
          </p:nvPr>
        </p:nvSpPr>
        <p:spPr/>
        <p:txBody>
          <a:bodyPr/>
          <a:lstStyle/>
          <a:p>
            <a:fld id="{057B2A9F-4DD7-114B-9F95-85EF9E9B3D2F}" type="slidenum">
              <a:rPr lang="en-US" smtClean="0"/>
              <a:t>‹#›</a:t>
            </a:fld>
            <a:endParaRPr lang="en-US"/>
          </a:p>
        </p:txBody>
      </p:sp>
    </p:spTree>
    <p:extLst>
      <p:ext uri="{BB962C8B-B14F-4D97-AF65-F5344CB8AC3E}">
        <p14:creationId xmlns:p14="http://schemas.microsoft.com/office/powerpoint/2010/main" val="36741656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078FF-2649-2F87-F44F-324A3D05967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BE3B7A8-D33D-ABDD-85A7-825DA86D32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46036B9-244B-EB5B-4C32-7A38F0C18D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48E0C95-AE00-8783-0006-7E56AAB5FE19}"/>
              </a:ext>
            </a:extLst>
          </p:cNvPr>
          <p:cNvSpPr>
            <a:spLocks noGrp="1"/>
          </p:cNvSpPr>
          <p:nvPr>
            <p:ph type="dt" sz="half" idx="10"/>
          </p:nvPr>
        </p:nvSpPr>
        <p:spPr/>
        <p:txBody>
          <a:bodyPr/>
          <a:lstStyle/>
          <a:p>
            <a:r>
              <a:rPr lang="en-AU"/>
              <a:t>Ashwathi Nair</a:t>
            </a:r>
            <a:endParaRPr lang="en-US"/>
          </a:p>
        </p:txBody>
      </p:sp>
      <p:sp>
        <p:nvSpPr>
          <p:cNvPr id="6" name="Footer Placeholder 5">
            <a:extLst>
              <a:ext uri="{FF2B5EF4-FFF2-40B4-BE49-F238E27FC236}">
                <a16:creationId xmlns:a16="http://schemas.microsoft.com/office/drawing/2014/main" id="{82946702-E548-2E90-B906-E53EE91B66C7}"/>
              </a:ext>
            </a:extLst>
          </p:cNvPr>
          <p:cNvSpPr>
            <a:spLocks noGrp="1"/>
          </p:cNvSpPr>
          <p:nvPr>
            <p:ph type="ftr" sz="quarter" idx="11"/>
          </p:nvPr>
        </p:nvSpPr>
        <p:spPr/>
        <p:txBody>
          <a:bodyPr/>
          <a:lstStyle/>
          <a:p>
            <a:r>
              <a:rPr lang="en-US"/>
              <a:t>Binary Stars in a New Era</a:t>
            </a:r>
          </a:p>
        </p:txBody>
      </p:sp>
      <p:sp>
        <p:nvSpPr>
          <p:cNvPr id="7" name="Slide Number Placeholder 6">
            <a:extLst>
              <a:ext uri="{FF2B5EF4-FFF2-40B4-BE49-F238E27FC236}">
                <a16:creationId xmlns:a16="http://schemas.microsoft.com/office/drawing/2014/main" id="{1A609A3B-BAD9-8CC7-076A-AF127CEBDCAB}"/>
              </a:ext>
            </a:extLst>
          </p:cNvPr>
          <p:cNvSpPr>
            <a:spLocks noGrp="1"/>
          </p:cNvSpPr>
          <p:nvPr>
            <p:ph type="sldNum" sz="quarter" idx="12"/>
          </p:nvPr>
        </p:nvSpPr>
        <p:spPr/>
        <p:txBody>
          <a:bodyPr/>
          <a:lstStyle/>
          <a:p>
            <a:fld id="{057B2A9F-4DD7-114B-9F95-85EF9E9B3D2F}" type="slidenum">
              <a:rPr lang="en-US" smtClean="0"/>
              <a:t>‹#›</a:t>
            </a:fld>
            <a:endParaRPr lang="en-US"/>
          </a:p>
        </p:txBody>
      </p:sp>
    </p:spTree>
    <p:extLst>
      <p:ext uri="{BB962C8B-B14F-4D97-AF65-F5344CB8AC3E}">
        <p14:creationId xmlns:p14="http://schemas.microsoft.com/office/powerpoint/2010/main" val="38181080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4E693-E87A-AA2C-848B-8BBC57DB183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CE01470-3E17-B7C1-2685-055213B9EC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77D679-6B95-6EA9-7764-99DDC1CF1C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7BC9A8F-8DAD-94DB-5792-017855B10940}"/>
              </a:ext>
            </a:extLst>
          </p:cNvPr>
          <p:cNvSpPr>
            <a:spLocks noGrp="1"/>
          </p:cNvSpPr>
          <p:nvPr>
            <p:ph type="dt" sz="half" idx="10"/>
          </p:nvPr>
        </p:nvSpPr>
        <p:spPr/>
        <p:txBody>
          <a:bodyPr/>
          <a:lstStyle/>
          <a:p>
            <a:r>
              <a:rPr lang="en-AU"/>
              <a:t>Ashwathi Nair</a:t>
            </a:r>
            <a:endParaRPr lang="en-US"/>
          </a:p>
        </p:txBody>
      </p:sp>
      <p:sp>
        <p:nvSpPr>
          <p:cNvPr id="6" name="Footer Placeholder 5">
            <a:extLst>
              <a:ext uri="{FF2B5EF4-FFF2-40B4-BE49-F238E27FC236}">
                <a16:creationId xmlns:a16="http://schemas.microsoft.com/office/drawing/2014/main" id="{170C14AD-E669-7889-AD65-88DC1FBE60FC}"/>
              </a:ext>
            </a:extLst>
          </p:cNvPr>
          <p:cNvSpPr>
            <a:spLocks noGrp="1"/>
          </p:cNvSpPr>
          <p:nvPr>
            <p:ph type="ftr" sz="quarter" idx="11"/>
          </p:nvPr>
        </p:nvSpPr>
        <p:spPr/>
        <p:txBody>
          <a:bodyPr/>
          <a:lstStyle/>
          <a:p>
            <a:r>
              <a:rPr lang="en-US"/>
              <a:t>Binary Stars in a New Era</a:t>
            </a:r>
          </a:p>
        </p:txBody>
      </p:sp>
      <p:sp>
        <p:nvSpPr>
          <p:cNvPr id="7" name="Slide Number Placeholder 6">
            <a:extLst>
              <a:ext uri="{FF2B5EF4-FFF2-40B4-BE49-F238E27FC236}">
                <a16:creationId xmlns:a16="http://schemas.microsoft.com/office/drawing/2014/main" id="{0371540D-E6ED-DE4D-8CDA-5E1E10BBBCD8}"/>
              </a:ext>
            </a:extLst>
          </p:cNvPr>
          <p:cNvSpPr>
            <a:spLocks noGrp="1"/>
          </p:cNvSpPr>
          <p:nvPr>
            <p:ph type="sldNum" sz="quarter" idx="12"/>
          </p:nvPr>
        </p:nvSpPr>
        <p:spPr/>
        <p:txBody>
          <a:bodyPr/>
          <a:lstStyle/>
          <a:p>
            <a:fld id="{057B2A9F-4DD7-114B-9F95-85EF9E9B3D2F}" type="slidenum">
              <a:rPr lang="en-US" smtClean="0"/>
              <a:t>‹#›</a:t>
            </a:fld>
            <a:endParaRPr lang="en-US"/>
          </a:p>
        </p:txBody>
      </p:sp>
    </p:spTree>
    <p:extLst>
      <p:ext uri="{BB962C8B-B14F-4D97-AF65-F5344CB8AC3E}">
        <p14:creationId xmlns:p14="http://schemas.microsoft.com/office/powerpoint/2010/main" val="40509792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0B9A3-9DFB-18DA-E4F8-9EA6D2156D6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AA4DE3B-DE9E-6EDF-DD1A-831B930355C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4A83C1D-7207-A635-2D90-CD5C01080417}"/>
              </a:ext>
            </a:extLst>
          </p:cNvPr>
          <p:cNvSpPr>
            <a:spLocks noGrp="1"/>
          </p:cNvSpPr>
          <p:nvPr>
            <p:ph type="dt" sz="half" idx="10"/>
          </p:nvPr>
        </p:nvSpPr>
        <p:spPr/>
        <p:txBody>
          <a:bodyPr/>
          <a:lstStyle/>
          <a:p>
            <a:r>
              <a:rPr lang="en-AU"/>
              <a:t>Ashwathi Nair</a:t>
            </a:r>
            <a:endParaRPr lang="en-US"/>
          </a:p>
        </p:txBody>
      </p:sp>
      <p:sp>
        <p:nvSpPr>
          <p:cNvPr id="5" name="Footer Placeholder 4">
            <a:extLst>
              <a:ext uri="{FF2B5EF4-FFF2-40B4-BE49-F238E27FC236}">
                <a16:creationId xmlns:a16="http://schemas.microsoft.com/office/drawing/2014/main" id="{CB3E48C1-6532-E070-209D-F9C8F9C9966D}"/>
              </a:ext>
            </a:extLst>
          </p:cNvPr>
          <p:cNvSpPr>
            <a:spLocks noGrp="1"/>
          </p:cNvSpPr>
          <p:nvPr>
            <p:ph type="ftr" sz="quarter" idx="11"/>
          </p:nvPr>
        </p:nvSpPr>
        <p:spPr/>
        <p:txBody>
          <a:bodyPr/>
          <a:lstStyle/>
          <a:p>
            <a:r>
              <a:rPr lang="en-US"/>
              <a:t>Binary Stars in a New Era</a:t>
            </a:r>
          </a:p>
        </p:txBody>
      </p:sp>
      <p:sp>
        <p:nvSpPr>
          <p:cNvPr id="6" name="Slide Number Placeholder 5">
            <a:extLst>
              <a:ext uri="{FF2B5EF4-FFF2-40B4-BE49-F238E27FC236}">
                <a16:creationId xmlns:a16="http://schemas.microsoft.com/office/drawing/2014/main" id="{905CB1A9-AF8E-60A5-6D16-524C3D4DE2F6}"/>
              </a:ext>
            </a:extLst>
          </p:cNvPr>
          <p:cNvSpPr>
            <a:spLocks noGrp="1"/>
          </p:cNvSpPr>
          <p:nvPr>
            <p:ph type="sldNum" sz="quarter" idx="12"/>
          </p:nvPr>
        </p:nvSpPr>
        <p:spPr/>
        <p:txBody>
          <a:bodyPr/>
          <a:lstStyle/>
          <a:p>
            <a:fld id="{057B2A9F-4DD7-114B-9F95-85EF9E9B3D2F}" type="slidenum">
              <a:rPr lang="en-US" smtClean="0"/>
              <a:t>‹#›</a:t>
            </a:fld>
            <a:endParaRPr lang="en-US"/>
          </a:p>
        </p:txBody>
      </p:sp>
    </p:spTree>
    <p:extLst>
      <p:ext uri="{BB962C8B-B14F-4D97-AF65-F5344CB8AC3E}">
        <p14:creationId xmlns:p14="http://schemas.microsoft.com/office/powerpoint/2010/main" val="29351362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F116AC-19B0-1FD5-92D1-0184136C3B7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304CE10-453F-3622-5A9C-DB58F61600D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EC577FC-B68E-4E8D-35BE-888784968984}"/>
              </a:ext>
            </a:extLst>
          </p:cNvPr>
          <p:cNvSpPr>
            <a:spLocks noGrp="1"/>
          </p:cNvSpPr>
          <p:nvPr>
            <p:ph type="dt" sz="half" idx="10"/>
          </p:nvPr>
        </p:nvSpPr>
        <p:spPr/>
        <p:txBody>
          <a:bodyPr/>
          <a:lstStyle/>
          <a:p>
            <a:r>
              <a:rPr lang="en-AU"/>
              <a:t>Ashwathi Nair</a:t>
            </a:r>
            <a:endParaRPr lang="en-US"/>
          </a:p>
        </p:txBody>
      </p:sp>
      <p:sp>
        <p:nvSpPr>
          <p:cNvPr id="5" name="Footer Placeholder 4">
            <a:extLst>
              <a:ext uri="{FF2B5EF4-FFF2-40B4-BE49-F238E27FC236}">
                <a16:creationId xmlns:a16="http://schemas.microsoft.com/office/drawing/2014/main" id="{AD299EF0-A2A3-86D6-0784-E19D07CF709B}"/>
              </a:ext>
            </a:extLst>
          </p:cNvPr>
          <p:cNvSpPr>
            <a:spLocks noGrp="1"/>
          </p:cNvSpPr>
          <p:nvPr>
            <p:ph type="ftr" sz="quarter" idx="11"/>
          </p:nvPr>
        </p:nvSpPr>
        <p:spPr/>
        <p:txBody>
          <a:bodyPr/>
          <a:lstStyle/>
          <a:p>
            <a:r>
              <a:rPr lang="en-US"/>
              <a:t>Binary Stars in a New Era</a:t>
            </a:r>
          </a:p>
        </p:txBody>
      </p:sp>
      <p:sp>
        <p:nvSpPr>
          <p:cNvPr id="6" name="Slide Number Placeholder 5">
            <a:extLst>
              <a:ext uri="{FF2B5EF4-FFF2-40B4-BE49-F238E27FC236}">
                <a16:creationId xmlns:a16="http://schemas.microsoft.com/office/drawing/2014/main" id="{BBCD5710-FBE9-A99B-ED82-50E51DBC06A4}"/>
              </a:ext>
            </a:extLst>
          </p:cNvPr>
          <p:cNvSpPr>
            <a:spLocks noGrp="1"/>
          </p:cNvSpPr>
          <p:nvPr>
            <p:ph type="sldNum" sz="quarter" idx="12"/>
          </p:nvPr>
        </p:nvSpPr>
        <p:spPr/>
        <p:txBody>
          <a:bodyPr/>
          <a:lstStyle/>
          <a:p>
            <a:fld id="{057B2A9F-4DD7-114B-9F95-85EF9E9B3D2F}" type="slidenum">
              <a:rPr lang="en-US" smtClean="0"/>
              <a:t>‹#›</a:t>
            </a:fld>
            <a:endParaRPr lang="en-US"/>
          </a:p>
        </p:txBody>
      </p:sp>
    </p:spTree>
    <p:extLst>
      <p:ext uri="{BB962C8B-B14F-4D97-AF65-F5344CB8AC3E}">
        <p14:creationId xmlns:p14="http://schemas.microsoft.com/office/powerpoint/2010/main" val="1044508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r>
              <a:rPr lang="en-AU"/>
              <a:t>Ashwathi Nair</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r>
              <a:rPr lang="en-US"/>
              <a:t>Binary Stars in a New Era</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CE0A201B-ED89-3E49-8333-B23E6243976D}" type="slidenum">
              <a:rPr lang="en-US" smtClean="0"/>
              <a:t>‹#›</a:t>
            </a:fld>
            <a:endParaRPr lang="en-US"/>
          </a:p>
        </p:txBody>
      </p:sp>
    </p:spTree>
    <p:extLst>
      <p:ext uri="{BB962C8B-B14F-4D97-AF65-F5344CB8AC3E}">
        <p14:creationId xmlns:p14="http://schemas.microsoft.com/office/powerpoint/2010/main" val="403799381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5" r:id="rId8"/>
    <p:sldLayoutId id="2147483676" r:id="rId9"/>
    <p:sldLayoutId id="2147483677" r:id="rId10"/>
    <p:sldLayoutId id="2147483674" r:id="rId11"/>
    <p:sldLayoutId id="2147483668" r:id="rId12"/>
    <p:sldLayoutId id="2147483669" r:id="rId13"/>
    <p:sldLayoutId id="2147483670" r:id="rId14"/>
    <p:sldLayoutId id="2147483671" r:id="rId15"/>
    <p:sldLayoutId id="2147483690" r:id="rId1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F27575-5DDD-706F-B940-42F43381EE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078DB49-7FCD-61C7-32DD-E945DB51DA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BAF690F-B320-A85F-6BBF-C8248C092F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AU"/>
              <a:t>Ashwathi Nair</a:t>
            </a:r>
            <a:endParaRPr lang="en-US"/>
          </a:p>
        </p:txBody>
      </p:sp>
      <p:sp>
        <p:nvSpPr>
          <p:cNvPr id="5" name="Footer Placeholder 4">
            <a:extLst>
              <a:ext uri="{FF2B5EF4-FFF2-40B4-BE49-F238E27FC236}">
                <a16:creationId xmlns:a16="http://schemas.microsoft.com/office/drawing/2014/main" id="{9D6F5A22-0A14-C0C4-D3D2-1E58DE595B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Binary Stars in a New Era</a:t>
            </a:r>
          </a:p>
        </p:txBody>
      </p:sp>
      <p:sp>
        <p:nvSpPr>
          <p:cNvPr id="6" name="Slide Number Placeholder 5">
            <a:extLst>
              <a:ext uri="{FF2B5EF4-FFF2-40B4-BE49-F238E27FC236}">
                <a16:creationId xmlns:a16="http://schemas.microsoft.com/office/drawing/2014/main" id="{67A81C26-B74F-44F0-F6E8-FF630B9361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7B2A9F-4DD7-114B-9F95-85EF9E9B3D2F}" type="slidenum">
              <a:rPr lang="en-US" smtClean="0"/>
              <a:t>‹#›</a:t>
            </a:fld>
            <a:endParaRPr lang="en-US"/>
          </a:p>
        </p:txBody>
      </p:sp>
    </p:spTree>
    <p:extLst>
      <p:ext uri="{BB962C8B-B14F-4D97-AF65-F5344CB8AC3E}">
        <p14:creationId xmlns:p14="http://schemas.microsoft.com/office/powerpoint/2010/main" val="84644271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emf"/><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jpg"/><Relationship Id="rId5" Type="http://schemas.openxmlformats.org/officeDocument/2006/relationships/image" Target="../media/image8.jpe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5.xml"/><Relationship Id="rId16" Type="http://schemas.openxmlformats.org/officeDocument/2006/relationships/image" Target="../media/image25.sv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32.pn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9.xml"/><Relationship Id="rId5" Type="http://schemas.openxmlformats.org/officeDocument/2006/relationships/image" Target="../media/image45.pn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19.png"/><Relationship Id="rId7" Type="http://schemas.openxmlformats.org/officeDocument/2006/relationships/image" Target="../media/image450.png"/><Relationship Id="rId2" Type="http://schemas.openxmlformats.org/officeDocument/2006/relationships/notesSlide" Target="../notesSlides/notesSlide18.xml"/><Relationship Id="rId1" Type="http://schemas.openxmlformats.org/officeDocument/2006/relationships/slideLayout" Target="../slideLayouts/slideLayout9.xml"/><Relationship Id="rId6" Type="http://schemas.openxmlformats.org/officeDocument/2006/relationships/image" Target="../media/image26.png"/><Relationship Id="rId11" Type="http://schemas.openxmlformats.org/officeDocument/2006/relationships/image" Target="../media/image49.svg"/><Relationship Id="rId5" Type="http://schemas.openxmlformats.org/officeDocument/2006/relationships/image" Target="../media/image440.png"/><Relationship Id="rId10" Type="http://schemas.openxmlformats.org/officeDocument/2006/relationships/image" Target="../media/image48.png"/><Relationship Id="rId4" Type="http://schemas.openxmlformats.org/officeDocument/2006/relationships/image" Target="../media/image27.png"/><Relationship Id="rId9" Type="http://schemas.openxmlformats.org/officeDocument/2006/relationships/image" Target="../media/image47.svg"/></Relationships>
</file>

<file path=ppt/slides/_rels/slide19.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svg"/><Relationship Id="rId18" Type="http://schemas.openxmlformats.org/officeDocument/2006/relationships/image" Target="../media/image66.jpeg"/><Relationship Id="rId3" Type="http://schemas.openxmlformats.org/officeDocument/2006/relationships/image" Target="../media/image51.svg"/><Relationship Id="rId7" Type="http://schemas.openxmlformats.org/officeDocument/2006/relationships/image" Target="../media/image55.svg"/><Relationship Id="rId12" Type="http://schemas.openxmlformats.org/officeDocument/2006/relationships/image" Target="../media/image60.png"/><Relationship Id="rId17" Type="http://schemas.openxmlformats.org/officeDocument/2006/relationships/image" Target="../media/image65.svg"/><Relationship Id="rId2" Type="http://schemas.openxmlformats.org/officeDocument/2006/relationships/image" Target="../media/image50.png"/><Relationship Id="rId16" Type="http://schemas.openxmlformats.org/officeDocument/2006/relationships/image" Target="../media/image64.png"/><Relationship Id="rId1" Type="http://schemas.openxmlformats.org/officeDocument/2006/relationships/slideLayout" Target="../slideLayouts/slideLayout10.xml"/><Relationship Id="rId6" Type="http://schemas.openxmlformats.org/officeDocument/2006/relationships/image" Target="../media/image54.png"/><Relationship Id="rId11" Type="http://schemas.openxmlformats.org/officeDocument/2006/relationships/image" Target="../media/image59.svg"/><Relationship Id="rId5" Type="http://schemas.openxmlformats.org/officeDocument/2006/relationships/image" Target="../media/image53.svg"/><Relationship Id="rId15" Type="http://schemas.openxmlformats.org/officeDocument/2006/relationships/image" Target="../media/image63.sv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svg"/><Relationship Id="rId14" Type="http://schemas.openxmlformats.org/officeDocument/2006/relationships/image" Target="../media/image6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6.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16.xml"/><Relationship Id="rId4" Type="http://schemas.openxmlformats.org/officeDocument/2006/relationships/image" Target="../media/image7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16.xml"/><Relationship Id="rId5" Type="http://schemas.openxmlformats.org/officeDocument/2006/relationships/image" Target="../media/image69.svg"/><Relationship Id="rId4" Type="http://schemas.openxmlformats.org/officeDocument/2006/relationships/image" Target="../media/image68.png"/></Relationships>
</file>

<file path=ppt/slides/_rels/slide2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9.jpg"/><Relationship Id="rId5" Type="http://schemas.openxmlformats.org/officeDocument/2006/relationships/image" Target="../media/image8.jpeg"/><Relationship Id="rId4" Type="http://schemas.openxmlformats.org/officeDocument/2006/relationships/image" Target="../media/image7.jpe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72.svg"/><Relationship Id="rId2" Type="http://schemas.openxmlformats.org/officeDocument/2006/relationships/notesSlide" Target="../notesSlides/notesSlide25.xml"/><Relationship Id="rId1" Type="http://schemas.openxmlformats.org/officeDocument/2006/relationships/slideLayout" Target="../slideLayouts/slideLayout9.xml"/><Relationship Id="rId6" Type="http://schemas.openxmlformats.org/officeDocument/2006/relationships/image" Target="../media/image71.png"/><Relationship Id="rId5" Type="http://schemas.openxmlformats.org/officeDocument/2006/relationships/image" Target="../media/image21.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green light in space&#10;&#10;Description automatically generated">
            <a:extLst>
              <a:ext uri="{FF2B5EF4-FFF2-40B4-BE49-F238E27FC236}">
                <a16:creationId xmlns:a16="http://schemas.microsoft.com/office/drawing/2014/main" id="{DC43C737-D1EC-867D-8B98-2827151C64F3}"/>
              </a:ext>
            </a:extLst>
          </p:cNvPr>
          <p:cNvPicPr>
            <a:picLocks noGrp="1" noRot="1" noMove="1" noResize="1" noEditPoints="1" noAdjustHandles="1" noChangeArrowheads="1" noChangeShapeType="1" noCrop="1"/>
          </p:cNvPicPr>
          <p:nvPr/>
        </p:nvPicPr>
        <p:blipFill rotWithShape="1">
          <a:blip r:embed="rId3">
            <a:alphaModFix amt="50000"/>
          </a:blip>
          <a:srcRect t="14122"/>
          <a:stretch/>
        </p:blipFill>
        <p:spPr>
          <a:xfrm>
            <a:off x="20" y="0"/>
            <a:ext cx="12191980" cy="6857999"/>
          </a:xfrm>
          <a:prstGeom prst="rect">
            <a:avLst/>
          </a:prstGeom>
        </p:spPr>
      </p:pic>
      <p:sp>
        <p:nvSpPr>
          <p:cNvPr id="5" name="Title 1">
            <a:extLst>
              <a:ext uri="{FF2B5EF4-FFF2-40B4-BE49-F238E27FC236}">
                <a16:creationId xmlns:a16="http://schemas.microsoft.com/office/drawing/2014/main" id="{60391F8F-0D47-4869-98BE-3359E0BB9B68}"/>
              </a:ext>
            </a:extLst>
          </p:cNvPr>
          <p:cNvSpPr txBox="1">
            <a:spLocks/>
          </p:cNvSpPr>
          <p:nvPr/>
        </p:nvSpPr>
        <p:spPr>
          <a:xfrm>
            <a:off x="1524000" y="244724"/>
            <a:ext cx="9144000" cy="29005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dirty="0">
                <a:solidFill>
                  <a:srgbClr val="FFFFFF"/>
                </a:solidFill>
                <a:latin typeface="Seaford Display" pitchFamily="2" charset="0"/>
              </a:rPr>
              <a:t>Investigating the Formation of Heavy Double Neutron Stars</a:t>
            </a:r>
          </a:p>
        </p:txBody>
      </p:sp>
      <p:sp>
        <p:nvSpPr>
          <p:cNvPr id="6" name="Subtitle 2">
            <a:extLst>
              <a:ext uri="{FF2B5EF4-FFF2-40B4-BE49-F238E27FC236}">
                <a16:creationId xmlns:a16="http://schemas.microsoft.com/office/drawing/2014/main" id="{89668028-580B-B2F2-D41F-BF7DB748EFFD}"/>
              </a:ext>
            </a:extLst>
          </p:cNvPr>
          <p:cNvSpPr txBox="1">
            <a:spLocks/>
          </p:cNvSpPr>
          <p:nvPr/>
        </p:nvSpPr>
        <p:spPr>
          <a:xfrm>
            <a:off x="1523987" y="2686415"/>
            <a:ext cx="9144000" cy="109839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rgbClr val="FFFFFF"/>
                </a:solidFill>
                <a:latin typeface="Seaford Display" pitchFamily="2" charset="0"/>
              </a:rPr>
              <a:t>Ashwathi Nair</a:t>
            </a:r>
          </a:p>
          <a:p>
            <a:pPr marL="0" indent="0" algn="ctr">
              <a:buNone/>
            </a:pPr>
            <a:r>
              <a:rPr lang="en-US" dirty="0">
                <a:solidFill>
                  <a:srgbClr val="FFFFFF"/>
                </a:solidFill>
                <a:latin typeface="Seaford Display" pitchFamily="2" charset="0"/>
              </a:rPr>
              <a:t>(PhD Candidate)</a:t>
            </a:r>
          </a:p>
          <a:p>
            <a:pPr algn="ctr"/>
            <a:endParaRPr lang="en-US" dirty="0">
              <a:solidFill>
                <a:srgbClr val="FFFFFF"/>
              </a:solidFill>
              <a:latin typeface="Seaford Display" pitchFamily="2" charset="0"/>
            </a:endParaRPr>
          </a:p>
          <a:p>
            <a:pPr algn="ctr"/>
            <a:endParaRPr lang="en-US" dirty="0">
              <a:solidFill>
                <a:srgbClr val="FFFFFF"/>
              </a:solidFill>
              <a:latin typeface="Seaford Display" pitchFamily="2" charset="0"/>
            </a:endParaRPr>
          </a:p>
        </p:txBody>
      </p:sp>
      <p:sp>
        <p:nvSpPr>
          <p:cNvPr id="7" name="TextBox 6">
            <a:extLst>
              <a:ext uri="{FF2B5EF4-FFF2-40B4-BE49-F238E27FC236}">
                <a16:creationId xmlns:a16="http://schemas.microsoft.com/office/drawing/2014/main" id="{2860480D-067B-6586-952E-8CE75DAD8705}"/>
              </a:ext>
            </a:extLst>
          </p:cNvPr>
          <p:cNvSpPr txBox="1"/>
          <p:nvPr/>
        </p:nvSpPr>
        <p:spPr>
          <a:xfrm>
            <a:off x="1868543" y="3708332"/>
            <a:ext cx="8454887" cy="830997"/>
          </a:xfrm>
          <a:prstGeom prst="rect">
            <a:avLst/>
          </a:prstGeom>
          <a:noFill/>
        </p:spPr>
        <p:txBody>
          <a:bodyPr wrap="square" rtlCol="0">
            <a:spAutoFit/>
          </a:bodyPr>
          <a:lstStyle/>
          <a:p>
            <a:pPr algn="ctr"/>
            <a:r>
              <a:rPr lang="en-US" sz="2400" dirty="0">
                <a:latin typeface="Seaford Display" pitchFamily="2" charset="0"/>
              </a:rPr>
              <a:t>Primary Supervisor : Dr. Simon Stevenson</a:t>
            </a:r>
          </a:p>
          <a:p>
            <a:pPr algn="ctr"/>
            <a:r>
              <a:rPr lang="en-US" sz="2400" dirty="0">
                <a:latin typeface="Seaford Display" pitchFamily="2" charset="0"/>
              </a:rPr>
              <a:t>Secondary Supervisor : Prof. Jarrod Hurley</a:t>
            </a:r>
          </a:p>
        </p:txBody>
      </p:sp>
      <p:grpSp>
        <p:nvGrpSpPr>
          <p:cNvPr id="12" name="Group 11">
            <a:extLst>
              <a:ext uri="{FF2B5EF4-FFF2-40B4-BE49-F238E27FC236}">
                <a16:creationId xmlns:a16="http://schemas.microsoft.com/office/drawing/2014/main" id="{78F5FE8F-BEAC-21CD-0322-35731331AD11}"/>
              </a:ext>
            </a:extLst>
          </p:cNvPr>
          <p:cNvGrpSpPr/>
          <p:nvPr/>
        </p:nvGrpSpPr>
        <p:grpSpPr>
          <a:xfrm>
            <a:off x="449470" y="5445356"/>
            <a:ext cx="3124934" cy="962469"/>
            <a:chOff x="159027" y="5583508"/>
            <a:chExt cx="3124934" cy="962469"/>
          </a:xfrm>
        </p:grpSpPr>
        <p:pic>
          <p:nvPicPr>
            <p:cNvPr id="8" name="Picture 7" descr="A logo with text and blue and orange lines&#10;&#10;Description automatically generated">
              <a:extLst>
                <a:ext uri="{FF2B5EF4-FFF2-40B4-BE49-F238E27FC236}">
                  <a16:creationId xmlns:a16="http://schemas.microsoft.com/office/drawing/2014/main" id="{9B411BE1-E59D-3FCB-281E-9989BF176A72}"/>
                </a:ext>
              </a:extLst>
            </p:cNvPr>
            <p:cNvPicPr>
              <a:picLocks noChangeAspect="1"/>
            </p:cNvPicPr>
            <p:nvPr/>
          </p:nvPicPr>
          <p:blipFill>
            <a:blip r:embed="rId4"/>
            <a:stretch>
              <a:fillRect/>
            </a:stretch>
          </p:blipFill>
          <p:spPr>
            <a:xfrm>
              <a:off x="159027" y="5583509"/>
              <a:ext cx="1630016" cy="962468"/>
            </a:xfrm>
            <a:prstGeom prst="rect">
              <a:avLst/>
            </a:prstGeom>
          </p:spPr>
        </p:pic>
        <p:pic>
          <p:nvPicPr>
            <p:cNvPr id="9" name="Picture 8">
              <a:extLst>
                <a:ext uri="{FF2B5EF4-FFF2-40B4-BE49-F238E27FC236}">
                  <a16:creationId xmlns:a16="http://schemas.microsoft.com/office/drawing/2014/main" id="{A7C17A2C-8085-D146-96A3-CEC1010966A0}"/>
                </a:ext>
              </a:extLst>
            </p:cNvPr>
            <p:cNvPicPr>
              <a:picLocks noChangeAspect="1"/>
            </p:cNvPicPr>
            <p:nvPr/>
          </p:nvPicPr>
          <p:blipFill>
            <a:blip r:embed="rId5"/>
            <a:stretch>
              <a:fillRect/>
            </a:stretch>
          </p:blipFill>
          <p:spPr>
            <a:xfrm>
              <a:off x="974035" y="5583508"/>
              <a:ext cx="2309926" cy="962469"/>
            </a:xfrm>
            <a:prstGeom prst="rect">
              <a:avLst/>
            </a:prstGeom>
          </p:spPr>
        </p:pic>
      </p:grpSp>
      <p:pic>
        <p:nvPicPr>
          <p:cNvPr id="10" name="Picture 9">
            <a:extLst>
              <a:ext uri="{FF2B5EF4-FFF2-40B4-BE49-F238E27FC236}">
                <a16:creationId xmlns:a16="http://schemas.microsoft.com/office/drawing/2014/main" id="{4072C861-B1ED-FBDE-419F-FC27CE9F47CF}"/>
              </a:ext>
            </a:extLst>
          </p:cNvPr>
          <p:cNvPicPr>
            <a:picLocks noChangeAspect="1"/>
          </p:cNvPicPr>
          <p:nvPr/>
        </p:nvPicPr>
        <p:blipFill>
          <a:blip r:embed="rId6"/>
          <a:stretch>
            <a:fillRect/>
          </a:stretch>
        </p:blipFill>
        <p:spPr>
          <a:xfrm>
            <a:off x="8745330" y="5522774"/>
            <a:ext cx="2997200" cy="927100"/>
          </a:xfrm>
          <a:prstGeom prst="rect">
            <a:avLst/>
          </a:prstGeom>
        </p:spPr>
      </p:pic>
      <p:sp>
        <p:nvSpPr>
          <p:cNvPr id="2" name="TextBox 1">
            <a:extLst>
              <a:ext uri="{FF2B5EF4-FFF2-40B4-BE49-F238E27FC236}">
                <a16:creationId xmlns:a16="http://schemas.microsoft.com/office/drawing/2014/main" id="{9A7A810A-36EC-C56B-D3C3-ABEA04526E1F}"/>
              </a:ext>
            </a:extLst>
          </p:cNvPr>
          <p:cNvSpPr txBox="1"/>
          <p:nvPr/>
        </p:nvSpPr>
        <p:spPr>
          <a:xfrm>
            <a:off x="4212771" y="5618877"/>
            <a:ext cx="4131129" cy="830997"/>
          </a:xfrm>
          <a:prstGeom prst="rect">
            <a:avLst/>
          </a:prstGeom>
          <a:noFill/>
        </p:spPr>
        <p:txBody>
          <a:bodyPr wrap="square" rtlCol="0">
            <a:spAutoFit/>
          </a:bodyPr>
          <a:lstStyle/>
          <a:p>
            <a:pPr algn="ctr"/>
            <a:r>
              <a:rPr lang="en-US" sz="2400" dirty="0">
                <a:latin typeface="Seaford Display" pitchFamily="2" charset="0"/>
              </a:rPr>
              <a:t>Binary Stars in a New Era</a:t>
            </a:r>
          </a:p>
          <a:p>
            <a:pPr algn="ctr"/>
            <a:r>
              <a:rPr lang="en-US" sz="2400" dirty="0">
                <a:latin typeface="Seaford Display" pitchFamily="2" charset="0"/>
              </a:rPr>
              <a:t>2025</a:t>
            </a:r>
          </a:p>
        </p:txBody>
      </p:sp>
    </p:spTree>
    <p:extLst>
      <p:ext uri="{BB962C8B-B14F-4D97-AF65-F5344CB8AC3E}">
        <p14:creationId xmlns:p14="http://schemas.microsoft.com/office/powerpoint/2010/main" val="2068580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1294A3B-1840-B47C-7E3D-9FAAB430580A}"/>
              </a:ext>
            </a:extLst>
          </p:cNvPr>
          <p:cNvSpPr>
            <a:spLocks noGrp="1"/>
          </p:cNvSpPr>
          <p:nvPr>
            <p:ph type="dt" sz="half" idx="10"/>
          </p:nvPr>
        </p:nvSpPr>
        <p:spPr/>
        <p:txBody>
          <a:bodyPr/>
          <a:lstStyle/>
          <a:p>
            <a:r>
              <a:rPr lang="en-AU"/>
              <a:t>Ashwathi Nair</a:t>
            </a:r>
            <a:endParaRPr lang="en-US"/>
          </a:p>
        </p:txBody>
      </p:sp>
      <p:sp>
        <p:nvSpPr>
          <p:cNvPr id="5" name="Footer Placeholder 4">
            <a:extLst>
              <a:ext uri="{FF2B5EF4-FFF2-40B4-BE49-F238E27FC236}">
                <a16:creationId xmlns:a16="http://schemas.microsoft.com/office/drawing/2014/main" id="{25A08B09-245F-A01A-99EE-8D4015E9009F}"/>
              </a:ext>
            </a:extLst>
          </p:cNvPr>
          <p:cNvSpPr>
            <a:spLocks noGrp="1"/>
          </p:cNvSpPr>
          <p:nvPr>
            <p:ph type="ftr" sz="quarter" idx="11"/>
          </p:nvPr>
        </p:nvSpPr>
        <p:spPr/>
        <p:txBody>
          <a:bodyPr/>
          <a:lstStyle/>
          <a:p>
            <a:r>
              <a:rPr lang="en-US"/>
              <a:t>Binary Stars in a New Era</a:t>
            </a:r>
            <a:endParaRPr lang="en-US" dirty="0"/>
          </a:p>
        </p:txBody>
      </p:sp>
      <p:sp>
        <p:nvSpPr>
          <p:cNvPr id="7" name="TextBox 6">
            <a:extLst>
              <a:ext uri="{FF2B5EF4-FFF2-40B4-BE49-F238E27FC236}">
                <a16:creationId xmlns:a16="http://schemas.microsoft.com/office/drawing/2014/main" id="{086B592F-FACB-C9F2-6F98-33C7FE4153A5}"/>
              </a:ext>
            </a:extLst>
          </p:cNvPr>
          <p:cNvSpPr txBox="1"/>
          <p:nvPr/>
        </p:nvSpPr>
        <p:spPr>
          <a:xfrm>
            <a:off x="2272901" y="1067877"/>
            <a:ext cx="7736670" cy="461665"/>
          </a:xfrm>
          <a:prstGeom prst="rect">
            <a:avLst/>
          </a:prstGeom>
          <a:noFill/>
        </p:spPr>
        <p:txBody>
          <a:bodyPr wrap="square">
            <a:spAutoFit/>
          </a:bodyPr>
          <a:lstStyle/>
          <a:p>
            <a:pPr algn="ctr"/>
            <a:r>
              <a:rPr lang="en-US" sz="2400" b="1" dirty="0">
                <a:solidFill>
                  <a:srgbClr val="C1BAFE"/>
                </a:solidFill>
                <a:latin typeface="Seaford Display" pitchFamily="2" charset="0"/>
              </a:rPr>
              <a:t>Discovering the Origins of Gravitational-Wave Sources</a:t>
            </a:r>
          </a:p>
        </p:txBody>
      </p:sp>
      <p:pic>
        <p:nvPicPr>
          <p:cNvPr id="8" name="Picture 7" descr="A screenshot of a calendar&#10;&#10;AI-generated content may be incorrect.">
            <a:extLst>
              <a:ext uri="{FF2B5EF4-FFF2-40B4-BE49-F238E27FC236}">
                <a16:creationId xmlns:a16="http://schemas.microsoft.com/office/drawing/2014/main" id="{AA152E32-EA82-29A9-2C2C-B264E85AD77E}"/>
              </a:ext>
            </a:extLst>
          </p:cNvPr>
          <p:cNvPicPr>
            <a:picLocks noChangeAspect="1"/>
          </p:cNvPicPr>
          <p:nvPr/>
        </p:nvPicPr>
        <p:blipFill>
          <a:blip r:embed="rId3"/>
          <a:stretch>
            <a:fillRect/>
          </a:stretch>
        </p:blipFill>
        <p:spPr>
          <a:xfrm>
            <a:off x="2432836" y="2128058"/>
            <a:ext cx="7416800" cy="3200400"/>
          </a:xfrm>
          <a:prstGeom prst="rect">
            <a:avLst/>
          </a:prstGeom>
        </p:spPr>
      </p:pic>
      <p:sp>
        <p:nvSpPr>
          <p:cNvPr id="9" name="Slide Number Placeholder 8">
            <a:extLst>
              <a:ext uri="{FF2B5EF4-FFF2-40B4-BE49-F238E27FC236}">
                <a16:creationId xmlns:a16="http://schemas.microsoft.com/office/drawing/2014/main" id="{AC6428B5-C642-FC86-0C30-5435641E4375}"/>
              </a:ext>
            </a:extLst>
          </p:cNvPr>
          <p:cNvSpPr>
            <a:spLocks noGrp="1"/>
          </p:cNvSpPr>
          <p:nvPr>
            <p:ph type="sldNum" sz="quarter" idx="12"/>
          </p:nvPr>
        </p:nvSpPr>
        <p:spPr/>
        <p:txBody>
          <a:bodyPr/>
          <a:lstStyle/>
          <a:p>
            <a:fld id="{CE0A201B-ED89-3E49-8333-B23E6243976D}" type="slidenum">
              <a:rPr lang="en-US" smtClean="0"/>
              <a:t>2</a:t>
            </a:fld>
            <a:endParaRPr lang="en-US"/>
          </a:p>
        </p:txBody>
      </p:sp>
    </p:spTree>
    <p:extLst>
      <p:ext uri="{BB962C8B-B14F-4D97-AF65-F5344CB8AC3E}">
        <p14:creationId xmlns:p14="http://schemas.microsoft.com/office/powerpoint/2010/main" val="3194475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2A99E-8B8D-4880-64A7-815D4730339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1D3AC11-AB52-0B57-830D-4C70691DD9B5}"/>
              </a:ext>
            </a:extLst>
          </p:cNvPr>
          <p:cNvSpPr>
            <a:spLocks noGrp="1"/>
          </p:cNvSpPr>
          <p:nvPr>
            <p:ph type="dt" sz="half" idx="10"/>
          </p:nvPr>
        </p:nvSpPr>
        <p:spPr/>
        <p:txBody>
          <a:bodyPr/>
          <a:lstStyle/>
          <a:p>
            <a:r>
              <a:rPr lang="en-AU"/>
              <a:t>Ashwathi Nair</a:t>
            </a:r>
            <a:endParaRPr lang="en-US"/>
          </a:p>
        </p:txBody>
      </p:sp>
      <p:sp>
        <p:nvSpPr>
          <p:cNvPr id="5" name="Footer Placeholder 4">
            <a:extLst>
              <a:ext uri="{FF2B5EF4-FFF2-40B4-BE49-F238E27FC236}">
                <a16:creationId xmlns:a16="http://schemas.microsoft.com/office/drawing/2014/main" id="{8AC5FACD-BFE6-30CA-E312-1F2559B981DC}"/>
              </a:ext>
            </a:extLst>
          </p:cNvPr>
          <p:cNvSpPr>
            <a:spLocks noGrp="1"/>
          </p:cNvSpPr>
          <p:nvPr>
            <p:ph type="ftr" sz="quarter" idx="11"/>
          </p:nvPr>
        </p:nvSpPr>
        <p:spPr/>
        <p:txBody>
          <a:bodyPr/>
          <a:lstStyle/>
          <a:p>
            <a:r>
              <a:rPr lang="en-US"/>
              <a:t>Binary Stars in a New Era</a:t>
            </a:r>
          </a:p>
        </p:txBody>
      </p:sp>
      <p:sp>
        <p:nvSpPr>
          <p:cNvPr id="2" name="TextBox 1">
            <a:extLst>
              <a:ext uri="{FF2B5EF4-FFF2-40B4-BE49-F238E27FC236}">
                <a16:creationId xmlns:a16="http://schemas.microsoft.com/office/drawing/2014/main" id="{E544F8FE-654E-4BED-F77E-798CE5342954}"/>
              </a:ext>
            </a:extLst>
          </p:cNvPr>
          <p:cNvSpPr txBox="1"/>
          <p:nvPr/>
        </p:nvSpPr>
        <p:spPr>
          <a:xfrm>
            <a:off x="1683026" y="560586"/>
            <a:ext cx="8825948" cy="461665"/>
          </a:xfrm>
          <a:prstGeom prst="rect">
            <a:avLst/>
          </a:prstGeom>
          <a:noFill/>
        </p:spPr>
        <p:txBody>
          <a:bodyPr wrap="square" rtlCol="0">
            <a:spAutoFit/>
          </a:bodyPr>
          <a:lstStyle/>
          <a:p>
            <a:pPr algn="ctr"/>
            <a:r>
              <a:rPr lang="en-US" sz="2400" b="1" dirty="0">
                <a:solidFill>
                  <a:srgbClr val="C1BAFE"/>
                </a:solidFill>
                <a:latin typeface="Seaford Display" pitchFamily="2" charset="0"/>
              </a:rPr>
              <a:t>Why care about double neutron stars?</a:t>
            </a:r>
          </a:p>
        </p:txBody>
      </p:sp>
      <p:pic>
        <p:nvPicPr>
          <p:cNvPr id="3" name="Picture 2" descr="A comet in space with bright lights&#10;&#10;AI-generated content may be incorrect.">
            <a:extLst>
              <a:ext uri="{FF2B5EF4-FFF2-40B4-BE49-F238E27FC236}">
                <a16:creationId xmlns:a16="http://schemas.microsoft.com/office/drawing/2014/main" id="{6E3FB517-7314-5DF5-D06F-2A4BDBA95C5D}"/>
              </a:ext>
            </a:extLst>
          </p:cNvPr>
          <p:cNvPicPr>
            <a:picLocks noChangeAspect="1"/>
          </p:cNvPicPr>
          <p:nvPr/>
        </p:nvPicPr>
        <p:blipFill>
          <a:blip r:embed="rId3">
            <a:alphaModFix amt="64000"/>
          </a:blip>
          <a:stretch>
            <a:fillRect/>
          </a:stretch>
        </p:blipFill>
        <p:spPr>
          <a:xfrm>
            <a:off x="1396795" y="3579571"/>
            <a:ext cx="4699204" cy="2776779"/>
          </a:xfrm>
          <a:prstGeom prst="rect">
            <a:avLst/>
          </a:prstGeom>
        </p:spPr>
      </p:pic>
      <p:pic>
        <p:nvPicPr>
          <p:cNvPr id="6" name="Picture 5" descr="A blue and yellow light in space&#10;&#10;AI-generated content may be incorrect.">
            <a:extLst>
              <a:ext uri="{FF2B5EF4-FFF2-40B4-BE49-F238E27FC236}">
                <a16:creationId xmlns:a16="http://schemas.microsoft.com/office/drawing/2014/main" id="{23F6DA64-2F50-8736-75BF-F33613421E9E}"/>
              </a:ext>
            </a:extLst>
          </p:cNvPr>
          <p:cNvPicPr>
            <a:picLocks noChangeAspect="1"/>
          </p:cNvPicPr>
          <p:nvPr/>
        </p:nvPicPr>
        <p:blipFill>
          <a:blip r:embed="rId4">
            <a:alphaModFix amt="58000"/>
          </a:blip>
          <a:stretch>
            <a:fillRect/>
          </a:stretch>
        </p:blipFill>
        <p:spPr>
          <a:xfrm>
            <a:off x="6169463" y="1200990"/>
            <a:ext cx="4604274" cy="2465992"/>
          </a:xfrm>
          <a:prstGeom prst="rect">
            <a:avLst/>
          </a:prstGeom>
        </p:spPr>
      </p:pic>
      <p:pic>
        <p:nvPicPr>
          <p:cNvPr id="7" name="Picture 6" descr="credit: ESO">
            <a:extLst>
              <a:ext uri="{FF2B5EF4-FFF2-40B4-BE49-F238E27FC236}">
                <a16:creationId xmlns:a16="http://schemas.microsoft.com/office/drawing/2014/main" id="{24586D0D-A550-D580-47B3-FDBC81EC2C09}"/>
              </a:ext>
            </a:extLst>
          </p:cNvPr>
          <p:cNvPicPr>
            <a:picLocks noChangeAspect="1"/>
          </p:cNvPicPr>
          <p:nvPr/>
        </p:nvPicPr>
        <p:blipFill>
          <a:blip r:embed="rId5">
            <a:alphaModFix amt="59000"/>
          </a:blip>
          <a:stretch>
            <a:fillRect/>
          </a:stretch>
        </p:blipFill>
        <p:spPr>
          <a:xfrm>
            <a:off x="1396797" y="1173467"/>
            <a:ext cx="4699204" cy="2538152"/>
          </a:xfrm>
          <a:prstGeom prst="rect">
            <a:avLst/>
          </a:prstGeom>
          <a:effectLst>
            <a:softEdge rad="0"/>
          </a:effectLst>
        </p:spPr>
      </p:pic>
      <p:pic>
        <p:nvPicPr>
          <p:cNvPr id="8" name="Picture 7" descr="A close-up of a galaxy&#10;&#10;AI-generated content may be incorrect.">
            <a:extLst>
              <a:ext uri="{FF2B5EF4-FFF2-40B4-BE49-F238E27FC236}">
                <a16:creationId xmlns:a16="http://schemas.microsoft.com/office/drawing/2014/main" id="{4428CD6D-236E-30A3-5D8B-6B8E1A5DB0AE}"/>
              </a:ext>
            </a:extLst>
          </p:cNvPr>
          <p:cNvPicPr>
            <a:picLocks noChangeAspect="1"/>
          </p:cNvPicPr>
          <p:nvPr/>
        </p:nvPicPr>
        <p:blipFill>
          <a:blip r:embed="rId6">
            <a:alphaModFix amt="66000"/>
          </a:blip>
          <a:stretch>
            <a:fillRect/>
          </a:stretch>
        </p:blipFill>
        <p:spPr>
          <a:xfrm>
            <a:off x="6095999" y="3711619"/>
            <a:ext cx="4677738" cy="2644732"/>
          </a:xfrm>
          <a:prstGeom prst="rect">
            <a:avLst/>
          </a:prstGeom>
        </p:spPr>
      </p:pic>
      <p:sp>
        <p:nvSpPr>
          <p:cNvPr id="9" name="TextBox 8">
            <a:extLst>
              <a:ext uri="{FF2B5EF4-FFF2-40B4-BE49-F238E27FC236}">
                <a16:creationId xmlns:a16="http://schemas.microsoft.com/office/drawing/2014/main" id="{A4BB6865-9350-FDC2-87F7-8A1A8CE47F2F}"/>
              </a:ext>
            </a:extLst>
          </p:cNvPr>
          <p:cNvSpPr txBox="1"/>
          <p:nvPr/>
        </p:nvSpPr>
        <p:spPr>
          <a:xfrm>
            <a:off x="7187069" y="1173467"/>
            <a:ext cx="2847061" cy="400110"/>
          </a:xfrm>
          <a:prstGeom prst="rect">
            <a:avLst/>
          </a:prstGeom>
          <a:noFill/>
        </p:spPr>
        <p:txBody>
          <a:bodyPr wrap="none" rtlCol="0">
            <a:spAutoFit/>
          </a:bodyPr>
          <a:lstStyle/>
          <a:p>
            <a:pPr algn="ctr"/>
            <a:r>
              <a:rPr lang="en-US" sz="2000" b="1" dirty="0">
                <a:latin typeface="Seaford Display" pitchFamily="2" charset="0"/>
              </a:rPr>
              <a:t>Gamma ray bursts (GRB)</a:t>
            </a:r>
          </a:p>
        </p:txBody>
      </p:sp>
      <p:sp>
        <p:nvSpPr>
          <p:cNvPr id="10" name="TextBox 9">
            <a:extLst>
              <a:ext uri="{FF2B5EF4-FFF2-40B4-BE49-F238E27FC236}">
                <a16:creationId xmlns:a16="http://schemas.microsoft.com/office/drawing/2014/main" id="{4A182ACD-1EFA-7DA5-8CFF-9C9AF29F1FBC}"/>
              </a:ext>
            </a:extLst>
          </p:cNvPr>
          <p:cNvSpPr txBox="1"/>
          <p:nvPr/>
        </p:nvSpPr>
        <p:spPr>
          <a:xfrm>
            <a:off x="989309" y="1116253"/>
            <a:ext cx="6098582" cy="400110"/>
          </a:xfrm>
          <a:prstGeom prst="rect">
            <a:avLst/>
          </a:prstGeom>
          <a:noFill/>
        </p:spPr>
        <p:txBody>
          <a:bodyPr wrap="square">
            <a:spAutoFit/>
          </a:bodyPr>
          <a:lstStyle/>
          <a:p>
            <a:pPr algn="ctr"/>
            <a:r>
              <a:rPr lang="en-US" sz="2000" b="1" dirty="0">
                <a:latin typeface="Seaford Display" pitchFamily="2" charset="0"/>
              </a:rPr>
              <a:t>Supernova explosions (SNe)</a:t>
            </a:r>
          </a:p>
        </p:txBody>
      </p:sp>
      <p:sp>
        <p:nvSpPr>
          <p:cNvPr id="11" name="TextBox 10">
            <a:extLst>
              <a:ext uri="{FF2B5EF4-FFF2-40B4-BE49-F238E27FC236}">
                <a16:creationId xmlns:a16="http://schemas.microsoft.com/office/drawing/2014/main" id="{F6FC9620-031E-A1F0-A16C-806D3C884202}"/>
              </a:ext>
            </a:extLst>
          </p:cNvPr>
          <p:cNvSpPr txBox="1"/>
          <p:nvPr/>
        </p:nvSpPr>
        <p:spPr>
          <a:xfrm>
            <a:off x="6375812" y="5853810"/>
            <a:ext cx="4315733" cy="400110"/>
          </a:xfrm>
          <a:prstGeom prst="rect">
            <a:avLst/>
          </a:prstGeom>
          <a:noFill/>
        </p:spPr>
        <p:txBody>
          <a:bodyPr wrap="none" rtlCol="0">
            <a:spAutoFit/>
          </a:bodyPr>
          <a:lstStyle/>
          <a:p>
            <a:pPr algn="ctr"/>
            <a:r>
              <a:rPr lang="en-US" sz="2000" b="1" dirty="0">
                <a:latin typeface="Seaford Display" pitchFamily="2" charset="0"/>
              </a:rPr>
              <a:t>Formation of heavy r-process elements</a:t>
            </a:r>
          </a:p>
        </p:txBody>
      </p:sp>
      <p:sp>
        <p:nvSpPr>
          <p:cNvPr id="12" name="TextBox 11">
            <a:extLst>
              <a:ext uri="{FF2B5EF4-FFF2-40B4-BE49-F238E27FC236}">
                <a16:creationId xmlns:a16="http://schemas.microsoft.com/office/drawing/2014/main" id="{D51ECAA9-6681-0BC5-7FCC-FAD34ED21168}"/>
              </a:ext>
            </a:extLst>
          </p:cNvPr>
          <p:cNvSpPr txBox="1"/>
          <p:nvPr/>
        </p:nvSpPr>
        <p:spPr>
          <a:xfrm>
            <a:off x="3046708" y="3466927"/>
            <a:ext cx="6098582" cy="400110"/>
          </a:xfrm>
          <a:prstGeom prst="rect">
            <a:avLst/>
          </a:prstGeom>
          <a:noFill/>
        </p:spPr>
        <p:txBody>
          <a:bodyPr wrap="square">
            <a:spAutoFit/>
          </a:bodyPr>
          <a:lstStyle/>
          <a:p>
            <a:pPr algn="ctr"/>
            <a:r>
              <a:rPr lang="en-US" sz="2000" b="1" dirty="0">
                <a:latin typeface="Seaford Display" pitchFamily="2" charset="0"/>
              </a:rPr>
              <a:t>Binary stellar evolution</a:t>
            </a:r>
          </a:p>
        </p:txBody>
      </p:sp>
      <p:sp>
        <p:nvSpPr>
          <p:cNvPr id="13" name="Slide Number Placeholder 12">
            <a:extLst>
              <a:ext uri="{FF2B5EF4-FFF2-40B4-BE49-F238E27FC236}">
                <a16:creationId xmlns:a16="http://schemas.microsoft.com/office/drawing/2014/main" id="{EF725807-62B3-BB9F-122B-B64C09C6B2DE}"/>
              </a:ext>
            </a:extLst>
          </p:cNvPr>
          <p:cNvSpPr>
            <a:spLocks noGrp="1"/>
          </p:cNvSpPr>
          <p:nvPr>
            <p:ph type="sldNum" sz="quarter" idx="12"/>
          </p:nvPr>
        </p:nvSpPr>
        <p:spPr/>
        <p:txBody>
          <a:bodyPr/>
          <a:lstStyle/>
          <a:p>
            <a:fld id="{CE0A201B-ED89-3E49-8333-B23E6243976D}" type="slidenum">
              <a:rPr lang="en-US" smtClean="0"/>
              <a:t>3</a:t>
            </a:fld>
            <a:endParaRPr lang="en-US"/>
          </a:p>
        </p:txBody>
      </p:sp>
      <p:sp>
        <p:nvSpPr>
          <p:cNvPr id="14" name="TextBox 13">
            <a:extLst>
              <a:ext uri="{FF2B5EF4-FFF2-40B4-BE49-F238E27FC236}">
                <a16:creationId xmlns:a16="http://schemas.microsoft.com/office/drawing/2014/main" id="{8305B515-1CD8-B8BB-EE25-C27615A072B4}"/>
              </a:ext>
            </a:extLst>
          </p:cNvPr>
          <p:cNvSpPr txBox="1"/>
          <p:nvPr/>
        </p:nvSpPr>
        <p:spPr>
          <a:xfrm>
            <a:off x="3009384" y="5853810"/>
            <a:ext cx="1144031" cy="369332"/>
          </a:xfrm>
          <a:prstGeom prst="rect">
            <a:avLst/>
          </a:prstGeom>
          <a:noFill/>
        </p:spPr>
        <p:txBody>
          <a:bodyPr wrap="none" rtlCol="0">
            <a:spAutoFit/>
          </a:bodyPr>
          <a:lstStyle/>
          <a:p>
            <a:pPr algn="ctr"/>
            <a:r>
              <a:rPr lang="en-US" b="1" dirty="0" err="1">
                <a:latin typeface="Seaford Display" pitchFamily="2" charset="0"/>
              </a:rPr>
              <a:t>Kilonovae</a:t>
            </a:r>
            <a:endParaRPr lang="en-US" dirty="0"/>
          </a:p>
        </p:txBody>
      </p:sp>
    </p:spTree>
    <p:extLst>
      <p:ext uri="{BB962C8B-B14F-4D97-AF65-F5344CB8AC3E}">
        <p14:creationId xmlns:p14="http://schemas.microsoft.com/office/powerpoint/2010/main" val="4114146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2217F-F047-A149-61B1-E260FEEC434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8FFAA2C-10B8-FAF0-6A7A-13301D0F5F25}"/>
              </a:ext>
            </a:extLst>
          </p:cNvPr>
          <p:cNvSpPr>
            <a:spLocks noGrp="1"/>
          </p:cNvSpPr>
          <p:nvPr>
            <p:ph type="dt" sz="half" idx="10"/>
          </p:nvPr>
        </p:nvSpPr>
        <p:spPr/>
        <p:txBody>
          <a:bodyPr/>
          <a:lstStyle/>
          <a:p>
            <a:r>
              <a:rPr lang="en-AU"/>
              <a:t>Ashwathi Nair</a:t>
            </a:r>
            <a:endParaRPr lang="en-US"/>
          </a:p>
        </p:txBody>
      </p:sp>
      <p:sp>
        <p:nvSpPr>
          <p:cNvPr id="5" name="Footer Placeholder 4">
            <a:extLst>
              <a:ext uri="{FF2B5EF4-FFF2-40B4-BE49-F238E27FC236}">
                <a16:creationId xmlns:a16="http://schemas.microsoft.com/office/drawing/2014/main" id="{FB6AAD66-18E4-26E2-BEEE-42DA667DE57F}"/>
              </a:ext>
            </a:extLst>
          </p:cNvPr>
          <p:cNvSpPr>
            <a:spLocks noGrp="1"/>
          </p:cNvSpPr>
          <p:nvPr>
            <p:ph type="ftr" sz="quarter" idx="11"/>
          </p:nvPr>
        </p:nvSpPr>
        <p:spPr/>
        <p:txBody>
          <a:bodyPr/>
          <a:lstStyle/>
          <a:p>
            <a:r>
              <a:rPr lang="en-US"/>
              <a:t>Binary Stars in a New Era</a:t>
            </a:r>
            <a:endParaRPr lang="en-US"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60C2199-BB3D-A1AD-5C45-5595E0082171}"/>
                  </a:ext>
                </a:extLst>
              </p:cNvPr>
              <p:cNvSpPr txBox="1"/>
              <p:nvPr/>
            </p:nvSpPr>
            <p:spPr>
              <a:xfrm>
                <a:off x="190228" y="585722"/>
                <a:ext cx="6151841" cy="6017545"/>
              </a:xfrm>
              <a:prstGeom prst="rect">
                <a:avLst/>
              </a:prstGeom>
              <a:noFill/>
            </p:spPr>
            <p:txBody>
              <a:bodyPr wrap="square" rtlCol="0">
                <a:spAutoFit/>
              </a:bodyPr>
              <a:lstStyle/>
              <a:p>
                <a:r>
                  <a:rPr lang="en-US" sz="2400" b="1" dirty="0">
                    <a:latin typeface="Seaford Display" pitchFamily="2" charset="0"/>
                  </a:rPr>
                  <a:t>What do we know about Double Neutron Star (DNS) systems so far ? </a:t>
                </a:r>
              </a:p>
              <a:p>
                <a:endParaRPr lang="en-US" sz="2400" b="1" dirty="0">
                  <a:latin typeface="Seaford Display" pitchFamily="2" charset="0"/>
                </a:endParaRPr>
              </a:p>
              <a:p>
                <a:r>
                  <a:rPr lang="en-US" sz="2000" dirty="0">
                    <a:latin typeface="Seaford Display" pitchFamily="2" charset="0"/>
                  </a:rPr>
                  <a:t>Detected by radio telescopes and gravitational-wave detectors</a:t>
                </a:r>
              </a:p>
              <a:p>
                <a:endParaRPr lang="en-US" dirty="0">
                  <a:latin typeface="Seaford Display" pitchFamily="2" charset="0"/>
                </a:endParaRPr>
              </a:p>
              <a:p>
                <a:r>
                  <a:rPr lang="en-US" sz="2000" b="1" dirty="0">
                    <a:latin typeface="Seaford Display" pitchFamily="2" charset="0"/>
                  </a:rPr>
                  <a:t>Radio Timing</a:t>
                </a:r>
              </a:p>
              <a:p>
                <a:r>
                  <a:rPr lang="en-US" sz="2000" dirty="0">
                    <a:latin typeface="Seaford Display" pitchFamily="2" charset="0"/>
                  </a:rPr>
                  <a:t>	~ 26 Galactic DNS in the field with total masses in the range  </a:t>
                </a:r>
                <a:r>
                  <a:rPr lang="en-AU" sz="2000" b="0" i="0" dirty="0">
                    <a:effectLst/>
                    <a:latin typeface="Seaford Display" pitchFamily="2" charset="0"/>
                  </a:rPr>
                  <a:t>2.50−2.89</a:t>
                </a:r>
                <a:r>
                  <a:rPr lang="en-AU" sz="2000" i="1" dirty="0">
                    <a:latin typeface="Seaford Display" pitchFamily="2" charset="0"/>
                  </a:rPr>
                  <a:t>M</a:t>
                </a:r>
                <a:r>
                  <a:rPr lang="en-AU" sz="2000" baseline="-25000" dirty="0">
                    <a:latin typeface="Seaford Display" pitchFamily="2" charset="0"/>
                  </a:rPr>
                  <a:t>☉</a:t>
                </a:r>
                <a:br>
                  <a:rPr lang="en-AU" sz="2000" dirty="0">
                    <a:latin typeface="Seaford Display" pitchFamily="2" charset="0"/>
                  </a:rPr>
                </a:br>
                <a:endParaRPr lang="en-US" sz="2000" dirty="0">
                  <a:latin typeface="Seaford Display" pitchFamily="2" charset="0"/>
                </a:endParaRPr>
              </a:p>
              <a:p>
                <a:r>
                  <a:rPr lang="en-US" sz="2000" b="1" dirty="0">
                    <a:latin typeface="Seaford Display" pitchFamily="2" charset="0"/>
                  </a:rPr>
                  <a:t>Gravitational Waves</a:t>
                </a:r>
              </a:p>
              <a:p>
                <a:r>
                  <a:rPr lang="en-US" sz="2000" dirty="0">
                    <a:latin typeface="Seaford Display" pitchFamily="2" charset="0"/>
                  </a:rPr>
                  <a:t>	GW170817</a:t>
                </a:r>
              </a:p>
              <a:p>
                <a:r>
                  <a:rPr lang="en-US" sz="2000" dirty="0">
                    <a:latin typeface="Seaford Display" pitchFamily="2" charset="0"/>
                  </a:rPr>
                  <a:t>		Total mass : </a:t>
                </a:r>
                <a14:m>
                  <m:oMath xmlns:m="http://schemas.openxmlformats.org/officeDocument/2006/math">
                    <m:sSubSup>
                      <m:sSubSupPr>
                        <m:ctrlPr>
                          <a:rPr lang="en-AU" sz="2000" b="0" i="1" smtClean="0">
                            <a:latin typeface="Cambria Math" panose="02040503050406030204" pitchFamily="18" charset="0"/>
                          </a:rPr>
                        </m:ctrlPr>
                      </m:sSubSupPr>
                      <m:e>
                        <m:r>
                          <a:rPr lang="en-AU" sz="2000" b="0" i="1" smtClean="0">
                            <a:latin typeface="Cambria Math" panose="02040503050406030204" pitchFamily="18" charset="0"/>
                          </a:rPr>
                          <m:t>2.87</m:t>
                        </m:r>
                      </m:e>
                      <m:sub>
                        <m:r>
                          <a:rPr lang="en-AU" sz="2000" b="0" i="1" smtClean="0">
                            <a:latin typeface="Cambria Math" panose="02040503050406030204" pitchFamily="18" charset="0"/>
                          </a:rPr>
                          <m:t>−0.09</m:t>
                        </m:r>
                      </m:sub>
                      <m:sup>
                        <m:r>
                          <a:rPr lang="en-AU" sz="2000" b="0" i="1" smtClean="0">
                            <a:latin typeface="Cambria Math" panose="02040503050406030204" pitchFamily="18" charset="0"/>
                          </a:rPr>
                          <m:t>+0.47</m:t>
                        </m:r>
                      </m:sup>
                    </m:sSubSup>
                  </m:oMath>
                </a14:m>
                <a:r>
                  <a:rPr lang="en-AU" sz="2000" dirty="0">
                    <a:latin typeface="Seaford Display" pitchFamily="2" charset="0"/>
                  </a:rPr>
                  <a:t> </a:t>
                </a:r>
                <a:r>
                  <a:rPr lang="en-AU" sz="2000" i="1" dirty="0">
                    <a:latin typeface="Seaford Display" pitchFamily="2" charset="0"/>
                  </a:rPr>
                  <a:t>M</a:t>
                </a:r>
                <a:r>
                  <a:rPr lang="en-AU" sz="2000" baseline="-25000" dirty="0">
                    <a:latin typeface="Seaford Display" pitchFamily="2" charset="0"/>
                  </a:rPr>
                  <a:t>☉</a:t>
                </a:r>
                <a:endParaRPr lang="en-US" sz="2000" dirty="0">
                  <a:latin typeface="Seaford Display" pitchFamily="2" charset="0"/>
                </a:endParaRPr>
              </a:p>
              <a:p>
                <a:endParaRPr lang="en-US" sz="2000" dirty="0">
                  <a:latin typeface="Seaford Display" pitchFamily="2" charset="0"/>
                </a:endParaRPr>
              </a:p>
              <a:p>
                <a:r>
                  <a:rPr lang="en-US" sz="2000" dirty="0">
                    <a:latin typeface="Seaford Display" pitchFamily="2" charset="0"/>
                  </a:rPr>
                  <a:t>	GW190425</a:t>
                </a:r>
              </a:p>
              <a:p>
                <a:r>
                  <a:rPr lang="en-US" sz="2000" dirty="0">
                    <a:latin typeface="Seaford Display" pitchFamily="2" charset="0"/>
                  </a:rPr>
                  <a:t>		Total mass :  </a:t>
                </a:r>
                <a14:m>
                  <m:oMath xmlns:m="http://schemas.openxmlformats.org/officeDocument/2006/math">
                    <m:sSubSup>
                      <m:sSubSupPr>
                        <m:ctrlPr>
                          <a:rPr lang="en-AU" sz="2000" b="0" i="1" smtClean="0">
                            <a:latin typeface="Cambria Math" panose="02040503050406030204" pitchFamily="18" charset="0"/>
                          </a:rPr>
                        </m:ctrlPr>
                      </m:sSubSupPr>
                      <m:e>
                        <m:r>
                          <a:rPr lang="en-AU" sz="2000" b="0" i="1" smtClean="0">
                            <a:latin typeface="Cambria Math" panose="02040503050406030204" pitchFamily="18" charset="0"/>
                          </a:rPr>
                          <m:t>3.4</m:t>
                        </m:r>
                      </m:e>
                      <m:sub>
                        <m:r>
                          <a:rPr lang="en-AU" sz="2000" b="0" i="1" smtClean="0">
                            <a:latin typeface="Cambria Math" panose="02040503050406030204" pitchFamily="18" charset="0"/>
                          </a:rPr>
                          <m:t>−0.1</m:t>
                        </m:r>
                      </m:sub>
                      <m:sup>
                        <m:r>
                          <a:rPr lang="en-AU" sz="2000" b="0" i="1" smtClean="0">
                            <a:latin typeface="Cambria Math" panose="02040503050406030204" pitchFamily="18" charset="0"/>
                          </a:rPr>
                          <m:t>+0.3</m:t>
                        </m:r>
                      </m:sup>
                    </m:sSubSup>
                  </m:oMath>
                </a14:m>
                <a:r>
                  <a:rPr lang="en-AU" sz="2000" dirty="0">
                    <a:latin typeface="Seaford Display" pitchFamily="2" charset="0"/>
                  </a:rPr>
                  <a:t> </a:t>
                </a:r>
                <a:r>
                  <a:rPr lang="en-AU" sz="2000" i="1" dirty="0">
                    <a:latin typeface="Seaford Display" pitchFamily="2" charset="0"/>
                  </a:rPr>
                  <a:t>M</a:t>
                </a:r>
                <a:r>
                  <a:rPr lang="en-AU" sz="2000" baseline="-25000" dirty="0">
                    <a:latin typeface="Seaford Display" pitchFamily="2" charset="0"/>
                  </a:rPr>
                  <a:t>☉</a:t>
                </a:r>
                <a:endParaRPr lang="en-US" sz="2000" dirty="0">
                  <a:latin typeface="Seaford Display" pitchFamily="2" charset="0"/>
                </a:endParaRPr>
              </a:p>
              <a:p>
                <a:endParaRPr lang="en-US" dirty="0">
                  <a:latin typeface="Seaford Display" pitchFamily="2" charset="0"/>
                </a:endParaRPr>
              </a:p>
              <a:p>
                <a:endParaRPr lang="en-US" dirty="0">
                  <a:latin typeface="Seaford Display" pitchFamily="2" charset="0"/>
                </a:endParaRPr>
              </a:p>
              <a:p>
                <a:r>
                  <a:rPr lang="en-US" dirty="0">
                    <a:latin typeface="Seaford Display" pitchFamily="2" charset="0"/>
                  </a:rPr>
                  <a:t>		</a:t>
                </a:r>
              </a:p>
            </p:txBody>
          </p:sp>
        </mc:Choice>
        <mc:Fallback xmlns="">
          <p:sp>
            <p:nvSpPr>
              <p:cNvPr id="2" name="TextBox 1">
                <a:extLst>
                  <a:ext uri="{FF2B5EF4-FFF2-40B4-BE49-F238E27FC236}">
                    <a16:creationId xmlns:a16="http://schemas.microsoft.com/office/drawing/2014/main" id="{560C2199-BB3D-A1AD-5C45-5595E0082171}"/>
                  </a:ext>
                </a:extLst>
              </p:cNvPr>
              <p:cNvSpPr txBox="1">
                <a:spLocks noRot="1" noChangeAspect="1" noMove="1" noResize="1" noEditPoints="1" noAdjustHandles="1" noChangeArrowheads="1" noChangeShapeType="1" noTextEdit="1"/>
              </p:cNvSpPr>
              <p:nvPr/>
            </p:nvSpPr>
            <p:spPr>
              <a:xfrm>
                <a:off x="190228" y="585722"/>
                <a:ext cx="6151841" cy="6017545"/>
              </a:xfrm>
              <a:prstGeom prst="rect">
                <a:avLst/>
              </a:prstGeom>
              <a:blipFill>
                <a:blip r:embed="rId3"/>
                <a:stretch>
                  <a:fillRect l="-1440" t="-844" r="-206"/>
                </a:stretch>
              </a:blipFill>
            </p:spPr>
            <p:txBody>
              <a:bodyPr/>
              <a:lstStyle/>
              <a:p>
                <a:r>
                  <a:rPr lang="en-US">
                    <a:noFill/>
                  </a:rPr>
                  <a:t> </a:t>
                </a:r>
              </a:p>
            </p:txBody>
          </p:sp>
        </mc:Fallback>
      </mc:AlternateContent>
      <p:pic>
        <p:nvPicPr>
          <p:cNvPr id="3" name="Picture 2" descr="A graph of a function&#10;&#10;Description automatically generated">
            <a:extLst>
              <a:ext uri="{FF2B5EF4-FFF2-40B4-BE49-F238E27FC236}">
                <a16:creationId xmlns:a16="http://schemas.microsoft.com/office/drawing/2014/main" id="{A263D09B-0B3D-4BC3-EF9C-D0890A3567D5}"/>
              </a:ext>
            </a:extLst>
          </p:cNvPr>
          <p:cNvPicPr>
            <a:picLocks noChangeAspect="1"/>
          </p:cNvPicPr>
          <p:nvPr/>
        </p:nvPicPr>
        <p:blipFill rotWithShape="1">
          <a:blip r:embed="rId4"/>
          <a:srcRect l="-379" t="9884" r="-401" b="24947"/>
          <a:stretch/>
        </p:blipFill>
        <p:spPr>
          <a:xfrm>
            <a:off x="6342069" y="1769649"/>
            <a:ext cx="5335875" cy="3318702"/>
          </a:xfrm>
          <a:prstGeom prst="rect">
            <a:avLst/>
          </a:prstGeom>
        </p:spPr>
      </p:pic>
      <p:sp>
        <p:nvSpPr>
          <p:cNvPr id="6" name="Explosion 1 5">
            <a:extLst>
              <a:ext uri="{FF2B5EF4-FFF2-40B4-BE49-F238E27FC236}">
                <a16:creationId xmlns:a16="http://schemas.microsoft.com/office/drawing/2014/main" id="{80B45D83-60BE-CE73-202C-D8417024058B}"/>
              </a:ext>
            </a:extLst>
          </p:cNvPr>
          <p:cNvSpPr/>
          <p:nvPr/>
        </p:nvSpPr>
        <p:spPr>
          <a:xfrm rot="20091993">
            <a:off x="9200566" y="1113508"/>
            <a:ext cx="1968807" cy="1304789"/>
          </a:xfrm>
          <a:prstGeom prst="irregularSeal1">
            <a:avLst/>
          </a:prstGeom>
          <a:solidFill>
            <a:srgbClr val="C1BA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SUS!</a:t>
            </a:r>
          </a:p>
        </p:txBody>
      </p:sp>
      <p:sp>
        <p:nvSpPr>
          <p:cNvPr id="7" name="TextBox 6">
            <a:extLst>
              <a:ext uri="{FF2B5EF4-FFF2-40B4-BE49-F238E27FC236}">
                <a16:creationId xmlns:a16="http://schemas.microsoft.com/office/drawing/2014/main" id="{AD793A5F-B2E7-08CB-8A82-43EBC00AED56}"/>
              </a:ext>
            </a:extLst>
          </p:cNvPr>
          <p:cNvSpPr txBox="1"/>
          <p:nvPr/>
        </p:nvSpPr>
        <p:spPr>
          <a:xfrm>
            <a:off x="8178800" y="5295900"/>
            <a:ext cx="2223984" cy="369332"/>
          </a:xfrm>
          <a:prstGeom prst="rect">
            <a:avLst/>
          </a:prstGeom>
          <a:noFill/>
        </p:spPr>
        <p:txBody>
          <a:bodyPr wrap="square" rtlCol="0">
            <a:spAutoFit/>
          </a:bodyPr>
          <a:lstStyle/>
          <a:p>
            <a:r>
              <a:rPr lang="en-US" dirty="0">
                <a:latin typeface="Seaford Display" pitchFamily="2" charset="0"/>
              </a:rPr>
              <a:t>Abbot et al. 2020</a:t>
            </a:r>
          </a:p>
        </p:txBody>
      </p:sp>
      <p:sp>
        <p:nvSpPr>
          <p:cNvPr id="8" name="Slide Number Placeholder 7">
            <a:extLst>
              <a:ext uri="{FF2B5EF4-FFF2-40B4-BE49-F238E27FC236}">
                <a16:creationId xmlns:a16="http://schemas.microsoft.com/office/drawing/2014/main" id="{93AC21B5-83A5-C72F-0802-63F42CFAAC79}"/>
              </a:ext>
            </a:extLst>
          </p:cNvPr>
          <p:cNvSpPr>
            <a:spLocks noGrp="1"/>
          </p:cNvSpPr>
          <p:nvPr>
            <p:ph type="sldNum" sz="quarter" idx="12"/>
          </p:nvPr>
        </p:nvSpPr>
        <p:spPr/>
        <p:txBody>
          <a:bodyPr/>
          <a:lstStyle/>
          <a:p>
            <a:fld id="{CE0A201B-ED89-3E49-8333-B23E6243976D}" type="slidenum">
              <a:rPr lang="en-US" smtClean="0"/>
              <a:t>4</a:t>
            </a:fld>
            <a:endParaRPr lang="en-US"/>
          </a:p>
        </p:txBody>
      </p:sp>
    </p:spTree>
    <p:extLst>
      <p:ext uri="{BB962C8B-B14F-4D97-AF65-F5344CB8AC3E}">
        <p14:creationId xmlns:p14="http://schemas.microsoft.com/office/powerpoint/2010/main" val="1614473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4" end="14"/>
                                            </p:txEl>
                                          </p:spTgt>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nodeType="after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par>
                          <p:cTn id="46" fill="hold">
                            <p:stCondLst>
                              <p:cond delay="0"/>
                            </p:stCondLst>
                            <p:childTnLst>
                              <p:par>
                                <p:cTn id="47" presetID="1" presetClass="entr" presetSubtype="0" fill="hold" grpId="0" nodeType="afterEffect">
                                  <p:stCondLst>
                                    <p:cond delay="0"/>
                                  </p:stCondLst>
                                  <p:childTnLst>
                                    <p:set>
                                      <p:cBhvr>
                                        <p:cTn id="48" dur="1" fill="hold">
                                          <p:stCondLst>
                                            <p:cond delay="0"/>
                                          </p:stCondLst>
                                        </p:cTn>
                                        <p:tgtEl>
                                          <p:spTgt spid="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5009C6-9DE8-972A-4A0A-A13F1D83A788}"/>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F9699C7F-20C2-D75F-8D87-CCA785927FBB}"/>
              </a:ext>
            </a:extLst>
          </p:cNvPr>
          <p:cNvSpPr>
            <a:spLocks noGrp="1"/>
          </p:cNvSpPr>
          <p:nvPr>
            <p:ph type="ftr" sz="quarter" idx="11"/>
          </p:nvPr>
        </p:nvSpPr>
        <p:spPr/>
        <p:txBody>
          <a:bodyPr/>
          <a:lstStyle/>
          <a:p>
            <a:r>
              <a:rPr lang="en-US"/>
              <a:t>Binary Stars in a New Era</a:t>
            </a:r>
            <a:endParaRPr lang="en-US" dirty="0"/>
          </a:p>
        </p:txBody>
      </p:sp>
      <p:pic>
        <p:nvPicPr>
          <p:cNvPr id="4" name="Picture 3">
            <a:extLst>
              <a:ext uri="{FF2B5EF4-FFF2-40B4-BE49-F238E27FC236}">
                <a16:creationId xmlns:a16="http://schemas.microsoft.com/office/drawing/2014/main" id="{CBB78414-204A-CA4A-F1EF-BDF2E42A5D20}"/>
              </a:ext>
            </a:extLst>
          </p:cNvPr>
          <p:cNvPicPr>
            <a:picLocks noChangeAspect="1"/>
          </p:cNvPicPr>
          <p:nvPr/>
        </p:nvPicPr>
        <p:blipFill rotWithShape="1">
          <a:blip r:embed="rId3"/>
          <a:srcRect t="20089" r="5430" b="23171"/>
          <a:stretch/>
        </p:blipFill>
        <p:spPr>
          <a:xfrm>
            <a:off x="857323" y="1552680"/>
            <a:ext cx="1912306" cy="1147332"/>
          </a:xfrm>
          <a:prstGeom prst="rect">
            <a:avLst/>
          </a:prstGeom>
        </p:spPr>
      </p:pic>
      <p:pic>
        <p:nvPicPr>
          <p:cNvPr id="5" name="Picture 4">
            <a:extLst>
              <a:ext uri="{FF2B5EF4-FFF2-40B4-BE49-F238E27FC236}">
                <a16:creationId xmlns:a16="http://schemas.microsoft.com/office/drawing/2014/main" id="{5F15B838-6787-E964-E333-65BCB5E563C0}"/>
              </a:ext>
            </a:extLst>
          </p:cNvPr>
          <p:cNvPicPr>
            <a:picLocks noChangeAspect="1"/>
          </p:cNvPicPr>
          <p:nvPr/>
        </p:nvPicPr>
        <p:blipFill rotWithShape="1">
          <a:blip r:embed="rId4"/>
          <a:srcRect t="22018" b="19491"/>
          <a:stretch/>
        </p:blipFill>
        <p:spPr>
          <a:xfrm>
            <a:off x="924271" y="3176654"/>
            <a:ext cx="1961542" cy="1147332"/>
          </a:xfrm>
          <a:prstGeom prst="rect">
            <a:avLst/>
          </a:prstGeom>
        </p:spPr>
      </p:pic>
      <p:pic>
        <p:nvPicPr>
          <p:cNvPr id="6" name="Picture 5">
            <a:extLst>
              <a:ext uri="{FF2B5EF4-FFF2-40B4-BE49-F238E27FC236}">
                <a16:creationId xmlns:a16="http://schemas.microsoft.com/office/drawing/2014/main" id="{ACC899A0-218A-A17F-F908-B5F7EDCF784A}"/>
              </a:ext>
            </a:extLst>
          </p:cNvPr>
          <p:cNvPicPr>
            <a:picLocks noChangeAspect="1"/>
          </p:cNvPicPr>
          <p:nvPr/>
        </p:nvPicPr>
        <p:blipFill rotWithShape="1">
          <a:blip r:embed="rId5"/>
          <a:srcRect t="26876" b="23315"/>
          <a:stretch/>
        </p:blipFill>
        <p:spPr>
          <a:xfrm>
            <a:off x="857323" y="4746474"/>
            <a:ext cx="2196671" cy="1036350"/>
          </a:xfrm>
          <a:prstGeom prst="rect">
            <a:avLst/>
          </a:prstGeom>
        </p:spPr>
      </p:pic>
      <p:pic>
        <p:nvPicPr>
          <p:cNvPr id="7" name="Picture 6">
            <a:extLst>
              <a:ext uri="{FF2B5EF4-FFF2-40B4-BE49-F238E27FC236}">
                <a16:creationId xmlns:a16="http://schemas.microsoft.com/office/drawing/2014/main" id="{EACD567B-470E-7764-D4D5-49C99FD7DDBC}"/>
              </a:ext>
            </a:extLst>
          </p:cNvPr>
          <p:cNvPicPr>
            <a:picLocks noChangeAspect="1"/>
          </p:cNvPicPr>
          <p:nvPr/>
        </p:nvPicPr>
        <p:blipFill rotWithShape="1">
          <a:blip r:embed="rId6"/>
          <a:srcRect l="-405" t="16756" r="11556" b="18159"/>
          <a:stretch/>
        </p:blipFill>
        <p:spPr>
          <a:xfrm>
            <a:off x="4067084" y="1256483"/>
            <a:ext cx="1980703" cy="1354021"/>
          </a:xfrm>
          <a:prstGeom prst="rect">
            <a:avLst/>
          </a:prstGeom>
        </p:spPr>
      </p:pic>
      <p:pic>
        <p:nvPicPr>
          <p:cNvPr id="8" name="Picture 7">
            <a:extLst>
              <a:ext uri="{FF2B5EF4-FFF2-40B4-BE49-F238E27FC236}">
                <a16:creationId xmlns:a16="http://schemas.microsoft.com/office/drawing/2014/main" id="{5CB0B545-BDDA-0EAD-7208-ACB6678C5BA6}"/>
              </a:ext>
            </a:extLst>
          </p:cNvPr>
          <p:cNvPicPr>
            <a:picLocks noChangeAspect="1"/>
          </p:cNvPicPr>
          <p:nvPr/>
        </p:nvPicPr>
        <p:blipFill rotWithShape="1">
          <a:blip r:embed="rId7"/>
          <a:srcRect t="23580" r="8781" b="20267"/>
          <a:stretch/>
        </p:blipFill>
        <p:spPr>
          <a:xfrm>
            <a:off x="4114813" y="2951386"/>
            <a:ext cx="1980703" cy="1219283"/>
          </a:xfrm>
          <a:prstGeom prst="rect">
            <a:avLst/>
          </a:prstGeom>
        </p:spPr>
      </p:pic>
      <p:pic>
        <p:nvPicPr>
          <p:cNvPr id="9" name="Picture 8">
            <a:extLst>
              <a:ext uri="{FF2B5EF4-FFF2-40B4-BE49-F238E27FC236}">
                <a16:creationId xmlns:a16="http://schemas.microsoft.com/office/drawing/2014/main" id="{F151E464-99E8-7B1E-6EAE-6D052EA4B903}"/>
              </a:ext>
            </a:extLst>
          </p:cNvPr>
          <p:cNvPicPr>
            <a:picLocks noChangeAspect="1"/>
          </p:cNvPicPr>
          <p:nvPr/>
        </p:nvPicPr>
        <p:blipFill rotWithShape="1">
          <a:blip r:embed="rId8"/>
          <a:srcRect t="15184" b="15217"/>
          <a:stretch/>
        </p:blipFill>
        <p:spPr>
          <a:xfrm>
            <a:off x="4026672" y="4416483"/>
            <a:ext cx="2360954" cy="1643187"/>
          </a:xfrm>
          <a:prstGeom prst="rect">
            <a:avLst/>
          </a:prstGeom>
        </p:spPr>
      </p:pic>
      <p:pic>
        <p:nvPicPr>
          <p:cNvPr id="10" name="Picture 9">
            <a:extLst>
              <a:ext uri="{FF2B5EF4-FFF2-40B4-BE49-F238E27FC236}">
                <a16:creationId xmlns:a16="http://schemas.microsoft.com/office/drawing/2014/main" id="{E4B7E7A5-4434-AD16-6103-FB662B6A9131}"/>
              </a:ext>
            </a:extLst>
          </p:cNvPr>
          <p:cNvPicPr>
            <a:picLocks noChangeAspect="1"/>
          </p:cNvPicPr>
          <p:nvPr/>
        </p:nvPicPr>
        <p:blipFill>
          <a:blip r:embed="rId9"/>
          <a:stretch>
            <a:fillRect/>
          </a:stretch>
        </p:blipFill>
        <p:spPr>
          <a:xfrm>
            <a:off x="6934350" y="955189"/>
            <a:ext cx="1841469" cy="1841469"/>
          </a:xfrm>
          <a:prstGeom prst="rect">
            <a:avLst/>
          </a:prstGeom>
        </p:spPr>
      </p:pic>
      <p:pic>
        <p:nvPicPr>
          <p:cNvPr id="11" name="Picture 10">
            <a:extLst>
              <a:ext uri="{FF2B5EF4-FFF2-40B4-BE49-F238E27FC236}">
                <a16:creationId xmlns:a16="http://schemas.microsoft.com/office/drawing/2014/main" id="{C32CA873-D61B-67E0-8DEB-7581711611D2}"/>
              </a:ext>
            </a:extLst>
          </p:cNvPr>
          <p:cNvPicPr>
            <a:picLocks noChangeAspect="1"/>
          </p:cNvPicPr>
          <p:nvPr/>
        </p:nvPicPr>
        <p:blipFill rotWithShape="1">
          <a:blip r:embed="rId10"/>
          <a:srcRect t="21924" b="21924"/>
          <a:stretch/>
        </p:blipFill>
        <p:spPr>
          <a:xfrm>
            <a:off x="6733519" y="4541784"/>
            <a:ext cx="2496720" cy="1401966"/>
          </a:xfrm>
          <a:prstGeom prst="rect">
            <a:avLst/>
          </a:prstGeom>
        </p:spPr>
      </p:pic>
      <p:pic>
        <p:nvPicPr>
          <p:cNvPr id="12" name="Picture 11">
            <a:extLst>
              <a:ext uri="{FF2B5EF4-FFF2-40B4-BE49-F238E27FC236}">
                <a16:creationId xmlns:a16="http://schemas.microsoft.com/office/drawing/2014/main" id="{1F312FA5-0FAA-AF16-27A6-6FECBC1C54F0}"/>
              </a:ext>
            </a:extLst>
          </p:cNvPr>
          <p:cNvPicPr>
            <a:picLocks noChangeAspect="1"/>
          </p:cNvPicPr>
          <p:nvPr/>
        </p:nvPicPr>
        <p:blipFill rotWithShape="1">
          <a:blip r:embed="rId11"/>
          <a:srcRect l="-1603" t="7707"/>
          <a:stretch/>
        </p:blipFill>
        <p:spPr>
          <a:xfrm>
            <a:off x="9616545" y="1256483"/>
            <a:ext cx="1718132" cy="1560710"/>
          </a:xfrm>
          <a:prstGeom prst="rect">
            <a:avLst/>
          </a:prstGeom>
        </p:spPr>
      </p:pic>
      <p:pic>
        <p:nvPicPr>
          <p:cNvPr id="13" name="Picture 12">
            <a:extLst>
              <a:ext uri="{FF2B5EF4-FFF2-40B4-BE49-F238E27FC236}">
                <a16:creationId xmlns:a16="http://schemas.microsoft.com/office/drawing/2014/main" id="{5F8BE6F7-EC42-BA55-3D41-F6AAC7E28FCA}"/>
              </a:ext>
            </a:extLst>
          </p:cNvPr>
          <p:cNvPicPr>
            <a:picLocks noChangeAspect="1"/>
          </p:cNvPicPr>
          <p:nvPr/>
        </p:nvPicPr>
        <p:blipFill>
          <a:blip r:embed="rId12"/>
          <a:stretch>
            <a:fillRect/>
          </a:stretch>
        </p:blipFill>
        <p:spPr>
          <a:xfrm>
            <a:off x="9673099" y="2774383"/>
            <a:ext cx="1718133" cy="1718133"/>
          </a:xfrm>
          <a:prstGeom prst="rect">
            <a:avLst/>
          </a:prstGeom>
        </p:spPr>
      </p:pic>
      <p:pic>
        <p:nvPicPr>
          <p:cNvPr id="14" name="Picture 13">
            <a:extLst>
              <a:ext uri="{FF2B5EF4-FFF2-40B4-BE49-F238E27FC236}">
                <a16:creationId xmlns:a16="http://schemas.microsoft.com/office/drawing/2014/main" id="{CF28BDD2-5467-2EA4-83F2-F5F976ED6915}"/>
              </a:ext>
            </a:extLst>
          </p:cNvPr>
          <p:cNvPicPr>
            <a:picLocks noChangeAspect="1"/>
          </p:cNvPicPr>
          <p:nvPr/>
        </p:nvPicPr>
        <p:blipFill rotWithShape="1">
          <a:blip r:embed="rId13"/>
          <a:srcRect r="5584" b="16131"/>
          <a:stretch/>
        </p:blipFill>
        <p:spPr>
          <a:xfrm>
            <a:off x="9704519" y="4853204"/>
            <a:ext cx="1969039" cy="1749078"/>
          </a:xfrm>
          <a:prstGeom prst="rect">
            <a:avLst/>
          </a:prstGeom>
        </p:spPr>
      </p:pic>
      <p:pic>
        <p:nvPicPr>
          <p:cNvPr id="15" name="Picture 14">
            <a:extLst>
              <a:ext uri="{FF2B5EF4-FFF2-40B4-BE49-F238E27FC236}">
                <a16:creationId xmlns:a16="http://schemas.microsoft.com/office/drawing/2014/main" id="{F851AFDB-7BE4-51C3-CD11-A403CF196C72}"/>
              </a:ext>
            </a:extLst>
          </p:cNvPr>
          <p:cNvPicPr>
            <a:picLocks noChangeAspect="1"/>
          </p:cNvPicPr>
          <p:nvPr/>
        </p:nvPicPr>
        <p:blipFill rotWithShape="1">
          <a:blip r:embed="rId14"/>
          <a:srcRect l="11780" t="12971" r="7682" b="24045"/>
          <a:stretch/>
        </p:blipFill>
        <p:spPr>
          <a:xfrm rot="1535882">
            <a:off x="7391257" y="3168233"/>
            <a:ext cx="1446542" cy="1131237"/>
          </a:xfrm>
          <a:prstGeom prst="rect">
            <a:avLst/>
          </a:prstGeom>
        </p:spPr>
      </p:pic>
      <p:sp>
        <p:nvSpPr>
          <p:cNvPr id="16" name="TextBox 15">
            <a:extLst>
              <a:ext uri="{FF2B5EF4-FFF2-40B4-BE49-F238E27FC236}">
                <a16:creationId xmlns:a16="http://schemas.microsoft.com/office/drawing/2014/main" id="{36F9F225-5656-6B1D-D219-74B5ACDAC04D}"/>
              </a:ext>
            </a:extLst>
          </p:cNvPr>
          <p:cNvSpPr txBox="1"/>
          <p:nvPr/>
        </p:nvSpPr>
        <p:spPr>
          <a:xfrm>
            <a:off x="762868" y="608756"/>
            <a:ext cx="10665295" cy="461665"/>
          </a:xfrm>
          <a:prstGeom prst="rect">
            <a:avLst/>
          </a:prstGeom>
          <a:noFill/>
        </p:spPr>
        <p:txBody>
          <a:bodyPr wrap="square" rtlCol="0">
            <a:spAutoFit/>
          </a:bodyPr>
          <a:lstStyle/>
          <a:p>
            <a:pPr algn="ctr"/>
            <a:r>
              <a:rPr lang="en-US" sz="2400" b="1" dirty="0">
                <a:solidFill>
                  <a:srgbClr val="C1BAFE"/>
                </a:solidFill>
                <a:latin typeface="Seaford Display" pitchFamily="2" charset="0"/>
              </a:rPr>
              <a:t>Standard Double Neutron Star Formation Pathway – T. Tauris et al. 2017</a:t>
            </a:r>
          </a:p>
        </p:txBody>
      </p:sp>
      <p:sp>
        <p:nvSpPr>
          <p:cNvPr id="17" name="TextBox 16">
            <a:extLst>
              <a:ext uri="{FF2B5EF4-FFF2-40B4-BE49-F238E27FC236}">
                <a16:creationId xmlns:a16="http://schemas.microsoft.com/office/drawing/2014/main" id="{1350E5C8-BF7E-BF97-C250-7CB62E955B5F}"/>
              </a:ext>
            </a:extLst>
          </p:cNvPr>
          <p:cNvSpPr txBox="1"/>
          <p:nvPr/>
        </p:nvSpPr>
        <p:spPr>
          <a:xfrm>
            <a:off x="1064820" y="1285436"/>
            <a:ext cx="1898636" cy="369332"/>
          </a:xfrm>
          <a:prstGeom prst="rect">
            <a:avLst/>
          </a:prstGeom>
          <a:noFill/>
        </p:spPr>
        <p:txBody>
          <a:bodyPr wrap="square" rtlCol="0">
            <a:spAutoFit/>
          </a:bodyPr>
          <a:lstStyle/>
          <a:p>
            <a:r>
              <a:rPr lang="en-US" dirty="0"/>
              <a:t>OB-Type ZAMS</a:t>
            </a:r>
          </a:p>
        </p:txBody>
      </p:sp>
      <p:sp>
        <p:nvSpPr>
          <p:cNvPr id="18" name="TextBox 17">
            <a:extLst>
              <a:ext uri="{FF2B5EF4-FFF2-40B4-BE49-F238E27FC236}">
                <a16:creationId xmlns:a16="http://schemas.microsoft.com/office/drawing/2014/main" id="{B5EB1C43-1EC8-5F6B-F9C6-904D796DB025}"/>
              </a:ext>
            </a:extLst>
          </p:cNvPr>
          <p:cNvSpPr txBox="1"/>
          <p:nvPr/>
        </p:nvSpPr>
        <p:spPr>
          <a:xfrm>
            <a:off x="328477" y="3549185"/>
            <a:ext cx="701816" cy="369332"/>
          </a:xfrm>
          <a:prstGeom prst="rect">
            <a:avLst/>
          </a:prstGeom>
          <a:noFill/>
        </p:spPr>
        <p:txBody>
          <a:bodyPr wrap="square" rtlCol="0">
            <a:spAutoFit/>
          </a:bodyPr>
          <a:lstStyle/>
          <a:p>
            <a:r>
              <a:rPr lang="en-US" dirty="0"/>
              <a:t>RLO</a:t>
            </a:r>
          </a:p>
        </p:txBody>
      </p:sp>
      <p:sp>
        <p:nvSpPr>
          <p:cNvPr id="19" name="TextBox 18">
            <a:extLst>
              <a:ext uri="{FF2B5EF4-FFF2-40B4-BE49-F238E27FC236}">
                <a16:creationId xmlns:a16="http://schemas.microsoft.com/office/drawing/2014/main" id="{38C70965-1F57-0056-7CF9-D5DB77CBEEAB}"/>
              </a:ext>
            </a:extLst>
          </p:cNvPr>
          <p:cNvSpPr txBox="1"/>
          <p:nvPr/>
        </p:nvSpPr>
        <p:spPr>
          <a:xfrm>
            <a:off x="172839" y="5079983"/>
            <a:ext cx="1013091" cy="369332"/>
          </a:xfrm>
          <a:prstGeom prst="rect">
            <a:avLst/>
          </a:prstGeom>
          <a:noFill/>
        </p:spPr>
        <p:txBody>
          <a:bodyPr wrap="square" rtlCol="0">
            <a:spAutoFit/>
          </a:bodyPr>
          <a:lstStyle/>
          <a:p>
            <a:r>
              <a:rPr lang="en-US" dirty="0"/>
              <a:t>He-Star</a:t>
            </a:r>
          </a:p>
        </p:txBody>
      </p:sp>
      <p:sp>
        <p:nvSpPr>
          <p:cNvPr id="20" name="TextBox 19">
            <a:extLst>
              <a:ext uri="{FF2B5EF4-FFF2-40B4-BE49-F238E27FC236}">
                <a16:creationId xmlns:a16="http://schemas.microsoft.com/office/drawing/2014/main" id="{6E74901E-3605-4180-F4D8-EECCC5CA1D4D}"/>
              </a:ext>
            </a:extLst>
          </p:cNvPr>
          <p:cNvSpPr txBox="1"/>
          <p:nvPr/>
        </p:nvSpPr>
        <p:spPr>
          <a:xfrm>
            <a:off x="3740431" y="1310479"/>
            <a:ext cx="698783" cy="369332"/>
          </a:xfrm>
          <a:prstGeom prst="rect">
            <a:avLst/>
          </a:prstGeom>
          <a:noFill/>
        </p:spPr>
        <p:txBody>
          <a:bodyPr wrap="square" rtlCol="0">
            <a:spAutoFit/>
          </a:bodyPr>
          <a:lstStyle/>
          <a:p>
            <a:r>
              <a:rPr lang="en-US" dirty="0"/>
              <a:t>SN</a:t>
            </a:r>
          </a:p>
        </p:txBody>
      </p:sp>
      <p:sp>
        <p:nvSpPr>
          <p:cNvPr id="21" name="TextBox 20">
            <a:extLst>
              <a:ext uri="{FF2B5EF4-FFF2-40B4-BE49-F238E27FC236}">
                <a16:creationId xmlns:a16="http://schemas.microsoft.com/office/drawing/2014/main" id="{283CFE6F-3894-9D94-3DFD-1180721FA245}"/>
              </a:ext>
            </a:extLst>
          </p:cNvPr>
          <p:cNvSpPr txBox="1"/>
          <p:nvPr/>
        </p:nvSpPr>
        <p:spPr>
          <a:xfrm>
            <a:off x="3744573" y="3523149"/>
            <a:ext cx="619652" cy="369332"/>
          </a:xfrm>
          <a:prstGeom prst="rect">
            <a:avLst/>
          </a:prstGeom>
          <a:noFill/>
        </p:spPr>
        <p:txBody>
          <a:bodyPr wrap="square" rtlCol="0">
            <a:spAutoFit/>
          </a:bodyPr>
          <a:lstStyle/>
          <a:p>
            <a:r>
              <a:rPr lang="en-US" dirty="0"/>
              <a:t>NS1</a:t>
            </a:r>
          </a:p>
        </p:txBody>
      </p:sp>
      <p:sp>
        <p:nvSpPr>
          <p:cNvPr id="22" name="TextBox 21">
            <a:extLst>
              <a:ext uri="{FF2B5EF4-FFF2-40B4-BE49-F238E27FC236}">
                <a16:creationId xmlns:a16="http://schemas.microsoft.com/office/drawing/2014/main" id="{32EF8DE5-73BA-B78B-11E4-E508DBE1ED25}"/>
              </a:ext>
            </a:extLst>
          </p:cNvPr>
          <p:cNvSpPr txBox="1"/>
          <p:nvPr/>
        </p:nvSpPr>
        <p:spPr>
          <a:xfrm>
            <a:off x="3441894" y="5092582"/>
            <a:ext cx="873016" cy="369332"/>
          </a:xfrm>
          <a:prstGeom prst="rect">
            <a:avLst/>
          </a:prstGeom>
          <a:noFill/>
        </p:spPr>
        <p:txBody>
          <a:bodyPr wrap="square" rtlCol="0">
            <a:spAutoFit/>
          </a:bodyPr>
          <a:lstStyle/>
          <a:p>
            <a:r>
              <a:rPr lang="en-US" dirty="0"/>
              <a:t>HMXB</a:t>
            </a:r>
          </a:p>
        </p:txBody>
      </p:sp>
      <p:sp>
        <p:nvSpPr>
          <p:cNvPr id="23" name="TextBox 22">
            <a:extLst>
              <a:ext uri="{FF2B5EF4-FFF2-40B4-BE49-F238E27FC236}">
                <a16:creationId xmlns:a16="http://schemas.microsoft.com/office/drawing/2014/main" id="{C0D4288A-7845-1716-23A5-1B1A9EB62D49}"/>
              </a:ext>
            </a:extLst>
          </p:cNvPr>
          <p:cNvSpPr txBox="1"/>
          <p:nvPr/>
        </p:nvSpPr>
        <p:spPr>
          <a:xfrm>
            <a:off x="6666248" y="1365159"/>
            <a:ext cx="654932" cy="369332"/>
          </a:xfrm>
          <a:prstGeom prst="rect">
            <a:avLst/>
          </a:prstGeom>
          <a:noFill/>
        </p:spPr>
        <p:txBody>
          <a:bodyPr wrap="square" rtlCol="0">
            <a:spAutoFit/>
          </a:bodyPr>
          <a:lstStyle/>
          <a:p>
            <a:r>
              <a:rPr lang="en-US" dirty="0"/>
              <a:t>CE</a:t>
            </a:r>
          </a:p>
        </p:txBody>
      </p:sp>
      <p:sp>
        <p:nvSpPr>
          <p:cNvPr id="24" name="TextBox 23">
            <a:extLst>
              <a:ext uri="{FF2B5EF4-FFF2-40B4-BE49-F238E27FC236}">
                <a16:creationId xmlns:a16="http://schemas.microsoft.com/office/drawing/2014/main" id="{D67A7506-71B1-EC82-BDCE-3EF6C23A1699}"/>
              </a:ext>
            </a:extLst>
          </p:cNvPr>
          <p:cNvSpPr txBox="1"/>
          <p:nvPr/>
        </p:nvSpPr>
        <p:spPr>
          <a:xfrm>
            <a:off x="8666922" y="3119999"/>
            <a:ext cx="563317" cy="369332"/>
          </a:xfrm>
          <a:prstGeom prst="rect">
            <a:avLst/>
          </a:prstGeom>
          <a:noFill/>
        </p:spPr>
        <p:txBody>
          <a:bodyPr wrap="square" rtlCol="0">
            <a:spAutoFit/>
          </a:bodyPr>
          <a:lstStyle/>
          <a:p>
            <a:r>
              <a:rPr lang="en-US" dirty="0"/>
              <a:t>He</a:t>
            </a:r>
          </a:p>
        </p:txBody>
      </p:sp>
      <p:sp>
        <p:nvSpPr>
          <p:cNvPr id="25" name="TextBox 24">
            <a:extLst>
              <a:ext uri="{FF2B5EF4-FFF2-40B4-BE49-F238E27FC236}">
                <a16:creationId xmlns:a16="http://schemas.microsoft.com/office/drawing/2014/main" id="{2B77CBE3-EBC5-90B1-777B-501193933D0D}"/>
              </a:ext>
            </a:extLst>
          </p:cNvPr>
          <p:cNvSpPr txBox="1"/>
          <p:nvPr/>
        </p:nvSpPr>
        <p:spPr>
          <a:xfrm>
            <a:off x="6951454" y="3214750"/>
            <a:ext cx="561203" cy="369332"/>
          </a:xfrm>
          <a:prstGeom prst="rect">
            <a:avLst/>
          </a:prstGeom>
          <a:noFill/>
        </p:spPr>
        <p:txBody>
          <a:bodyPr wrap="square" rtlCol="0">
            <a:spAutoFit/>
          </a:bodyPr>
          <a:lstStyle/>
          <a:p>
            <a:r>
              <a:rPr lang="en-US" dirty="0"/>
              <a:t>NS</a:t>
            </a:r>
          </a:p>
        </p:txBody>
      </p:sp>
      <p:sp>
        <p:nvSpPr>
          <p:cNvPr id="26" name="TextBox 25">
            <a:extLst>
              <a:ext uri="{FF2B5EF4-FFF2-40B4-BE49-F238E27FC236}">
                <a16:creationId xmlns:a16="http://schemas.microsoft.com/office/drawing/2014/main" id="{F2811A87-9EE4-6A84-B7F9-6DC6124982BD}"/>
              </a:ext>
            </a:extLst>
          </p:cNvPr>
          <p:cNvSpPr txBox="1"/>
          <p:nvPr/>
        </p:nvSpPr>
        <p:spPr>
          <a:xfrm>
            <a:off x="8474577" y="5605795"/>
            <a:ext cx="1515163" cy="646331"/>
          </a:xfrm>
          <a:prstGeom prst="rect">
            <a:avLst/>
          </a:prstGeom>
          <a:noFill/>
        </p:spPr>
        <p:txBody>
          <a:bodyPr wrap="square" rtlCol="0">
            <a:spAutoFit/>
          </a:bodyPr>
          <a:lstStyle/>
          <a:p>
            <a:r>
              <a:rPr lang="en-US" dirty="0"/>
              <a:t>Case BB RLO</a:t>
            </a:r>
          </a:p>
        </p:txBody>
      </p:sp>
      <p:sp>
        <p:nvSpPr>
          <p:cNvPr id="27" name="TextBox 26">
            <a:extLst>
              <a:ext uri="{FF2B5EF4-FFF2-40B4-BE49-F238E27FC236}">
                <a16:creationId xmlns:a16="http://schemas.microsoft.com/office/drawing/2014/main" id="{38C4B769-5C12-CA52-B2B4-E0E6BE43E6B0}"/>
              </a:ext>
            </a:extLst>
          </p:cNvPr>
          <p:cNvSpPr txBox="1"/>
          <p:nvPr/>
        </p:nvSpPr>
        <p:spPr>
          <a:xfrm>
            <a:off x="8474577" y="1127573"/>
            <a:ext cx="2042414" cy="646331"/>
          </a:xfrm>
          <a:prstGeom prst="rect">
            <a:avLst/>
          </a:prstGeom>
          <a:noFill/>
        </p:spPr>
        <p:txBody>
          <a:bodyPr wrap="square" rtlCol="0">
            <a:spAutoFit/>
          </a:bodyPr>
          <a:lstStyle/>
          <a:p>
            <a:r>
              <a:rPr lang="en-US" dirty="0"/>
              <a:t>Ultra-stripped SN</a:t>
            </a:r>
          </a:p>
          <a:p>
            <a:endParaRPr lang="en-US" dirty="0"/>
          </a:p>
        </p:txBody>
      </p:sp>
      <p:sp>
        <p:nvSpPr>
          <p:cNvPr id="28" name="TextBox 27">
            <a:extLst>
              <a:ext uri="{FF2B5EF4-FFF2-40B4-BE49-F238E27FC236}">
                <a16:creationId xmlns:a16="http://schemas.microsoft.com/office/drawing/2014/main" id="{4B5F5824-3A3F-8136-88A9-CDC0604EF953}"/>
              </a:ext>
            </a:extLst>
          </p:cNvPr>
          <p:cNvSpPr txBox="1"/>
          <p:nvPr/>
        </p:nvSpPr>
        <p:spPr>
          <a:xfrm>
            <a:off x="10940383" y="2476086"/>
            <a:ext cx="1421400" cy="923330"/>
          </a:xfrm>
          <a:prstGeom prst="rect">
            <a:avLst/>
          </a:prstGeom>
          <a:noFill/>
        </p:spPr>
        <p:txBody>
          <a:bodyPr wrap="square" rtlCol="0">
            <a:spAutoFit/>
          </a:bodyPr>
          <a:lstStyle/>
          <a:p>
            <a:r>
              <a:rPr lang="en-US" dirty="0"/>
              <a:t>Recycled + young NS</a:t>
            </a:r>
          </a:p>
        </p:txBody>
      </p:sp>
      <p:sp>
        <p:nvSpPr>
          <p:cNvPr id="29" name="TextBox 28">
            <a:extLst>
              <a:ext uri="{FF2B5EF4-FFF2-40B4-BE49-F238E27FC236}">
                <a16:creationId xmlns:a16="http://schemas.microsoft.com/office/drawing/2014/main" id="{DC92DC46-4809-1D5F-13A9-73EFE15EFCC2}"/>
              </a:ext>
            </a:extLst>
          </p:cNvPr>
          <p:cNvSpPr txBox="1"/>
          <p:nvPr/>
        </p:nvSpPr>
        <p:spPr>
          <a:xfrm>
            <a:off x="10924183" y="4164518"/>
            <a:ext cx="1252099" cy="646331"/>
          </a:xfrm>
          <a:prstGeom prst="rect">
            <a:avLst/>
          </a:prstGeom>
          <a:noFill/>
        </p:spPr>
        <p:txBody>
          <a:bodyPr wrap="square" rtlCol="0">
            <a:spAutoFit/>
          </a:bodyPr>
          <a:lstStyle/>
          <a:p>
            <a:r>
              <a:rPr lang="en-US" dirty="0"/>
              <a:t>DNS merger</a:t>
            </a:r>
          </a:p>
        </p:txBody>
      </p:sp>
      <p:sp>
        <p:nvSpPr>
          <p:cNvPr id="30" name="TextBox 29">
            <a:extLst>
              <a:ext uri="{FF2B5EF4-FFF2-40B4-BE49-F238E27FC236}">
                <a16:creationId xmlns:a16="http://schemas.microsoft.com/office/drawing/2014/main" id="{BEFB0184-B38A-2B71-DC7B-0A24E0039B8E}"/>
              </a:ext>
            </a:extLst>
          </p:cNvPr>
          <p:cNvSpPr txBox="1"/>
          <p:nvPr/>
        </p:nvSpPr>
        <p:spPr>
          <a:xfrm>
            <a:off x="9120135" y="1450738"/>
            <a:ext cx="907621" cy="369332"/>
          </a:xfrm>
          <a:prstGeom prst="rect">
            <a:avLst/>
          </a:prstGeom>
          <a:noFill/>
        </p:spPr>
        <p:txBody>
          <a:bodyPr wrap="none" rtlCol="0">
            <a:spAutoFit/>
          </a:bodyPr>
          <a:lstStyle/>
          <a:p>
            <a:r>
              <a:rPr lang="en-US" dirty="0"/>
              <a:t>(USSN)</a:t>
            </a:r>
          </a:p>
        </p:txBody>
      </p:sp>
      <p:pic>
        <p:nvPicPr>
          <p:cNvPr id="31" name="Graphic 30" descr="Arrow: Straight outline">
            <a:extLst>
              <a:ext uri="{FF2B5EF4-FFF2-40B4-BE49-F238E27FC236}">
                <a16:creationId xmlns:a16="http://schemas.microsoft.com/office/drawing/2014/main" id="{3B2E1CAE-C874-85A5-4B18-0FF8EF5223B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1721289" y="2538606"/>
            <a:ext cx="638048" cy="638048"/>
          </a:xfrm>
          <a:prstGeom prst="rect">
            <a:avLst/>
          </a:prstGeom>
        </p:spPr>
      </p:pic>
      <p:pic>
        <p:nvPicPr>
          <p:cNvPr id="32" name="Graphic 31" descr="Arrow: Straight outline">
            <a:extLst>
              <a:ext uri="{FF2B5EF4-FFF2-40B4-BE49-F238E27FC236}">
                <a16:creationId xmlns:a16="http://schemas.microsoft.com/office/drawing/2014/main" id="{55CD170E-A98E-6FDB-504D-E60B056D996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1721289" y="4074366"/>
            <a:ext cx="638048" cy="638048"/>
          </a:xfrm>
          <a:prstGeom prst="rect">
            <a:avLst/>
          </a:prstGeom>
        </p:spPr>
      </p:pic>
      <p:pic>
        <p:nvPicPr>
          <p:cNvPr id="33" name="Graphic 32" descr="Arrow: Straight outline">
            <a:extLst>
              <a:ext uri="{FF2B5EF4-FFF2-40B4-BE49-F238E27FC236}">
                <a16:creationId xmlns:a16="http://schemas.microsoft.com/office/drawing/2014/main" id="{B631D353-F4AD-4771-796B-2878AECEE7C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7639006" y="2549398"/>
            <a:ext cx="638048" cy="638048"/>
          </a:xfrm>
          <a:prstGeom prst="rect">
            <a:avLst/>
          </a:prstGeom>
        </p:spPr>
      </p:pic>
      <p:pic>
        <p:nvPicPr>
          <p:cNvPr id="34" name="Graphic 33" descr="Arrow: Straight outline">
            <a:extLst>
              <a:ext uri="{FF2B5EF4-FFF2-40B4-BE49-F238E27FC236}">
                <a16:creationId xmlns:a16="http://schemas.microsoft.com/office/drawing/2014/main" id="{890A4EDF-B172-4136-D5EC-91F0D7EA533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7679073" y="4168659"/>
            <a:ext cx="638048" cy="638048"/>
          </a:xfrm>
          <a:prstGeom prst="rect">
            <a:avLst/>
          </a:prstGeom>
        </p:spPr>
      </p:pic>
      <p:pic>
        <p:nvPicPr>
          <p:cNvPr id="35" name="Graphic 34" descr="Arrow: Straight outline">
            <a:extLst>
              <a:ext uri="{FF2B5EF4-FFF2-40B4-BE49-F238E27FC236}">
                <a16:creationId xmlns:a16="http://schemas.microsoft.com/office/drawing/2014/main" id="{803AF92E-CA52-9BB9-20B2-C1F055F8030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10265640" y="2533783"/>
            <a:ext cx="638048" cy="638048"/>
          </a:xfrm>
          <a:prstGeom prst="rect">
            <a:avLst/>
          </a:prstGeom>
        </p:spPr>
      </p:pic>
      <p:pic>
        <p:nvPicPr>
          <p:cNvPr id="36" name="Graphic 35" descr="Arrow: Straight outline">
            <a:extLst>
              <a:ext uri="{FF2B5EF4-FFF2-40B4-BE49-F238E27FC236}">
                <a16:creationId xmlns:a16="http://schemas.microsoft.com/office/drawing/2014/main" id="{BBF6A709-4D24-3A51-02DD-C4745FF3102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10330245" y="4168658"/>
            <a:ext cx="638048" cy="638048"/>
          </a:xfrm>
          <a:prstGeom prst="rect">
            <a:avLst/>
          </a:prstGeom>
        </p:spPr>
      </p:pic>
      <p:cxnSp>
        <p:nvCxnSpPr>
          <p:cNvPr id="37" name="Curved Connector 36">
            <a:extLst>
              <a:ext uri="{FF2B5EF4-FFF2-40B4-BE49-F238E27FC236}">
                <a16:creationId xmlns:a16="http://schemas.microsoft.com/office/drawing/2014/main" id="{F19C1E24-BE09-9466-1002-F037E1B1B893}"/>
              </a:ext>
            </a:extLst>
          </p:cNvPr>
          <p:cNvCxnSpPr>
            <a:cxnSpLocks/>
          </p:cNvCxnSpPr>
          <p:nvPr/>
        </p:nvCxnSpPr>
        <p:spPr>
          <a:xfrm rot="10800000" flipV="1">
            <a:off x="3011559" y="2039691"/>
            <a:ext cx="1013090" cy="3331155"/>
          </a:xfrm>
          <a:prstGeom prst="curvedConnector3">
            <a:avLst>
              <a:gd name="adj1" fmla="val 50000"/>
            </a:avLst>
          </a:prstGeom>
          <a:ln w="38100">
            <a:solidFill>
              <a:srgbClr val="C1A5FF"/>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8" name="Curved Connector 37">
            <a:extLst>
              <a:ext uri="{FF2B5EF4-FFF2-40B4-BE49-F238E27FC236}">
                <a16:creationId xmlns:a16="http://schemas.microsoft.com/office/drawing/2014/main" id="{80EF8CA8-C548-C7A8-44D0-3A5DFE09FA0E}"/>
              </a:ext>
            </a:extLst>
          </p:cNvPr>
          <p:cNvCxnSpPr>
            <a:cxnSpLocks/>
          </p:cNvCxnSpPr>
          <p:nvPr/>
        </p:nvCxnSpPr>
        <p:spPr>
          <a:xfrm rot="10800000" flipV="1">
            <a:off x="6163275" y="2084742"/>
            <a:ext cx="1013090" cy="3331155"/>
          </a:xfrm>
          <a:prstGeom prst="curvedConnector3">
            <a:avLst>
              <a:gd name="adj1" fmla="val 50000"/>
            </a:avLst>
          </a:prstGeom>
          <a:ln w="38100">
            <a:solidFill>
              <a:srgbClr val="C1A5FF"/>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9" name="Curved Connector 38">
            <a:extLst>
              <a:ext uri="{FF2B5EF4-FFF2-40B4-BE49-F238E27FC236}">
                <a16:creationId xmlns:a16="http://schemas.microsoft.com/office/drawing/2014/main" id="{31E82964-DD5E-0DA3-D97C-DC3698080986}"/>
              </a:ext>
            </a:extLst>
          </p:cNvPr>
          <p:cNvCxnSpPr>
            <a:cxnSpLocks/>
          </p:cNvCxnSpPr>
          <p:nvPr/>
        </p:nvCxnSpPr>
        <p:spPr>
          <a:xfrm rot="10800000" flipV="1">
            <a:off x="8839772" y="2200964"/>
            <a:ext cx="1013090" cy="3331155"/>
          </a:xfrm>
          <a:prstGeom prst="curvedConnector3">
            <a:avLst>
              <a:gd name="adj1" fmla="val 50000"/>
            </a:avLst>
          </a:prstGeom>
          <a:ln w="38100">
            <a:solidFill>
              <a:srgbClr val="C1A5FF"/>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8F69D087-B646-0F24-B0C5-555A2706E757}"/>
              </a:ext>
            </a:extLst>
          </p:cNvPr>
          <p:cNvSpPr txBox="1"/>
          <p:nvPr/>
        </p:nvSpPr>
        <p:spPr>
          <a:xfrm>
            <a:off x="10982635" y="5928960"/>
            <a:ext cx="678184" cy="369332"/>
          </a:xfrm>
          <a:prstGeom prst="rect">
            <a:avLst/>
          </a:prstGeom>
          <a:noFill/>
        </p:spPr>
        <p:txBody>
          <a:bodyPr wrap="square" rtlCol="0">
            <a:spAutoFit/>
          </a:bodyPr>
          <a:lstStyle/>
          <a:p>
            <a:r>
              <a:rPr lang="en-US" dirty="0"/>
              <a:t>BH</a:t>
            </a:r>
          </a:p>
        </p:txBody>
      </p:sp>
      <p:sp>
        <p:nvSpPr>
          <p:cNvPr id="41" name="Oval 40">
            <a:extLst>
              <a:ext uri="{FF2B5EF4-FFF2-40B4-BE49-F238E27FC236}">
                <a16:creationId xmlns:a16="http://schemas.microsoft.com/office/drawing/2014/main" id="{68AB5D1B-7FF5-74C8-8AAE-561810777FD8}"/>
              </a:ext>
            </a:extLst>
          </p:cNvPr>
          <p:cNvSpPr/>
          <p:nvPr/>
        </p:nvSpPr>
        <p:spPr>
          <a:xfrm>
            <a:off x="7316840" y="1392329"/>
            <a:ext cx="4981064" cy="5493479"/>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lide Number Placeholder 41">
            <a:extLst>
              <a:ext uri="{FF2B5EF4-FFF2-40B4-BE49-F238E27FC236}">
                <a16:creationId xmlns:a16="http://schemas.microsoft.com/office/drawing/2014/main" id="{9C808A79-CD92-AC25-FD38-5A978493772B}"/>
              </a:ext>
            </a:extLst>
          </p:cNvPr>
          <p:cNvSpPr>
            <a:spLocks noGrp="1"/>
          </p:cNvSpPr>
          <p:nvPr>
            <p:ph type="sldNum" sz="quarter" idx="12"/>
          </p:nvPr>
        </p:nvSpPr>
        <p:spPr/>
        <p:txBody>
          <a:bodyPr/>
          <a:lstStyle/>
          <a:p>
            <a:fld id="{CE0A201B-ED89-3E49-8333-B23E6243976D}" type="slidenum">
              <a:rPr lang="en-US" smtClean="0"/>
              <a:t>5</a:t>
            </a:fld>
            <a:endParaRPr lang="en-US"/>
          </a:p>
        </p:txBody>
      </p:sp>
      <p:pic>
        <p:nvPicPr>
          <p:cNvPr id="43" name="Graphic 42" descr="Arrow: Straight outline">
            <a:extLst>
              <a:ext uri="{FF2B5EF4-FFF2-40B4-BE49-F238E27FC236}">
                <a16:creationId xmlns:a16="http://schemas.microsoft.com/office/drawing/2014/main" id="{F2778DD5-648C-C290-76C1-1E631C92A39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4683551" y="2549397"/>
            <a:ext cx="638048" cy="638048"/>
          </a:xfrm>
          <a:prstGeom prst="rect">
            <a:avLst/>
          </a:prstGeom>
        </p:spPr>
      </p:pic>
      <p:pic>
        <p:nvPicPr>
          <p:cNvPr id="44" name="Graphic 43" descr="Arrow: Straight outline">
            <a:extLst>
              <a:ext uri="{FF2B5EF4-FFF2-40B4-BE49-F238E27FC236}">
                <a16:creationId xmlns:a16="http://schemas.microsoft.com/office/drawing/2014/main" id="{0F4DA9BE-7B0C-4B86-1C72-A88FF365591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4670542" y="4056623"/>
            <a:ext cx="638048" cy="638048"/>
          </a:xfrm>
          <a:prstGeom prst="rect">
            <a:avLst/>
          </a:prstGeom>
        </p:spPr>
      </p:pic>
    </p:spTree>
    <p:extLst>
      <p:ext uri="{BB962C8B-B14F-4D97-AF65-F5344CB8AC3E}">
        <p14:creationId xmlns:p14="http://schemas.microsoft.com/office/powerpoint/2010/main" val="3941935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1"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ECC472-C572-21B8-ACE3-A356CAC47D39}"/>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0F1A40B9-AD91-810E-E470-44D1D6CE43D0}"/>
              </a:ext>
            </a:extLst>
          </p:cNvPr>
          <p:cNvSpPr>
            <a:spLocks noGrp="1"/>
          </p:cNvSpPr>
          <p:nvPr>
            <p:ph type="ftr" sz="quarter" idx="11"/>
          </p:nvPr>
        </p:nvSpPr>
        <p:spPr/>
        <p:txBody>
          <a:bodyPr/>
          <a:lstStyle/>
          <a:p>
            <a:r>
              <a:rPr lang="en-US"/>
              <a:t>Binary Stars in a New Era</a:t>
            </a:r>
            <a:endParaRPr lang="en-US" dirty="0"/>
          </a:p>
        </p:txBody>
      </p:sp>
      <p:sp>
        <p:nvSpPr>
          <p:cNvPr id="4" name="TextBox 3">
            <a:extLst>
              <a:ext uri="{FF2B5EF4-FFF2-40B4-BE49-F238E27FC236}">
                <a16:creationId xmlns:a16="http://schemas.microsoft.com/office/drawing/2014/main" id="{A48DC9F3-E818-9E27-F687-83E87AB24317}"/>
              </a:ext>
            </a:extLst>
          </p:cNvPr>
          <p:cNvSpPr txBox="1"/>
          <p:nvPr/>
        </p:nvSpPr>
        <p:spPr>
          <a:xfrm>
            <a:off x="1325217" y="668881"/>
            <a:ext cx="9328054" cy="461665"/>
          </a:xfrm>
          <a:prstGeom prst="rect">
            <a:avLst/>
          </a:prstGeom>
          <a:noFill/>
        </p:spPr>
        <p:txBody>
          <a:bodyPr wrap="square">
            <a:spAutoFit/>
          </a:bodyPr>
          <a:lstStyle/>
          <a:p>
            <a:pPr algn="ctr"/>
            <a:r>
              <a:rPr lang="en-US" sz="2400" dirty="0">
                <a:solidFill>
                  <a:srgbClr val="C1BAFE"/>
                </a:solidFill>
                <a:latin typeface="Seaford Display" pitchFamily="2" charset="0"/>
              </a:rPr>
              <a:t>Alternate Proposed Formation Pathways for Massive Double Neutron Star</a:t>
            </a:r>
          </a:p>
        </p:txBody>
      </p:sp>
      <p:pic>
        <p:nvPicPr>
          <p:cNvPr id="5" name="Picture 4">
            <a:extLst>
              <a:ext uri="{FF2B5EF4-FFF2-40B4-BE49-F238E27FC236}">
                <a16:creationId xmlns:a16="http://schemas.microsoft.com/office/drawing/2014/main" id="{DDB4C93A-846D-4A72-A245-BD8AB602CF9A}"/>
              </a:ext>
            </a:extLst>
          </p:cNvPr>
          <p:cNvPicPr>
            <a:picLocks noChangeAspect="1"/>
          </p:cNvPicPr>
          <p:nvPr/>
        </p:nvPicPr>
        <p:blipFill>
          <a:blip r:embed="rId3"/>
          <a:srcRect t="8038" r="6299"/>
          <a:stretch/>
        </p:blipFill>
        <p:spPr>
          <a:xfrm>
            <a:off x="216649" y="1512465"/>
            <a:ext cx="3116957" cy="3156878"/>
          </a:xfrm>
          <a:prstGeom prst="rect">
            <a:avLst/>
          </a:prstGeom>
        </p:spPr>
      </p:pic>
      <p:pic>
        <p:nvPicPr>
          <p:cNvPr id="6" name="Picture 5">
            <a:extLst>
              <a:ext uri="{FF2B5EF4-FFF2-40B4-BE49-F238E27FC236}">
                <a16:creationId xmlns:a16="http://schemas.microsoft.com/office/drawing/2014/main" id="{BD03CA5C-14BA-02C4-125B-6BBBE45C5DD1}"/>
              </a:ext>
            </a:extLst>
          </p:cNvPr>
          <p:cNvPicPr>
            <a:picLocks noChangeAspect="1"/>
          </p:cNvPicPr>
          <p:nvPr/>
        </p:nvPicPr>
        <p:blipFill rotWithShape="1">
          <a:blip r:embed="rId4"/>
          <a:srcRect r="1304"/>
          <a:stretch/>
        </p:blipFill>
        <p:spPr>
          <a:xfrm>
            <a:off x="4179026" y="1827257"/>
            <a:ext cx="3044528" cy="3084774"/>
          </a:xfrm>
          <a:prstGeom prst="rect">
            <a:avLst/>
          </a:prstGeom>
        </p:spPr>
      </p:pic>
      <p:sp>
        <p:nvSpPr>
          <p:cNvPr id="7" name="TextBox 6">
            <a:extLst>
              <a:ext uri="{FF2B5EF4-FFF2-40B4-BE49-F238E27FC236}">
                <a16:creationId xmlns:a16="http://schemas.microsoft.com/office/drawing/2014/main" id="{66A09D1D-FD86-0276-8A45-132DE1CA7D09}"/>
              </a:ext>
            </a:extLst>
          </p:cNvPr>
          <p:cNvSpPr txBox="1"/>
          <p:nvPr/>
        </p:nvSpPr>
        <p:spPr>
          <a:xfrm>
            <a:off x="3698761" y="4681199"/>
            <a:ext cx="2046991" cy="461665"/>
          </a:xfrm>
          <a:prstGeom prst="rect">
            <a:avLst/>
          </a:prstGeom>
          <a:noFill/>
        </p:spPr>
        <p:txBody>
          <a:bodyPr wrap="square" rtlCol="0">
            <a:spAutoFit/>
          </a:bodyPr>
          <a:lstStyle/>
          <a:p>
            <a:r>
              <a:rPr lang="en-US" sz="1200" dirty="0"/>
              <a:t>Vigna Gómez et al. (2021)</a:t>
            </a:r>
          </a:p>
        </p:txBody>
      </p:sp>
      <p:sp>
        <p:nvSpPr>
          <p:cNvPr id="8" name="TextBox 7">
            <a:extLst>
              <a:ext uri="{FF2B5EF4-FFF2-40B4-BE49-F238E27FC236}">
                <a16:creationId xmlns:a16="http://schemas.microsoft.com/office/drawing/2014/main" id="{E1352895-C824-032B-3A88-347AF1984CBB}"/>
              </a:ext>
            </a:extLst>
          </p:cNvPr>
          <p:cNvSpPr txBox="1"/>
          <p:nvPr/>
        </p:nvSpPr>
        <p:spPr>
          <a:xfrm>
            <a:off x="121519" y="4681199"/>
            <a:ext cx="1436096" cy="461665"/>
          </a:xfrm>
          <a:prstGeom prst="rect">
            <a:avLst/>
          </a:prstGeom>
          <a:noFill/>
        </p:spPr>
        <p:txBody>
          <a:bodyPr wrap="square" rtlCol="0">
            <a:spAutoFit/>
          </a:bodyPr>
          <a:lstStyle/>
          <a:p>
            <a:r>
              <a:rPr lang="en-US" sz="1200" dirty="0"/>
              <a:t>B.P. Abbott et al. (2020)</a:t>
            </a:r>
          </a:p>
        </p:txBody>
      </p:sp>
      <p:sp>
        <p:nvSpPr>
          <p:cNvPr id="9" name="TextBox 8">
            <a:extLst>
              <a:ext uri="{FF2B5EF4-FFF2-40B4-BE49-F238E27FC236}">
                <a16:creationId xmlns:a16="http://schemas.microsoft.com/office/drawing/2014/main" id="{BA8CD9F4-F547-2AD9-2AD1-CFA97B5C4CF7}"/>
              </a:ext>
            </a:extLst>
          </p:cNvPr>
          <p:cNvSpPr txBox="1"/>
          <p:nvPr/>
        </p:nvSpPr>
        <p:spPr>
          <a:xfrm>
            <a:off x="8010119" y="2228997"/>
            <a:ext cx="3557587" cy="2523768"/>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rgbClr val="FF0000"/>
                </a:solidFill>
              </a:rPr>
              <a:t>Formation at lower metallicities </a:t>
            </a:r>
            <a:r>
              <a:rPr lang="en-US" dirty="0"/>
              <a:t>- </a:t>
            </a:r>
            <a:r>
              <a:rPr lang="en-AU" sz="1600" dirty="0" err="1">
                <a:latin typeface="Arial" panose="020B0604020202020204" pitchFamily="34" charset="0"/>
              </a:rPr>
              <a:t>Giacobbo</a:t>
            </a:r>
            <a:r>
              <a:rPr lang="en-AU" sz="1600" dirty="0">
                <a:latin typeface="Arial" panose="020B0604020202020204" pitchFamily="34" charset="0"/>
              </a:rPr>
              <a:t> &amp; Mapelli (2018) </a:t>
            </a:r>
            <a:endParaRPr lang="en-US" sz="1600"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solidFill>
                  <a:srgbClr val="FF0000"/>
                </a:solidFill>
              </a:rPr>
              <a:t>Super-Eddington accretion - </a:t>
            </a:r>
            <a:r>
              <a:rPr lang="en-US" sz="1600" dirty="0"/>
              <a:t>Zhang et al. (2023)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solidFill>
                  <a:srgbClr val="FF0000"/>
                </a:solidFill>
              </a:rPr>
              <a:t>Massive first- born NS </a:t>
            </a:r>
            <a:r>
              <a:rPr lang="en-US" dirty="0">
                <a:solidFill>
                  <a:srgbClr val="FF0000"/>
                </a:solidFill>
              </a:rPr>
              <a:t>- </a:t>
            </a:r>
            <a:r>
              <a:rPr lang="en-AU" sz="1600" dirty="0">
                <a:latin typeface="Arial" panose="020B0604020202020204" pitchFamily="34" charset="0"/>
              </a:rPr>
              <a:t>Qin et al (2024) </a:t>
            </a:r>
            <a:endParaRPr lang="en-US" sz="1600" dirty="0"/>
          </a:p>
        </p:txBody>
      </p:sp>
      <p:sp>
        <p:nvSpPr>
          <p:cNvPr id="10" name="TextBox 9">
            <a:extLst>
              <a:ext uri="{FF2B5EF4-FFF2-40B4-BE49-F238E27FC236}">
                <a16:creationId xmlns:a16="http://schemas.microsoft.com/office/drawing/2014/main" id="{BB3E18EB-D033-584F-10CB-AA8F2D7ED284}"/>
              </a:ext>
            </a:extLst>
          </p:cNvPr>
          <p:cNvSpPr txBox="1"/>
          <p:nvPr/>
        </p:nvSpPr>
        <p:spPr>
          <a:xfrm>
            <a:off x="8738353" y="1402721"/>
            <a:ext cx="2438488" cy="369332"/>
          </a:xfrm>
          <a:prstGeom prst="rect">
            <a:avLst/>
          </a:prstGeom>
          <a:noFill/>
        </p:spPr>
        <p:txBody>
          <a:bodyPr wrap="none" rtlCol="0">
            <a:spAutoFit/>
          </a:bodyPr>
          <a:lstStyle/>
          <a:p>
            <a:r>
              <a:rPr lang="en-US" b="1" dirty="0"/>
              <a:t>Other uncertainties</a:t>
            </a:r>
            <a:r>
              <a:rPr lang="en-US" dirty="0"/>
              <a:t>:</a:t>
            </a:r>
          </a:p>
        </p:txBody>
      </p:sp>
      <p:sp>
        <p:nvSpPr>
          <p:cNvPr id="11" name="Rectangle 10">
            <a:extLst>
              <a:ext uri="{FF2B5EF4-FFF2-40B4-BE49-F238E27FC236}">
                <a16:creationId xmlns:a16="http://schemas.microsoft.com/office/drawing/2014/main" id="{96712A10-FCD8-6BED-D3A2-B771420A9ADC}"/>
              </a:ext>
            </a:extLst>
          </p:cNvPr>
          <p:cNvSpPr/>
          <p:nvPr/>
        </p:nvSpPr>
        <p:spPr>
          <a:xfrm>
            <a:off x="1325217" y="5313012"/>
            <a:ext cx="9119969" cy="729042"/>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1C4BB4D-DF78-7293-367A-88813042AB94}"/>
              </a:ext>
            </a:extLst>
          </p:cNvPr>
          <p:cNvSpPr txBox="1"/>
          <p:nvPr/>
        </p:nvSpPr>
        <p:spPr>
          <a:xfrm>
            <a:off x="1420455" y="5356719"/>
            <a:ext cx="9024731" cy="707886"/>
          </a:xfrm>
          <a:prstGeom prst="rect">
            <a:avLst/>
          </a:prstGeom>
          <a:noFill/>
        </p:spPr>
        <p:txBody>
          <a:bodyPr wrap="square" rtlCol="0">
            <a:spAutoFit/>
          </a:bodyPr>
          <a:lstStyle/>
          <a:p>
            <a:pPr algn="ctr"/>
            <a:r>
              <a:rPr lang="en-US" sz="2000" b="1" dirty="0">
                <a:latin typeface="Seaford Display" pitchFamily="2" charset="0"/>
              </a:rPr>
              <a:t>No self-consistent unbiased formation pathway for heavy double neutron stars formation</a:t>
            </a:r>
          </a:p>
        </p:txBody>
      </p:sp>
      <p:cxnSp>
        <p:nvCxnSpPr>
          <p:cNvPr id="13" name="Straight Connector 12">
            <a:extLst>
              <a:ext uri="{FF2B5EF4-FFF2-40B4-BE49-F238E27FC236}">
                <a16:creationId xmlns:a16="http://schemas.microsoft.com/office/drawing/2014/main" id="{5CBAFE93-908A-A1BE-2E7D-4F63BF2CDAF0}"/>
              </a:ext>
            </a:extLst>
          </p:cNvPr>
          <p:cNvCxnSpPr>
            <a:cxnSpLocks/>
          </p:cNvCxnSpPr>
          <p:nvPr/>
        </p:nvCxnSpPr>
        <p:spPr>
          <a:xfrm flipH="1">
            <a:off x="3623009" y="1295248"/>
            <a:ext cx="12887" cy="4236122"/>
          </a:xfrm>
          <a:prstGeom prst="line">
            <a:avLst/>
          </a:prstGeom>
          <a:ln>
            <a:solidFill>
              <a:srgbClr val="8C5693"/>
            </a:solidFill>
            <a:prstDash val="sys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0331AE3-DB07-3886-7DFD-849DEE222008}"/>
                  </a:ext>
                </a:extLst>
              </p:cNvPr>
              <p:cNvSpPr txBox="1"/>
              <p:nvPr/>
            </p:nvSpPr>
            <p:spPr>
              <a:xfrm>
                <a:off x="4846840" y="1494204"/>
                <a:ext cx="1519015" cy="461665"/>
              </a:xfrm>
              <a:prstGeom prst="rect">
                <a:avLst/>
              </a:prstGeom>
              <a:noFill/>
            </p:spPr>
            <p:txBody>
              <a:bodyPr wrap="square" rtlCol="0">
                <a:spAutoFit/>
              </a:bodyPr>
              <a:lstStyle/>
              <a:p>
                <a:r>
                  <a:rPr lang="en-US" sz="1200" dirty="0">
                    <a:solidFill>
                      <a:srgbClr val="FF0000"/>
                    </a:solidFill>
                  </a:rPr>
                  <a:t>Massive helium star </a:t>
                </a:r>
                <a14:m>
                  <m:oMath xmlns:m="http://schemas.openxmlformats.org/officeDocument/2006/math">
                    <m:r>
                      <a:rPr lang="en-AU" sz="1200" b="0" i="1" smtClean="0">
                        <a:solidFill>
                          <a:srgbClr val="FF0000"/>
                        </a:solidFill>
                        <a:latin typeface="Cambria Math" panose="02040503050406030204" pitchFamily="18" charset="0"/>
                      </a:rPr>
                      <m:t>&gt;9</m:t>
                    </m:r>
                    <m:r>
                      <m:rPr>
                        <m:nor/>
                      </m:rPr>
                      <a:rPr lang="en-AU" sz="1200" i="1" dirty="0" smtClean="0">
                        <a:solidFill>
                          <a:srgbClr val="FF0000"/>
                        </a:solidFill>
                      </a:rPr>
                      <m:t>M</m:t>
                    </m:r>
                    <m:r>
                      <m:rPr>
                        <m:nor/>
                      </m:rPr>
                      <a:rPr lang="en-AU" sz="1200" baseline="-25000" dirty="0" smtClean="0">
                        <a:solidFill>
                          <a:srgbClr val="FF0000"/>
                        </a:solidFill>
                      </a:rPr>
                      <m:t>☉</m:t>
                    </m:r>
                  </m:oMath>
                </a14:m>
                <a:endParaRPr lang="en-US" sz="1200" dirty="0">
                  <a:solidFill>
                    <a:srgbClr val="FF0000"/>
                  </a:solidFill>
                </a:endParaRPr>
              </a:p>
            </p:txBody>
          </p:sp>
        </mc:Choice>
        <mc:Fallback xmlns="">
          <p:sp>
            <p:nvSpPr>
              <p:cNvPr id="14" name="TextBox 13">
                <a:extLst>
                  <a:ext uri="{FF2B5EF4-FFF2-40B4-BE49-F238E27FC236}">
                    <a16:creationId xmlns:a16="http://schemas.microsoft.com/office/drawing/2014/main" id="{A0331AE3-DB07-3886-7DFD-849DEE222008}"/>
                  </a:ext>
                </a:extLst>
              </p:cNvPr>
              <p:cNvSpPr txBox="1">
                <a:spLocks noRot="1" noChangeAspect="1" noMove="1" noResize="1" noEditPoints="1" noAdjustHandles="1" noChangeArrowheads="1" noChangeShapeType="1" noTextEdit="1"/>
              </p:cNvSpPr>
              <p:nvPr/>
            </p:nvSpPr>
            <p:spPr>
              <a:xfrm>
                <a:off x="4846840" y="1494204"/>
                <a:ext cx="1519015" cy="461665"/>
              </a:xfrm>
              <a:prstGeom prst="rect">
                <a:avLst/>
              </a:prstGeom>
              <a:blipFill>
                <a:blip r:embed="rId5"/>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003FA345-4388-3E9A-B632-6DCFC0E4029C}"/>
              </a:ext>
            </a:extLst>
          </p:cNvPr>
          <p:cNvSpPr txBox="1"/>
          <p:nvPr/>
        </p:nvSpPr>
        <p:spPr>
          <a:xfrm>
            <a:off x="4013382" y="2629337"/>
            <a:ext cx="537440" cy="276999"/>
          </a:xfrm>
          <a:prstGeom prst="rect">
            <a:avLst/>
          </a:prstGeom>
          <a:noFill/>
        </p:spPr>
        <p:txBody>
          <a:bodyPr wrap="square" rtlCol="0">
            <a:spAutoFit/>
          </a:bodyPr>
          <a:lstStyle/>
          <a:p>
            <a:r>
              <a:rPr lang="en-US" sz="1200" dirty="0"/>
              <a:t>NS</a:t>
            </a:r>
          </a:p>
        </p:txBody>
      </p:sp>
      <p:sp>
        <p:nvSpPr>
          <p:cNvPr id="16" name="TextBox 15">
            <a:extLst>
              <a:ext uri="{FF2B5EF4-FFF2-40B4-BE49-F238E27FC236}">
                <a16:creationId xmlns:a16="http://schemas.microsoft.com/office/drawing/2014/main" id="{318F72FF-2DA2-17B2-E299-ECFECC36A125}"/>
              </a:ext>
            </a:extLst>
          </p:cNvPr>
          <p:cNvSpPr txBox="1"/>
          <p:nvPr/>
        </p:nvSpPr>
        <p:spPr>
          <a:xfrm>
            <a:off x="5885201" y="2214402"/>
            <a:ext cx="2057571" cy="276999"/>
          </a:xfrm>
          <a:prstGeom prst="rect">
            <a:avLst/>
          </a:prstGeom>
          <a:noFill/>
        </p:spPr>
        <p:txBody>
          <a:bodyPr wrap="square" rtlCol="0">
            <a:spAutoFit/>
          </a:bodyPr>
          <a:lstStyle/>
          <a:p>
            <a:r>
              <a:rPr lang="en-US" sz="1200" b="1" dirty="0">
                <a:solidFill>
                  <a:srgbClr val="FF0000"/>
                </a:solidFill>
              </a:rPr>
              <a:t>No mass transfer</a:t>
            </a:r>
          </a:p>
        </p:txBody>
      </p:sp>
      <p:sp>
        <p:nvSpPr>
          <p:cNvPr id="17" name="TextBox 16">
            <a:extLst>
              <a:ext uri="{FF2B5EF4-FFF2-40B4-BE49-F238E27FC236}">
                <a16:creationId xmlns:a16="http://schemas.microsoft.com/office/drawing/2014/main" id="{DB49EB29-DC21-6DBD-0B59-8224A7F5C84A}"/>
              </a:ext>
            </a:extLst>
          </p:cNvPr>
          <p:cNvSpPr txBox="1"/>
          <p:nvPr/>
        </p:nvSpPr>
        <p:spPr>
          <a:xfrm>
            <a:off x="749723" y="1718379"/>
            <a:ext cx="995241" cy="646331"/>
          </a:xfrm>
          <a:prstGeom prst="rect">
            <a:avLst/>
          </a:prstGeom>
          <a:noFill/>
        </p:spPr>
        <p:txBody>
          <a:bodyPr wrap="square" rtlCol="0">
            <a:spAutoFit/>
          </a:bodyPr>
          <a:lstStyle/>
          <a:p>
            <a:r>
              <a:rPr lang="en-US" sz="1200" b="1" dirty="0">
                <a:solidFill>
                  <a:srgbClr val="FF0000"/>
                </a:solidFill>
              </a:rPr>
              <a:t>Unstable mass transfer</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0A66996-1AA4-9600-194C-6011962BD0E2}"/>
                  </a:ext>
                </a:extLst>
              </p:cNvPr>
              <p:cNvSpPr txBox="1"/>
              <p:nvPr/>
            </p:nvSpPr>
            <p:spPr>
              <a:xfrm>
                <a:off x="2632157" y="3125117"/>
                <a:ext cx="990852" cy="461665"/>
              </a:xfrm>
              <a:prstGeom prst="rect">
                <a:avLst/>
              </a:prstGeom>
              <a:noFill/>
            </p:spPr>
            <p:txBody>
              <a:bodyPr wrap="square" rtlCol="0">
                <a:spAutoFit/>
              </a:bodyPr>
              <a:lstStyle/>
              <a:p>
                <a:r>
                  <a:rPr lang="en-US" sz="1200" dirty="0"/>
                  <a:t>Tight orbit </a:t>
                </a:r>
                <a14:m>
                  <m:oMath xmlns:m="http://schemas.openxmlformats.org/officeDocument/2006/math">
                    <m:sSub>
                      <m:sSubPr>
                        <m:ctrlPr>
                          <a:rPr lang="en-AU" sz="1200" b="0" i="1" smtClean="0">
                            <a:latin typeface="Cambria Math" panose="02040503050406030204" pitchFamily="18" charset="0"/>
                          </a:rPr>
                        </m:ctrlPr>
                      </m:sSubPr>
                      <m:e>
                        <m:r>
                          <a:rPr lang="en-AU" sz="1200" b="0" i="1" smtClean="0">
                            <a:latin typeface="Cambria Math" panose="02040503050406030204" pitchFamily="18" charset="0"/>
                          </a:rPr>
                          <m:t>𝑃</m:t>
                        </m:r>
                      </m:e>
                      <m:sub>
                        <m:r>
                          <a:rPr lang="en-AU" sz="1200" b="0" i="1" smtClean="0">
                            <a:latin typeface="Cambria Math" panose="02040503050406030204" pitchFamily="18" charset="0"/>
                          </a:rPr>
                          <m:t>𝑜𝑟𝑏</m:t>
                        </m:r>
                      </m:sub>
                    </m:sSub>
                    <m:r>
                      <a:rPr lang="en-AU" sz="1200" b="0" i="0" smtClean="0">
                        <a:latin typeface="Cambria Math" panose="02040503050406030204" pitchFamily="18" charset="0"/>
                      </a:rPr>
                      <m:t>&lt;</m:t>
                    </m:r>
                    <m:r>
                      <m:rPr>
                        <m:sty m:val="p"/>
                      </m:rPr>
                      <a:rPr lang="en-AU" sz="1200" b="0" i="0" smtClean="0">
                        <a:latin typeface="Cambria Math" panose="02040503050406030204" pitchFamily="18" charset="0"/>
                      </a:rPr>
                      <m:t>Hr</m:t>
                    </m:r>
                  </m:oMath>
                </a14:m>
                <a:endParaRPr lang="en-AU" sz="1200" b="0" dirty="0"/>
              </a:p>
            </p:txBody>
          </p:sp>
        </mc:Choice>
        <mc:Fallback xmlns="">
          <p:sp>
            <p:nvSpPr>
              <p:cNvPr id="18" name="TextBox 17">
                <a:extLst>
                  <a:ext uri="{FF2B5EF4-FFF2-40B4-BE49-F238E27FC236}">
                    <a16:creationId xmlns:a16="http://schemas.microsoft.com/office/drawing/2014/main" id="{60A66996-1AA4-9600-194C-6011962BD0E2}"/>
                  </a:ext>
                </a:extLst>
              </p:cNvPr>
              <p:cNvSpPr txBox="1">
                <a:spLocks noRot="1" noChangeAspect="1" noMove="1" noResize="1" noEditPoints="1" noAdjustHandles="1" noChangeArrowheads="1" noChangeShapeType="1" noTextEdit="1"/>
              </p:cNvSpPr>
              <p:nvPr/>
            </p:nvSpPr>
            <p:spPr>
              <a:xfrm>
                <a:off x="2632157" y="3125117"/>
                <a:ext cx="990852" cy="461665"/>
              </a:xfrm>
              <a:prstGeom prst="rect">
                <a:avLst/>
              </a:prstGeom>
              <a:blipFill>
                <a:blip r:embed="rId6"/>
                <a:stretch>
                  <a:fillRect t="-2703"/>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F22A5C61-949C-F76C-C91A-35825A8B5DBB}"/>
              </a:ext>
            </a:extLst>
          </p:cNvPr>
          <p:cNvCxnSpPr>
            <a:cxnSpLocks/>
          </p:cNvCxnSpPr>
          <p:nvPr/>
        </p:nvCxnSpPr>
        <p:spPr>
          <a:xfrm>
            <a:off x="7716203" y="1384655"/>
            <a:ext cx="0" cy="4146715"/>
          </a:xfrm>
          <a:prstGeom prst="line">
            <a:avLst/>
          </a:prstGeom>
          <a:ln>
            <a:solidFill>
              <a:srgbClr val="8C5693"/>
            </a:solidFill>
            <a:prstDash val="sysDash"/>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4BB2F413-2DC5-981D-35EF-1E090F19F88A}"/>
              </a:ext>
            </a:extLst>
          </p:cNvPr>
          <p:cNvSpPr txBox="1"/>
          <p:nvPr/>
        </p:nvSpPr>
        <p:spPr>
          <a:xfrm>
            <a:off x="3106016" y="1797390"/>
            <a:ext cx="454127" cy="307777"/>
          </a:xfrm>
          <a:prstGeom prst="rect">
            <a:avLst/>
          </a:prstGeom>
          <a:noFill/>
        </p:spPr>
        <p:txBody>
          <a:bodyPr wrap="square" rtlCol="0">
            <a:spAutoFit/>
          </a:bodyPr>
          <a:lstStyle/>
          <a:p>
            <a:r>
              <a:rPr lang="en-US" sz="1400" dirty="0"/>
              <a:t>He</a:t>
            </a:r>
          </a:p>
        </p:txBody>
      </p:sp>
      <p:sp>
        <p:nvSpPr>
          <p:cNvPr id="21" name="TextBox 20">
            <a:extLst>
              <a:ext uri="{FF2B5EF4-FFF2-40B4-BE49-F238E27FC236}">
                <a16:creationId xmlns:a16="http://schemas.microsoft.com/office/drawing/2014/main" id="{2C6DAD41-C700-DCBB-2431-6B7F1002C99C}"/>
              </a:ext>
            </a:extLst>
          </p:cNvPr>
          <p:cNvSpPr txBox="1"/>
          <p:nvPr/>
        </p:nvSpPr>
        <p:spPr>
          <a:xfrm>
            <a:off x="1710374" y="1295264"/>
            <a:ext cx="407484" cy="307777"/>
          </a:xfrm>
          <a:prstGeom prst="rect">
            <a:avLst/>
          </a:prstGeom>
          <a:noFill/>
        </p:spPr>
        <p:txBody>
          <a:bodyPr wrap="none" rtlCol="0">
            <a:spAutoFit/>
          </a:bodyPr>
          <a:lstStyle/>
          <a:p>
            <a:r>
              <a:rPr lang="en-US" sz="1400" dirty="0"/>
              <a:t>NS</a:t>
            </a:r>
          </a:p>
        </p:txBody>
      </p:sp>
      <p:sp>
        <p:nvSpPr>
          <p:cNvPr id="22" name="Slide Number Placeholder 21">
            <a:extLst>
              <a:ext uri="{FF2B5EF4-FFF2-40B4-BE49-F238E27FC236}">
                <a16:creationId xmlns:a16="http://schemas.microsoft.com/office/drawing/2014/main" id="{AF629F17-43E2-69DB-899B-6117E02F9C01}"/>
              </a:ext>
            </a:extLst>
          </p:cNvPr>
          <p:cNvSpPr>
            <a:spLocks noGrp="1"/>
          </p:cNvSpPr>
          <p:nvPr>
            <p:ph type="sldNum" sz="quarter" idx="12"/>
          </p:nvPr>
        </p:nvSpPr>
        <p:spPr/>
        <p:txBody>
          <a:bodyPr/>
          <a:lstStyle/>
          <a:p>
            <a:fld id="{CE0A201B-ED89-3E49-8333-B23E6243976D}" type="slidenum">
              <a:rPr lang="en-US" smtClean="0"/>
              <a:t>6</a:t>
            </a:fld>
            <a:endParaRPr lang="en-US"/>
          </a:p>
        </p:txBody>
      </p:sp>
    </p:spTree>
    <p:extLst>
      <p:ext uri="{BB962C8B-B14F-4D97-AF65-F5344CB8AC3E}">
        <p14:creationId xmlns:p14="http://schemas.microsoft.com/office/powerpoint/2010/main" val="2946234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12" grpId="0"/>
      <p:bldP spid="20"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9865D9-6337-4D2D-2A0B-AD94B0B5AB9D}"/>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90BE709D-F994-7A86-91BD-5F98E0EA0D25}"/>
              </a:ext>
            </a:extLst>
          </p:cNvPr>
          <p:cNvSpPr>
            <a:spLocks noGrp="1"/>
          </p:cNvSpPr>
          <p:nvPr>
            <p:ph type="ftr" sz="quarter" idx="11"/>
          </p:nvPr>
        </p:nvSpPr>
        <p:spPr/>
        <p:txBody>
          <a:bodyPr/>
          <a:lstStyle/>
          <a:p>
            <a:r>
              <a:rPr lang="en-US"/>
              <a:t>Binary Stars in a New Era</a:t>
            </a:r>
            <a:endParaRPr lang="en-US" dirty="0"/>
          </a:p>
        </p:txBody>
      </p:sp>
      <p:pic>
        <p:nvPicPr>
          <p:cNvPr id="4" name="Picture 3">
            <a:extLst>
              <a:ext uri="{FF2B5EF4-FFF2-40B4-BE49-F238E27FC236}">
                <a16:creationId xmlns:a16="http://schemas.microsoft.com/office/drawing/2014/main" id="{1A25F5C3-1C39-876E-9C83-45379121761B}"/>
              </a:ext>
            </a:extLst>
          </p:cNvPr>
          <p:cNvPicPr>
            <a:picLocks noChangeAspect="1"/>
          </p:cNvPicPr>
          <p:nvPr/>
        </p:nvPicPr>
        <p:blipFill>
          <a:blip r:embed="rId3"/>
          <a:srcRect t="8208"/>
          <a:stretch>
            <a:fillRect/>
          </a:stretch>
        </p:blipFill>
        <p:spPr>
          <a:xfrm>
            <a:off x="6324724" y="1829460"/>
            <a:ext cx="2829339" cy="2597091"/>
          </a:xfrm>
          <a:prstGeom prst="rect">
            <a:avLst/>
          </a:prstGeom>
        </p:spPr>
      </p:pic>
      <p:pic>
        <p:nvPicPr>
          <p:cNvPr id="5" name="Picture 4">
            <a:extLst>
              <a:ext uri="{FF2B5EF4-FFF2-40B4-BE49-F238E27FC236}">
                <a16:creationId xmlns:a16="http://schemas.microsoft.com/office/drawing/2014/main" id="{E1C6A4A8-AAA1-7026-6603-8D0D4A758C6B}"/>
              </a:ext>
            </a:extLst>
          </p:cNvPr>
          <p:cNvPicPr>
            <a:picLocks noChangeAspect="1"/>
          </p:cNvPicPr>
          <p:nvPr/>
        </p:nvPicPr>
        <p:blipFill>
          <a:blip r:embed="rId4"/>
          <a:stretch>
            <a:fillRect/>
          </a:stretch>
        </p:blipFill>
        <p:spPr>
          <a:xfrm>
            <a:off x="599810" y="1656187"/>
            <a:ext cx="2350211" cy="2350211"/>
          </a:xfrm>
          <a:prstGeom prst="rect">
            <a:avLst/>
          </a:prstGeom>
        </p:spPr>
      </p:pic>
      <p:pic>
        <p:nvPicPr>
          <p:cNvPr id="6" name="Picture 5">
            <a:extLst>
              <a:ext uri="{FF2B5EF4-FFF2-40B4-BE49-F238E27FC236}">
                <a16:creationId xmlns:a16="http://schemas.microsoft.com/office/drawing/2014/main" id="{2F54B0BB-0CD3-0195-8294-99DD7B7D8B73}"/>
              </a:ext>
            </a:extLst>
          </p:cNvPr>
          <p:cNvPicPr>
            <a:picLocks noChangeAspect="1"/>
          </p:cNvPicPr>
          <p:nvPr/>
        </p:nvPicPr>
        <p:blipFill>
          <a:blip r:embed="rId5"/>
          <a:stretch>
            <a:fillRect/>
          </a:stretch>
        </p:blipFill>
        <p:spPr>
          <a:xfrm>
            <a:off x="3608337" y="1498610"/>
            <a:ext cx="2409845" cy="2409845"/>
          </a:xfrm>
          <a:prstGeom prst="rect">
            <a:avLst/>
          </a:prstGeom>
        </p:spPr>
      </p:pic>
      <p:pic>
        <p:nvPicPr>
          <p:cNvPr id="7" name="Picture 6">
            <a:extLst>
              <a:ext uri="{FF2B5EF4-FFF2-40B4-BE49-F238E27FC236}">
                <a16:creationId xmlns:a16="http://schemas.microsoft.com/office/drawing/2014/main" id="{3616EAB4-7CD2-49C6-F4F3-12C30F3995C7}"/>
              </a:ext>
            </a:extLst>
          </p:cNvPr>
          <p:cNvPicPr>
            <a:picLocks noChangeAspect="1"/>
          </p:cNvPicPr>
          <p:nvPr/>
        </p:nvPicPr>
        <p:blipFill>
          <a:blip r:embed="rId6"/>
          <a:stretch>
            <a:fillRect/>
          </a:stretch>
        </p:blipFill>
        <p:spPr>
          <a:xfrm>
            <a:off x="9265481" y="2385429"/>
            <a:ext cx="2708417" cy="2708417"/>
          </a:xfrm>
          <a:prstGeom prst="rect">
            <a:avLst/>
          </a:prstGeom>
        </p:spPr>
      </p:pic>
      <p:cxnSp>
        <p:nvCxnSpPr>
          <p:cNvPr id="8" name="Straight Connector 7">
            <a:extLst>
              <a:ext uri="{FF2B5EF4-FFF2-40B4-BE49-F238E27FC236}">
                <a16:creationId xmlns:a16="http://schemas.microsoft.com/office/drawing/2014/main" id="{0A42FE46-5FCA-CDAD-BEEC-F4E8329B3919}"/>
              </a:ext>
            </a:extLst>
          </p:cNvPr>
          <p:cNvCxnSpPr>
            <a:cxnSpLocks/>
          </p:cNvCxnSpPr>
          <p:nvPr/>
        </p:nvCxnSpPr>
        <p:spPr>
          <a:xfrm>
            <a:off x="4806633" y="3654022"/>
            <a:ext cx="6626" cy="514395"/>
          </a:xfrm>
          <a:prstGeom prst="line">
            <a:avLst/>
          </a:prstGeom>
          <a:ln w="44450">
            <a:solidFill>
              <a:schemeClr val="accent5">
                <a:lumMod val="40000"/>
                <a:lumOff val="60000"/>
              </a:schemeClr>
            </a:solidFill>
            <a:round/>
            <a:headEnd type="none"/>
            <a:tailEnd type="ova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1A70CA3-7E38-AE80-D1B1-EC789E444390}"/>
              </a:ext>
            </a:extLst>
          </p:cNvPr>
          <p:cNvCxnSpPr/>
          <p:nvPr/>
        </p:nvCxnSpPr>
        <p:spPr>
          <a:xfrm flipV="1">
            <a:off x="10633705" y="1894990"/>
            <a:ext cx="0" cy="490439"/>
          </a:xfrm>
          <a:prstGeom prst="line">
            <a:avLst/>
          </a:prstGeom>
          <a:ln w="44450">
            <a:solidFill>
              <a:schemeClr val="accent5">
                <a:lumMod val="40000"/>
                <a:lumOff val="60000"/>
              </a:schemeClr>
            </a:solidFill>
            <a:round/>
            <a:headEnd type="none"/>
            <a:tailEnd type="ova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31289E9-A2F5-41BA-7EC2-E95A2C7FDCBD}"/>
              </a:ext>
            </a:extLst>
          </p:cNvPr>
          <p:cNvSpPr txBox="1"/>
          <p:nvPr/>
        </p:nvSpPr>
        <p:spPr>
          <a:xfrm>
            <a:off x="3442824" y="4330685"/>
            <a:ext cx="2966299" cy="646331"/>
          </a:xfrm>
          <a:prstGeom prst="rect">
            <a:avLst/>
          </a:prstGeom>
          <a:noFill/>
        </p:spPr>
        <p:txBody>
          <a:bodyPr wrap="square" rtlCol="0">
            <a:spAutoFit/>
          </a:bodyPr>
          <a:lstStyle/>
          <a:p>
            <a:pPr algn="ctr"/>
            <a:r>
              <a:rPr lang="en-US" b="1" dirty="0">
                <a:latin typeface="Seaford Display" pitchFamily="2" charset="0"/>
              </a:rPr>
              <a:t>Incorporating supernova and kick prescription</a:t>
            </a:r>
          </a:p>
        </p:txBody>
      </p:sp>
      <p:sp>
        <p:nvSpPr>
          <p:cNvPr id="11" name="TextBox 10">
            <a:extLst>
              <a:ext uri="{FF2B5EF4-FFF2-40B4-BE49-F238E27FC236}">
                <a16:creationId xmlns:a16="http://schemas.microsoft.com/office/drawing/2014/main" id="{023A3BA9-0ED0-1847-4C3F-D69126A2634D}"/>
              </a:ext>
            </a:extLst>
          </p:cNvPr>
          <p:cNvSpPr txBox="1"/>
          <p:nvPr/>
        </p:nvSpPr>
        <p:spPr>
          <a:xfrm>
            <a:off x="9297210" y="1143439"/>
            <a:ext cx="2512713" cy="646331"/>
          </a:xfrm>
          <a:prstGeom prst="rect">
            <a:avLst/>
          </a:prstGeom>
          <a:noFill/>
        </p:spPr>
        <p:txBody>
          <a:bodyPr wrap="square" rtlCol="0">
            <a:spAutoFit/>
          </a:bodyPr>
          <a:lstStyle/>
          <a:p>
            <a:pPr algn="ctr"/>
            <a:r>
              <a:rPr lang="en-US" b="1" dirty="0">
                <a:latin typeface="Seaford Display" pitchFamily="2" charset="0"/>
              </a:rPr>
              <a:t>Gravitational-wave merger timescale</a:t>
            </a:r>
          </a:p>
        </p:txBody>
      </p:sp>
      <p:sp>
        <p:nvSpPr>
          <p:cNvPr id="12" name="TextBox 11">
            <a:extLst>
              <a:ext uri="{FF2B5EF4-FFF2-40B4-BE49-F238E27FC236}">
                <a16:creationId xmlns:a16="http://schemas.microsoft.com/office/drawing/2014/main" id="{3CAB81F7-2A8A-0910-478C-406CCAF210A8}"/>
              </a:ext>
            </a:extLst>
          </p:cNvPr>
          <p:cNvSpPr txBox="1"/>
          <p:nvPr/>
        </p:nvSpPr>
        <p:spPr>
          <a:xfrm>
            <a:off x="6625760" y="4327909"/>
            <a:ext cx="2586801" cy="646331"/>
          </a:xfrm>
          <a:prstGeom prst="rect">
            <a:avLst/>
          </a:prstGeom>
          <a:noFill/>
        </p:spPr>
        <p:txBody>
          <a:bodyPr wrap="square" rtlCol="0">
            <a:spAutoFit/>
          </a:bodyPr>
          <a:lstStyle/>
          <a:p>
            <a:pPr algn="ctr"/>
            <a:r>
              <a:rPr lang="en-US" b="1" dirty="0">
                <a:latin typeface="Seaford Display" pitchFamily="2" charset="0"/>
              </a:rPr>
              <a:t>Post-Supernova effects on orbital dynamics</a:t>
            </a:r>
          </a:p>
        </p:txBody>
      </p:sp>
      <p:sp>
        <p:nvSpPr>
          <p:cNvPr id="13" name="TextBox 12">
            <a:extLst>
              <a:ext uri="{FF2B5EF4-FFF2-40B4-BE49-F238E27FC236}">
                <a16:creationId xmlns:a16="http://schemas.microsoft.com/office/drawing/2014/main" id="{78ED409C-E37A-14EE-3C1B-989AE12A50E7}"/>
              </a:ext>
            </a:extLst>
          </p:cNvPr>
          <p:cNvSpPr txBox="1"/>
          <p:nvPr/>
        </p:nvSpPr>
        <p:spPr>
          <a:xfrm>
            <a:off x="146148" y="4345906"/>
            <a:ext cx="3238178" cy="646331"/>
          </a:xfrm>
          <a:prstGeom prst="rect">
            <a:avLst/>
          </a:prstGeom>
          <a:noFill/>
        </p:spPr>
        <p:txBody>
          <a:bodyPr wrap="square" rtlCol="0">
            <a:spAutoFit/>
          </a:bodyPr>
          <a:lstStyle/>
          <a:p>
            <a:pPr algn="ctr"/>
            <a:r>
              <a:rPr lang="en-US" b="1" dirty="0">
                <a:latin typeface="Seaford Display" pitchFamily="2" charset="0"/>
              </a:rPr>
              <a:t>ZAMS He ( at solar metallicity)- 1.4</a:t>
            </a:r>
            <a:r>
              <a:rPr lang="en-AU" i="1" dirty="0"/>
              <a:t> M</a:t>
            </a:r>
            <a:r>
              <a:rPr lang="en-AU" baseline="-25000" dirty="0"/>
              <a:t>☉</a:t>
            </a:r>
            <a:r>
              <a:rPr lang="en-US" b="1" dirty="0">
                <a:latin typeface="Seaford Display" pitchFamily="2" charset="0"/>
              </a:rPr>
              <a:t> NS binary evolution</a:t>
            </a:r>
          </a:p>
        </p:txBody>
      </p:sp>
      <p:pic>
        <p:nvPicPr>
          <p:cNvPr id="14" name="Picture 13" descr="A blue letters on a white background&#10;&#10;Description automatically generated">
            <a:extLst>
              <a:ext uri="{FF2B5EF4-FFF2-40B4-BE49-F238E27FC236}">
                <a16:creationId xmlns:a16="http://schemas.microsoft.com/office/drawing/2014/main" id="{191B422D-106E-53D8-470B-9B7B76A7F423}"/>
              </a:ext>
            </a:extLst>
          </p:cNvPr>
          <p:cNvPicPr>
            <a:picLocks noChangeAspect="1"/>
          </p:cNvPicPr>
          <p:nvPr/>
        </p:nvPicPr>
        <p:blipFill>
          <a:blip r:embed="rId7"/>
          <a:stretch>
            <a:fillRect/>
          </a:stretch>
        </p:blipFill>
        <p:spPr>
          <a:xfrm>
            <a:off x="870795" y="5277207"/>
            <a:ext cx="2027836" cy="527472"/>
          </a:xfrm>
          <a:prstGeom prst="rect">
            <a:avLst/>
          </a:prstGeom>
        </p:spPr>
      </p:pic>
      <p:sp>
        <p:nvSpPr>
          <p:cNvPr id="15" name="TextBox 14">
            <a:extLst>
              <a:ext uri="{FF2B5EF4-FFF2-40B4-BE49-F238E27FC236}">
                <a16:creationId xmlns:a16="http://schemas.microsoft.com/office/drawing/2014/main" id="{B4345861-E34E-A192-5817-E9AF564D25C4}"/>
              </a:ext>
            </a:extLst>
          </p:cNvPr>
          <p:cNvSpPr txBox="1"/>
          <p:nvPr/>
        </p:nvSpPr>
        <p:spPr>
          <a:xfrm>
            <a:off x="3734546" y="5295186"/>
            <a:ext cx="2297077" cy="830997"/>
          </a:xfrm>
          <a:prstGeom prst="rect">
            <a:avLst/>
          </a:prstGeom>
          <a:noFill/>
        </p:spPr>
        <p:txBody>
          <a:bodyPr wrap="square" rtlCol="0">
            <a:spAutoFit/>
          </a:bodyPr>
          <a:lstStyle/>
          <a:p>
            <a:pPr algn="ctr"/>
            <a:r>
              <a:rPr lang="en-AU" sz="1600" dirty="0">
                <a:effectLst/>
                <a:latin typeface="Times"/>
              </a:rPr>
              <a:t>Mandel &amp; Müller 2020,</a:t>
            </a:r>
          </a:p>
          <a:p>
            <a:pPr algn="ctr"/>
            <a:r>
              <a:rPr lang="en-AU" sz="1600" dirty="0">
                <a:latin typeface="Times"/>
              </a:rPr>
              <a:t>Kapil et al. 2023</a:t>
            </a:r>
            <a:endParaRPr lang="en-AU" sz="1600" dirty="0">
              <a:effectLst/>
              <a:latin typeface="Times"/>
            </a:endParaRPr>
          </a:p>
          <a:p>
            <a:pPr algn="ctr"/>
            <a:endParaRPr lang="en-US" sz="1600" dirty="0"/>
          </a:p>
        </p:txBody>
      </p:sp>
      <p:sp>
        <p:nvSpPr>
          <p:cNvPr id="16" name="TextBox 15">
            <a:extLst>
              <a:ext uri="{FF2B5EF4-FFF2-40B4-BE49-F238E27FC236}">
                <a16:creationId xmlns:a16="http://schemas.microsoft.com/office/drawing/2014/main" id="{78322668-72EF-E5F1-199E-0D324E0F1A50}"/>
              </a:ext>
            </a:extLst>
          </p:cNvPr>
          <p:cNvSpPr txBox="1"/>
          <p:nvPr/>
        </p:nvSpPr>
        <p:spPr>
          <a:xfrm>
            <a:off x="6904330" y="5314349"/>
            <a:ext cx="1915197" cy="584775"/>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Brandt &amp; </a:t>
            </a:r>
            <a:r>
              <a:rPr lang="en-US" sz="1600" dirty="0" err="1">
                <a:latin typeface="Times New Roman" panose="02020603050405020304" pitchFamily="18" charset="0"/>
                <a:cs typeface="Times New Roman" panose="02020603050405020304" pitchFamily="18" charset="0"/>
              </a:rPr>
              <a:t>Podsiadlowski</a:t>
            </a:r>
            <a:r>
              <a:rPr lang="en-US" sz="1600" dirty="0">
                <a:latin typeface="Times New Roman" panose="02020603050405020304" pitchFamily="18" charset="0"/>
                <a:cs typeface="Times New Roman" panose="02020603050405020304" pitchFamily="18" charset="0"/>
              </a:rPr>
              <a:t> 1995</a:t>
            </a:r>
          </a:p>
        </p:txBody>
      </p:sp>
      <p:sp>
        <p:nvSpPr>
          <p:cNvPr id="17" name="TextBox 16">
            <a:extLst>
              <a:ext uri="{FF2B5EF4-FFF2-40B4-BE49-F238E27FC236}">
                <a16:creationId xmlns:a16="http://schemas.microsoft.com/office/drawing/2014/main" id="{D2023CC1-8174-BEC6-DF67-5CB75C16641D}"/>
              </a:ext>
            </a:extLst>
          </p:cNvPr>
          <p:cNvSpPr txBox="1"/>
          <p:nvPr/>
        </p:nvSpPr>
        <p:spPr>
          <a:xfrm>
            <a:off x="9549245" y="5345640"/>
            <a:ext cx="2113934" cy="584775"/>
          </a:xfrm>
          <a:prstGeom prst="rect">
            <a:avLst/>
          </a:prstGeom>
          <a:noFill/>
        </p:spPr>
        <p:txBody>
          <a:bodyPr wrap="square">
            <a:spAutoFit/>
          </a:bodyPr>
          <a:lstStyle/>
          <a:p>
            <a:pPr algn="ctr"/>
            <a:r>
              <a:rPr lang="en-US" sz="1600" dirty="0">
                <a:latin typeface="Times New Roman" panose="02020603050405020304" pitchFamily="18" charset="0"/>
                <a:cs typeface="Times New Roman" panose="02020603050405020304" pitchFamily="18" charset="0"/>
              </a:rPr>
              <a:t>Peters 1964b </a:t>
            </a:r>
          </a:p>
          <a:p>
            <a:pPr algn="ctr"/>
            <a:r>
              <a:rPr lang="en-US" sz="1600" dirty="0">
                <a:latin typeface="Times New Roman" panose="02020603050405020304" pitchFamily="18" charset="0"/>
                <a:cs typeface="Times New Roman" panose="02020603050405020304" pitchFamily="18" charset="0"/>
              </a:rPr>
              <a:t>Mandel (2021b)</a:t>
            </a:r>
          </a:p>
        </p:txBody>
      </p:sp>
      <p:sp>
        <p:nvSpPr>
          <p:cNvPr id="18" name="TextBox 17">
            <a:extLst>
              <a:ext uri="{FF2B5EF4-FFF2-40B4-BE49-F238E27FC236}">
                <a16:creationId xmlns:a16="http://schemas.microsoft.com/office/drawing/2014/main" id="{878D4824-D6D9-6E45-33CA-76AED452F41D}"/>
              </a:ext>
            </a:extLst>
          </p:cNvPr>
          <p:cNvSpPr txBox="1"/>
          <p:nvPr/>
        </p:nvSpPr>
        <p:spPr>
          <a:xfrm>
            <a:off x="786163" y="5818158"/>
            <a:ext cx="2197100" cy="584775"/>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Paxton et al. 2011, 2013, 2015, 2018</a:t>
            </a:r>
          </a:p>
        </p:txBody>
      </p:sp>
      <p:sp>
        <p:nvSpPr>
          <p:cNvPr id="19" name="Double Brace 18">
            <a:extLst>
              <a:ext uri="{FF2B5EF4-FFF2-40B4-BE49-F238E27FC236}">
                <a16:creationId xmlns:a16="http://schemas.microsoft.com/office/drawing/2014/main" id="{EEA00CC2-9137-6096-9A1D-BEA019EF4372}"/>
              </a:ext>
            </a:extLst>
          </p:cNvPr>
          <p:cNvSpPr/>
          <p:nvPr/>
        </p:nvSpPr>
        <p:spPr>
          <a:xfrm>
            <a:off x="444452" y="5059105"/>
            <a:ext cx="2880522" cy="1207754"/>
          </a:xfrm>
          <a:prstGeom prst="bracePair">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Double Brace 19">
            <a:extLst>
              <a:ext uri="{FF2B5EF4-FFF2-40B4-BE49-F238E27FC236}">
                <a16:creationId xmlns:a16="http://schemas.microsoft.com/office/drawing/2014/main" id="{FDDE0966-7FD6-E272-03CB-DBAC662CC3D9}"/>
              </a:ext>
            </a:extLst>
          </p:cNvPr>
          <p:cNvSpPr/>
          <p:nvPr/>
        </p:nvSpPr>
        <p:spPr>
          <a:xfrm>
            <a:off x="3442824" y="5068938"/>
            <a:ext cx="2880522" cy="1197921"/>
          </a:xfrm>
          <a:prstGeom prst="bracePair">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Double Brace 20">
            <a:extLst>
              <a:ext uri="{FF2B5EF4-FFF2-40B4-BE49-F238E27FC236}">
                <a16:creationId xmlns:a16="http://schemas.microsoft.com/office/drawing/2014/main" id="{7051C653-ADFF-B864-320F-D8CBC51F73B4}"/>
              </a:ext>
            </a:extLst>
          </p:cNvPr>
          <p:cNvSpPr/>
          <p:nvPr/>
        </p:nvSpPr>
        <p:spPr>
          <a:xfrm>
            <a:off x="6555988" y="5068938"/>
            <a:ext cx="2656661" cy="1207753"/>
          </a:xfrm>
          <a:prstGeom prst="bracePair">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Double Brace 21">
            <a:extLst>
              <a:ext uri="{FF2B5EF4-FFF2-40B4-BE49-F238E27FC236}">
                <a16:creationId xmlns:a16="http://schemas.microsoft.com/office/drawing/2014/main" id="{2EF38371-8F25-6C22-0ED3-FF3F8308F1D5}"/>
              </a:ext>
            </a:extLst>
          </p:cNvPr>
          <p:cNvSpPr/>
          <p:nvPr/>
        </p:nvSpPr>
        <p:spPr>
          <a:xfrm>
            <a:off x="9410814" y="5078965"/>
            <a:ext cx="2417752" cy="1217780"/>
          </a:xfrm>
          <a:prstGeom prst="bracePair">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Alternative Process 22">
            <a:extLst>
              <a:ext uri="{FF2B5EF4-FFF2-40B4-BE49-F238E27FC236}">
                <a16:creationId xmlns:a16="http://schemas.microsoft.com/office/drawing/2014/main" id="{0B3F1F88-EBD2-E42B-B512-A72165B4CE34}"/>
              </a:ext>
            </a:extLst>
          </p:cNvPr>
          <p:cNvSpPr/>
          <p:nvPr/>
        </p:nvSpPr>
        <p:spPr>
          <a:xfrm>
            <a:off x="3095467" y="580122"/>
            <a:ext cx="6117094" cy="646331"/>
          </a:xfrm>
          <a:prstGeom prst="flowChartAlternateProcess">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FAA24EF-8583-AF7B-50C8-67746E7425DC}"/>
              </a:ext>
            </a:extLst>
          </p:cNvPr>
          <p:cNvSpPr txBox="1"/>
          <p:nvPr/>
        </p:nvSpPr>
        <p:spPr>
          <a:xfrm>
            <a:off x="3010818" y="659378"/>
            <a:ext cx="6117094" cy="461665"/>
          </a:xfrm>
          <a:prstGeom prst="rect">
            <a:avLst/>
          </a:prstGeom>
          <a:noFill/>
        </p:spPr>
        <p:txBody>
          <a:bodyPr wrap="square" rtlCol="0">
            <a:spAutoFit/>
          </a:bodyPr>
          <a:lstStyle/>
          <a:p>
            <a:pPr algn="ctr"/>
            <a:r>
              <a:rPr lang="en-US" sz="2400" dirty="0">
                <a:solidFill>
                  <a:srgbClr val="C1BAFE"/>
                </a:solidFill>
                <a:latin typeface="Seaford Display" pitchFamily="2" charset="0"/>
              </a:rPr>
              <a:t>Framework Created for the Formation Pathway</a:t>
            </a:r>
          </a:p>
        </p:txBody>
      </p:sp>
      <p:cxnSp>
        <p:nvCxnSpPr>
          <p:cNvPr id="25" name="Straight Connector 24">
            <a:extLst>
              <a:ext uri="{FF2B5EF4-FFF2-40B4-BE49-F238E27FC236}">
                <a16:creationId xmlns:a16="http://schemas.microsoft.com/office/drawing/2014/main" id="{67F8EC6E-E2D6-9A8A-BE5D-0691F1916076}"/>
              </a:ext>
            </a:extLst>
          </p:cNvPr>
          <p:cNvCxnSpPr>
            <a:cxnSpLocks/>
          </p:cNvCxnSpPr>
          <p:nvPr/>
        </p:nvCxnSpPr>
        <p:spPr>
          <a:xfrm>
            <a:off x="1781330" y="3713011"/>
            <a:ext cx="6626" cy="514395"/>
          </a:xfrm>
          <a:prstGeom prst="line">
            <a:avLst/>
          </a:prstGeom>
          <a:ln w="44450">
            <a:solidFill>
              <a:schemeClr val="accent5">
                <a:lumMod val="40000"/>
                <a:lumOff val="60000"/>
              </a:schemeClr>
            </a:solidFill>
            <a:round/>
            <a:headEnd type="none"/>
            <a:tailEnd type="ova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5A0A73FF-F524-FF7A-948B-A30FFE33A1B4}"/>
              </a:ext>
            </a:extLst>
          </p:cNvPr>
          <p:cNvCxnSpPr>
            <a:cxnSpLocks/>
          </p:cNvCxnSpPr>
          <p:nvPr/>
        </p:nvCxnSpPr>
        <p:spPr>
          <a:xfrm>
            <a:off x="7807508" y="3655579"/>
            <a:ext cx="6626" cy="514395"/>
          </a:xfrm>
          <a:prstGeom prst="line">
            <a:avLst/>
          </a:prstGeom>
          <a:ln w="44450">
            <a:solidFill>
              <a:schemeClr val="accent5">
                <a:lumMod val="40000"/>
                <a:lumOff val="60000"/>
              </a:schemeClr>
            </a:solidFill>
            <a:round/>
            <a:headEnd type="none"/>
            <a:tailEnd type="oval"/>
          </a:ln>
        </p:spPr>
        <p:style>
          <a:lnRef idx="2">
            <a:schemeClr val="accent1"/>
          </a:lnRef>
          <a:fillRef idx="0">
            <a:schemeClr val="accent1"/>
          </a:fillRef>
          <a:effectRef idx="1">
            <a:schemeClr val="accent1"/>
          </a:effectRef>
          <a:fontRef idx="minor">
            <a:schemeClr val="tx1"/>
          </a:fontRef>
        </p:style>
      </p:cxnSp>
      <p:sp>
        <p:nvSpPr>
          <p:cNvPr id="28" name="Slide Number Placeholder 27">
            <a:extLst>
              <a:ext uri="{FF2B5EF4-FFF2-40B4-BE49-F238E27FC236}">
                <a16:creationId xmlns:a16="http://schemas.microsoft.com/office/drawing/2014/main" id="{1881694C-139B-8212-234B-C8780F063B96}"/>
              </a:ext>
            </a:extLst>
          </p:cNvPr>
          <p:cNvSpPr>
            <a:spLocks noGrp="1"/>
          </p:cNvSpPr>
          <p:nvPr>
            <p:ph type="sldNum" sz="quarter" idx="12"/>
          </p:nvPr>
        </p:nvSpPr>
        <p:spPr/>
        <p:txBody>
          <a:bodyPr/>
          <a:lstStyle/>
          <a:p>
            <a:fld id="{CE0A201B-ED89-3E49-8333-B23E6243976D}" type="slidenum">
              <a:rPr lang="en-US" smtClean="0"/>
              <a:t>7</a:t>
            </a:fld>
            <a:endParaRPr lang="en-US"/>
          </a:p>
        </p:txBody>
      </p:sp>
    </p:spTree>
    <p:extLst>
      <p:ext uri="{BB962C8B-B14F-4D97-AF65-F5344CB8AC3E}">
        <p14:creationId xmlns:p14="http://schemas.microsoft.com/office/powerpoint/2010/main" val="29071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5" grpId="0"/>
      <p:bldP spid="16" grpId="0"/>
      <p:bldP spid="17" grpId="0"/>
      <p:bldP spid="18" grpId="0"/>
      <p:bldP spid="19" grpId="0" animBg="1"/>
      <p:bldP spid="20" grpId="0" animBg="1"/>
      <p:bldP spid="21" grpId="0" animBg="1"/>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0C2B"/>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9135C5-6F8C-CEFD-0B64-2F08E4A027FC}"/>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1F74833F-2E51-7149-B2B4-0C45BC5EEA24}"/>
              </a:ext>
            </a:extLst>
          </p:cNvPr>
          <p:cNvSpPr>
            <a:spLocks noGrp="1"/>
          </p:cNvSpPr>
          <p:nvPr>
            <p:ph type="ftr" sz="quarter" idx="11"/>
          </p:nvPr>
        </p:nvSpPr>
        <p:spPr/>
        <p:txBody>
          <a:bodyPr/>
          <a:lstStyle/>
          <a:p>
            <a:r>
              <a:rPr lang="en-US"/>
              <a:t>Binary Stars in a New Era</a:t>
            </a:r>
            <a:endParaRPr lang="en-US" dirty="0"/>
          </a:p>
        </p:txBody>
      </p:sp>
      <p:pic>
        <p:nvPicPr>
          <p:cNvPr id="4" name="Picture 3" descr="A graph with colored dots&#10;&#10;Description automatically generated">
            <a:extLst>
              <a:ext uri="{FF2B5EF4-FFF2-40B4-BE49-F238E27FC236}">
                <a16:creationId xmlns:a16="http://schemas.microsoft.com/office/drawing/2014/main" id="{217BD4A8-9A64-269E-9AAF-C684A5111876}"/>
              </a:ext>
            </a:extLst>
          </p:cNvPr>
          <p:cNvPicPr>
            <a:picLocks noChangeAspect="1"/>
          </p:cNvPicPr>
          <p:nvPr/>
        </p:nvPicPr>
        <p:blipFill>
          <a:blip r:embed="rId3"/>
          <a:stretch>
            <a:fillRect/>
          </a:stretch>
        </p:blipFill>
        <p:spPr>
          <a:xfrm>
            <a:off x="1983935" y="1619824"/>
            <a:ext cx="8239981" cy="4593789"/>
          </a:xfrm>
          <a:prstGeom prst="rect">
            <a:avLst/>
          </a:prstGeom>
        </p:spPr>
      </p:pic>
      <p:sp>
        <p:nvSpPr>
          <p:cNvPr id="5" name="TextBox 4">
            <a:extLst>
              <a:ext uri="{FF2B5EF4-FFF2-40B4-BE49-F238E27FC236}">
                <a16:creationId xmlns:a16="http://schemas.microsoft.com/office/drawing/2014/main" id="{BE730B78-4C37-483A-699D-5CBE11F7B0A4}"/>
              </a:ext>
            </a:extLst>
          </p:cNvPr>
          <p:cNvSpPr txBox="1"/>
          <p:nvPr/>
        </p:nvSpPr>
        <p:spPr>
          <a:xfrm>
            <a:off x="652415" y="646091"/>
            <a:ext cx="10903022" cy="830997"/>
          </a:xfrm>
          <a:prstGeom prst="rect">
            <a:avLst/>
          </a:prstGeom>
          <a:noFill/>
        </p:spPr>
        <p:txBody>
          <a:bodyPr wrap="square" rtlCol="0">
            <a:spAutoFit/>
          </a:bodyPr>
          <a:lstStyle/>
          <a:p>
            <a:pPr algn="ctr"/>
            <a:r>
              <a:rPr lang="en-US" sz="2400" b="1" dirty="0">
                <a:solidFill>
                  <a:srgbClr val="C1BAFE"/>
                </a:solidFill>
                <a:latin typeface="Seaford Display" pitchFamily="2" charset="0"/>
              </a:rPr>
              <a:t>Grid of Models Based On Initial He ZAMS (solar metallicity ) Mass  + 1.4 </a:t>
            </a:r>
            <a:r>
              <a:rPr lang="en-AU" sz="2400" i="1" dirty="0">
                <a:solidFill>
                  <a:srgbClr val="C1BAFE"/>
                </a:solidFill>
              </a:rPr>
              <a:t>M</a:t>
            </a:r>
            <a:r>
              <a:rPr lang="en-AU" sz="2400" baseline="-25000" dirty="0">
                <a:solidFill>
                  <a:srgbClr val="C1BAFE"/>
                </a:solidFill>
              </a:rPr>
              <a:t>☉</a:t>
            </a:r>
            <a:r>
              <a:rPr lang="en-AU" sz="2400" b="1" dirty="0">
                <a:solidFill>
                  <a:srgbClr val="C1BAFE"/>
                </a:solidFill>
                <a:latin typeface="Seaford Display" pitchFamily="2" charset="0"/>
              </a:rPr>
              <a:t>NS </a:t>
            </a:r>
            <a:r>
              <a:rPr lang="en-US" sz="2400" b="1" dirty="0">
                <a:solidFill>
                  <a:srgbClr val="C1BAFE"/>
                </a:solidFill>
                <a:latin typeface="Seaford Display" pitchFamily="2" charset="0"/>
              </a:rPr>
              <a:t>and Initial Orbital Period</a:t>
            </a:r>
          </a:p>
        </p:txBody>
      </p:sp>
      <p:sp>
        <p:nvSpPr>
          <p:cNvPr id="6" name="Slide Number Placeholder 5">
            <a:extLst>
              <a:ext uri="{FF2B5EF4-FFF2-40B4-BE49-F238E27FC236}">
                <a16:creationId xmlns:a16="http://schemas.microsoft.com/office/drawing/2014/main" id="{58D1A485-A035-2797-1E92-8414199A761D}"/>
              </a:ext>
            </a:extLst>
          </p:cNvPr>
          <p:cNvSpPr>
            <a:spLocks noGrp="1"/>
          </p:cNvSpPr>
          <p:nvPr>
            <p:ph type="sldNum" sz="quarter" idx="12"/>
          </p:nvPr>
        </p:nvSpPr>
        <p:spPr/>
        <p:txBody>
          <a:bodyPr/>
          <a:lstStyle/>
          <a:p>
            <a:fld id="{CE0A201B-ED89-3E49-8333-B23E6243976D}" type="slidenum">
              <a:rPr lang="en-US" smtClean="0"/>
              <a:t>8</a:t>
            </a:fld>
            <a:endParaRPr lang="en-US"/>
          </a:p>
        </p:txBody>
      </p:sp>
    </p:spTree>
    <p:extLst>
      <p:ext uri="{BB962C8B-B14F-4D97-AF65-F5344CB8AC3E}">
        <p14:creationId xmlns:p14="http://schemas.microsoft.com/office/powerpoint/2010/main" val="781081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0C2B"/>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82611F-140C-9932-46D4-71C536023CF3}"/>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1130DA5D-B7B9-7FA7-3B1D-1D85FED2CC16}"/>
              </a:ext>
            </a:extLst>
          </p:cNvPr>
          <p:cNvSpPr>
            <a:spLocks noGrp="1"/>
          </p:cNvSpPr>
          <p:nvPr>
            <p:ph type="ftr" sz="quarter" idx="11"/>
          </p:nvPr>
        </p:nvSpPr>
        <p:spPr/>
        <p:txBody>
          <a:bodyPr/>
          <a:lstStyle/>
          <a:p>
            <a:r>
              <a:rPr lang="en-US"/>
              <a:t>Binary Stars in a New Era</a:t>
            </a:r>
            <a:endParaRPr lang="en-US" dirty="0"/>
          </a:p>
        </p:txBody>
      </p:sp>
      <p:sp>
        <p:nvSpPr>
          <p:cNvPr id="4" name="Slide Number Placeholder 3">
            <a:extLst>
              <a:ext uri="{FF2B5EF4-FFF2-40B4-BE49-F238E27FC236}">
                <a16:creationId xmlns:a16="http://schemas.microsoft.com/office/drawing/2014/main" id="{91FBB68D-2236-97AF-F3B8-1CFAA6D2B286}"/>
              </a:ext>
            </a:extLst>
          </p:cNvPr>
          <p:cNvSpPr>
            <a:spLocks noGrp="1"/>
          </p:cNvSpPr>
          <p:nvPr>
            <p:ph type="sldNum" sz="quarter" idx="12"/>
          </p:nvPr>
        </p:nvSpPr>
        <p:spPr/>
        <p:txBody>
          <a:bodyPr/>
          <a:lstStyle/>
          <a:p>
            <a:fld id="{CE0A201B-ED89-3E49-8333-B23E6243976D}" type="slidenum">
              <a:rPr lang="en-US" smtClean="0"/>
              <a:t>9</a:t>
            </a:fld>
            <a:endParaRPr lang="en-US"/>
          </a:p>
        </p:txBody>
      </p:sp>
      <p:pic>
        <p:nvPicPr>
          <p:cNvPr id="5" name="Picture 4">
            <a:extLst>
              <a:ext uri="{FF2B5EF4-FFF2-40B4-BE49-F238E27FC236}">
                <a16:creationId xmlns:a16="http://schemas.microsoft.com/office/drawing/2014/main" id="{BA67A107-9368-8816-D245-8AADA93AE4F3}"/>
              </a:ext>
            </a:extLst>
          </p:cNvPr>
          <p:cNvPicPr>
            <a:picLocks noChangeAspect="1"/>
          </p:cNvPicPr>
          <p:nvPr/>
        </p:nvPicPr>
        <p:blipFill>
          <a:blip r:embed="rId3"/>
          <a:stretch>
            <a:fillRect/>
          </a:stretch>
        </p:blipFill>
        <p:spPr>
          <a:xfrm>
            <a:off x="737522" y="1438375"/>
            <a:ext cx="5096582" cy="3906631"/>
          </a:xfrm>
          <a:prstGeom prst="rect">
            <a:avLst/>
          </a:prstGeom>
        </p:spPr>
      </p:pic>
      <p:sp>
        <p:nvSpPr>
          <p:cNvPr id="6" name="TextBox 5">
            <a:extLst>
              <a:ext uri="{FF2B5EF4-FFF2-40B4-BE49-F238E27FC236}">
                <a16:creationId xmlns:a16="http://schemas.microsoft.com/office/drawing/2014/main" id="{F37C841E-BA99-5A38-BAEA-7173ED8F8F85}"/>
              </a:ext>
            </a:extLst>
          </p:cNvPr>
          <p:cNvSpPr txBox="1"/>
          <p:nvPr/>
        </p:nvSpPr>
        <p:spPr>
          <a:xfrm>
            <a:off x="-433195" y="653544"/>
            <a:ext cx="13582186" cy="1200329"/>
          </a:xfrm>
          <a:prstGeom prst="rect">
            <a:avLst/>
          </a:prstGeom>
          <a:noFill/>
        </p:spPr>
        <p:txBody>
          <a:bodyPr wrap="square" rtlCol="0">
            <a:spAutoFit/>
          </a:bodyPr>
          <a:lstStyle/>
          <a:p>
            <a:pPr algn="ctr"/>
            <a:r>
              <a:rPr lang="en-US" sz="2400" dirty="0">
                <a:solidFill>
                  <a:srgbClr val="C1BAFE"/>
                </a:solidFill>
                <a:latin typeface="Seaford Display" pitchFamily="2" charset="0"/>
              </a:rPr>
              <a:t>Standard Supernovae and Kick Prescription (Standard Model)</a:t>
            </a:r>
          </a:p>
          <a:p>
            <a:pPr algn="ctr"/>
            <a:r>
              <a:rPr lang="en-US" sz="2400" dirty="0">
                <a:solidFill>
                  <a:srgbClr val="C1BAFE"/>
                </a:solidFill>
                <a:latin typeface="Seaford Display" pitchFamily="2" charset="0"/>
              </a:rPr>
              <a:t> </a:t>
            </a:r>
            <a:r>
              <a:rPr lang="en-US" sz="2000" dirty="0">
                <a:solidFill>
                  <a:srgbClr val="C1BAFE"/>
                </a:solidFill>
                <a:latin typeface="Seaford Display" pitchFamily="2" charset="0"/>
              </a:rPr>
              <a:t>by  </a:t>
            </a:r>
            <a:r>
              <a:rPr lang="en-AU" sz="2000" dirty="0">
                <a:latin typeface="Times"/>
              </a:rPr>
              <a:t>Mandel &amp; Müller 2020, Kapil et al. 2023</a:t>
            </a:r>
          </a:p>
          <a:p>
            <a:pPr algn="ctr"/>
            <a:endParaRPr lang="en-US" sz="2400" dirty="0">
              <a:solidFill>
                <a:srgbClr val="C1BAFE"/>
              </a:solidFill>
              <a:latin typeface="Seaford Display" pitchFamily="2" charset="0"/>
            </a:endParaRPr>
          </a:p>
        </p:txBody>
      </p:sp>
      <p:sp>
        <p:nvSpPr>
          <p:cNvPr id="7" name="TextBox 6">
            <a:extLst>
              <a:ext uri="{FF2B5EF4-FFF2-40B4-BE49-F238E27FC236}">
                <a16:creationId xmlns:a16="http://schemas.microsoft.com/office/drawing/2014/main" id="{71F4B5BB-4F69-73A5-0B95-9C533DCD1B2D}"/>
              </a:ext>
            </a:extLst>
          </p:cNvPr>
          <p:cNvSpPr txBox="1"/>
          <p:nvPr/>
        </p:nvSpPr>
        <p:spPr>
          <a:xfrm>
            <a:off x="1784536" y="5345005"/>
            <a:ext cx="3702719" cy="646331"/>
          </a:xfrm>
          <a:prstGeom prst="rect">
            <a:avLst/>
          </a:prstGeom>
          <a:noFill/>
        </p:spPr>
        <p:txBody>
          <a:bodyPr wrap="square" rtlCol="0">
            <a:spAutoFit/>
          </a:bodyPr>
          <a:lstStyle/>
          <a:p>
            <a:pPr algn="ctr"/>
            <a:r>
              <a:rPr lang="en-US" dirty="0">
                <a:latin typeface="Seaford Display" pitchFamily="2" charset="0"/>
              </a:rPr>
              <a:t>Remnant masses (NS2) as a function of CO core mass</a:t>
            </a:r>
          </a:p>
        </p:txBody>
      </p:sp>
      <p:pic>
        <p:nvPicPr>
          <p:cNvPr id="8" name="Picture 7" descr="A graph with colorful stars&#10;&#10;AI-generated content may be incorrect.">
            <a:extLst>
              <a:ext uri="{FF2B5EF4-FFF2-40B4-BE49-F238E27FC236}">
                <a16:creationId xmlns:a16="http://schemas.microsoft.com/office/drawing/2014/main" id="{011359A7-032C-BAF3-AD09-7E40FB325587}"/>
              </a:ext>
            </a:extLst>
          </p:cNvPr>
          <p:cNvPicPr>
            <a:picLocks noChangeAspect="1"/>
          </p:cNvPicPr>
          <p:nvPr/>
        </p:nvPicPr>
        <p:blipFill>
          <a:blip r:embed="rId4"/>
          <a:stretch>
            <a:fillRect/>
          </a:stretch>
        </p:blipFill>
        <p:spPr>
          <a:xfrm>
            <a:off x="6509047" y="1438374"/>
            <a:ext cx="5096581" cy="3906631"/>
          </a:xfrm>
          <a:prstGeom prst="rect">
            <a:avLst/>
          </a:prstGeom>
        </p:spPr>
      </p:pic>
      <p:sp>
        <p:nvSpPr>
          <p:cNvPr id="9" name="TextBox 8">
            <a:extLst>
              <a:ext uri="{FF2B5EF4-FFF2-40B4-BE49-F238E27FC236}">
                <a16:creationId xmlns:a16="http://schemas.microsoft.com/office/drawing/2014/main" id="{91122C83-F4B4-DF77-A6EC-CD57640EDC3F}"/>
              </a:ext>
            </a:extLst>
          </p:cNvPr>
          <p:cNvSpPr txBox="1"/>
          <p:nvPr/>
        </p:nvSpPr>
        <p:spPr>
          <a:xfrm>
            <a:off x="7317952" y="5314433"/>
            <a:ext cx="4026585" cy="646331"/>
          </a:xfrm>
          <a:prstGeom prst="rect">
            <a:avLst/>
          </a:prstGeom>
          <a:noFill/>
        </p:spPr>
        <p:txBody>
          <a:bodyPr wrap="square" rtlCol="0">
            <a:spAutoFit/>
          </a:bodyPr>
          <a:lstStyle/>
          <a:p>
            <a:pPr algn="ctr"/>
            <a:r>
              <a:rPr lang="en-US" dirty="0">
                <a:latin typeface="Seaford Display" pitchFamily="2" charset="0"/>
              </a:rPr>
              <a:t>Kick velocity for the corresponding NS2 as a function of CO core mass</a:t>
            </a:r>
          </a:p>
        </p:txBody>
      </p:sp>
    </p:spTree>
    <p:extLst>
      <p:ext uri="{BB962C8B-B14F-4D97-AF65-F5344CB8AC3E}">
        <p14:creationId xmlns:p14="http://schemas.microsoft.com/office/powerpoint/2010/main" val="861959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0C2B"/>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53FA33-54B6-F7DE-5DDB-EC6198F4C824}"/>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C901F3E6-36E3-3DB9-D6F3-BC862823E449}"/>
              </a:ext>
            </a:extLst>
          </p:cNvPr>
          <p:cNvSpPr>
            <a:spLocks noGrp="1"/>
          </p:cNvSpPr>
          <p:nvPr>
            <p:ph type="ftr" sz="quarter" idx="11"/>
          </p:nvPr>
        </p:nvSpPr>
        <p:spPr/>
        <p:txBody>
          <a:bodyPr/>
          <a:lstStyle/>
          <a:p>
            <a:r>
              <a:rPr lang="en-US"/>
              <a:t>Binary Stars in a New Era</a:t>
            </a:r>
            <a:endParaRPr lang="en-US" dirty="0"/>
          </a:p>
        </p:txBody>
      </p:sp>
      <p:sp>
        <p:nvSpPr>
          <p:cNvPr id="4" name="Slide Number Placeholder 3">
            <a:extLst>
              <a:ext uri="{FF2B5EF4-FFF2-40B4-BE49-F238E27FC236}">
                <a16:creationId xmlns:a16="http://schemas.microsoft.com/office/drawing/2014/main" id="{DCF65385-615C-CB1F-E313-263A65BECE14}"/>
              </a:ext>
            </a:extLst>
          </p:cNvPr>
          <p:cNvSpPr>
            <a:spLocks noGrp="1"/>
          </p:cNvSpPr>
          <p:nvPr>
            <p:ph type="sldNum" sz="quarter" idx="12"/>
          </p:nvPr>
        </p:nvSpPr>
        <p:spPr/>
        <p:txBody>
          <a:bodyPr/>
          <a:lstStyle/>
          <a:p>
            <a:fld id="{CE0A201B-ED89-3E49-8333-B23E6243976D}" type="slidenum">
              <a:rPr lang="en-US" smtClean="0"/>
              <a:t>10</a:t>
            </a:fld>
            <a:endParaRPr lang="en-US"/>
          </a:p>
        </p:txBody>
      </p:sp>
      <p:pic>
        <p:nvPicPr>
          <p:cNvPr id="5" name="Picture 4">
            <a:extLst>
              <a:ext uri="{FF2B5EF4-FFF2-40B4-BE49-F238E27FC236}">
                <a16:creationId xmlns:a16="http://schemas.microsoft.com/office/drawing/2014/main" id="{4BC80C43-1164-49CD-EAB7-1CDEA720DA58}"/>
              </a:ext>
            </a:extLst>
          </p:cNvPr>
          <p:cNvPicPr>
            <a:picLocks noChangeAspect="1"/>
          </p:cNvPicPr>
          <p:nvPr/>
        </p:nvPicPr>
        <p:blipFill>
          <a:blip r:embed="rId3"/>
          <a:stretch>
            <a:fillRect/>
          </a:stretch>
        </p:blipFill>
        <p:spPr>
          <a:xfrm>
            <a:off x="3349736" y="1922335"/>
            <a:ext cx="5491560" cy="4154485"/>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843CF3B-20D2-733C-0436-C4E336165FB7}"/>
                  </a:ext>
                </a:extLst>
              </p:cNvPr>
              <p:cNvSpPr txBox="1"/>
              <p:nvPr/>
            </p:nvSpPr>
            <p:spPr>
              <a:xfrm>
                <a:off x="3137968" y="696999"/>
                <a:ext cx="5956392" cy="461665"/>
              </a:xfrm>
              <a:prstGeom prst="rect">
                <a:avLst/>
              </a:prstGeom>
              <a:noFill/>
            </p:spPr>
            <p:txBody>
              <a:bodyPr wrap="square" rtlCol="0">
                <a:spAutoFit/>
              </a:bodyPr>
              <a:lstStyle/>
              <a:p>
                <a:pPr algn="ctr"/>
                <a:r>
                  <a:rPr lang="en-US" sz="2400" b="1" dirty="0">
                    <a:solidFill>
                      <a:srgbClr val="C1BAFE"/>
                    </a:solidFill>
                    <a:latin typeface="Seaford Display" pitchFamily="2" charset="0"/>
                  </a:rPr>
                  <a:t>Combined </a:t>
                </a:r>
                <a14:m>
                  <m:oMath xmlns:m="http://schemas.openxmlformats.org/officeDocument/2006/math">
                    <m:sSub>
                      <m:sSubPr>
                        <m:ctrlPr>
                          <a:rPr lang="en-US" sz="2400" b="1" i="1" smtClean="0">
                            <a:solidFill>
                              <a:srgbClr val="C1BAFE"/>
                            </a:solidFill>
                            <a:latin typeface="Cambria Math" panose="02040503050406030204" pitchFamily="18" charset="0"/>
                          </a:rPr>
                        </m:ctrlPr>
                      </m:sSubPr>
                      <m:e>
                        <m:r>
                          <a:rPr lang="en-AU" sz="2400" b="1" i="1" smtClean="0">
                            <a:solidFill>
                              <a:srgbClr val="C1BAFE"/>
                            </a:solidFill>
                            <a:latin typeface="Cambria Math" panose="02040503050406030204" pitchFamily="18" charset="0"/>
                          </a:rPr>
                          <m:t>𝑷</m:t>
                        </m:r>
                      </m:e>
                      <m:sub>
                        <m:r>
                          <a:rPr lang="en-AU" sz="2400" b="1" i="1" smtClean="0">
                            <a:solidFill>
                              <a:srgbClr val="C1BAFE"/>
                            </a:solidFill>
                            <a:latin typeface="Cambria Math" panose="02040503050406030204" pitchFamily="18" charset="0"/>
                          </a:rPr>
                          <m:t>𝒐𝒓𝒃</m:t>
                        </m:r>
                      </m:sub>
                    </m:sSub>
                  </m:oMath>
                </a14:m>
                <a:r>
                  <a:rPr lang="en-US" sz="2400" b="1" dirty="0">
                    <a:solidFill>
                      <a:srgbClr val="C1BAFE"/>
                    </a:solidFill>
                    <a:latin typeface="Seaford Display" pitchFamily="2" charset="0"/>
                  </a:rPr>
                  <a:t>-e Distribution of all models</a:t>
                </a:r>
              </a:p>
            </p:txBody>
          </p:sp>
        </mc:Choice>
        <mc:Fallback xmlns="">
          <p:sp>
            <p:nvSpPr>
              <p:cNvPr id="6" name="TextBox 5">
                <a:extLst>
                  <a:ext uri="{FF2B5EF4-FFF2-40B4-BE49-F238E27FC236}">
                    <a16:creationId xmlns:a16="http://schemas.microsoft.com/office/drawing/2014/main" id="{6843CF3B-20D2-733C-0436-C4E336165FB7}"/>
                  </a:ext>
                </a:extLst>
              </p:cNvPr>
              <p:cNvSpPr txBox="1">
                <a:spLocks noRot="1" noChangeAspect="1" noMove="1" noResize="1" noEditPoints="1" noAdjustHandles="1" noChangeArrowheads="1" noChangeShapeType="1" noTextEdit="1"/>
              </p:cNvSpPr>
              <p:nvPr/>
            </p:nvSpPr>
            <p:spPr>
              <a:xfrm>
                <a:off x="3137968" y="696999"/>
                <a:ext cx="5956392" cy="461665"/>
              </a:xfrm>
              <a:prstGeom prst="rect">
                <a:avLst/>
              </a:prstGeom>
              <a:blipFill>
                <a:blip r:embed="rId4"/>
                <a:stretch>
                  <a:fillRect t="-10526" b="-2894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D7A928E2-8168-EA86-E8C2-EE7194512C11}"/>
              </a:ext>
            </a:extLst>
          </p:cNvPr>
          <p:cNvSpPr txBox="1"/>
          <p:nvPr/>
        </p:nvSpPr>
        <p:spPr>
          <a:xfrm>
            <a:off x="4293220" y="1259333"/>
            <a:ext cx="3604592" cy="461665"/>
          </a:xfrm>
          <a:prstGeom prst="rect">
            <a:avLst/>
          </a:prstGeom>
          <a:noFill/>
        </p:spPr>
        <p:txBody>
          <a:bodyPr wrap="square" rtlCol="0">
            <a:spAutoFit/>
          </a:bodyPr>
          <a:lstStyle/>
          <a:p>
            <a:pPr algn="ctr"/>
            <a:r>
              <a:rPr lang="en-US" sz="2400" dirty="0">
                <a:solidFill>
                  <a:srgbClr val="C1BAFE"/>
                </a:solidFill>
                <a:latin typeface="Seaford Display" pitchFamily="2" charset="0"/>
              </a:rPr>
              <a:t>Standard Model</a:t>
            </a:r>
          </a:p>
        </p:txBody>
      </p:sp>
    </p:spTree>
    <p:extLst>
      <p:ext uri="{BB962C8B-B14F-4D97-AF65-F5344CB8AC3E}">
        <p14:creationId xmlns:p14="http://schemas.microsoft.com/office/powerpoint/2010/main" val="2051923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0C2B"/>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31BBF8-408C-5D55-AFAB-6F6BE8801519}"/>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5C27356E-9585-C214-E211-84B49EB541EF}"/>
              </a:ext>
            </a:extLst>
          </p:cNvPr>
          <p:cNvSpPr>
            <a:spLocks noGrp="1"/>
          </p:cNvSpPr>
          <p:nvPr>
            <p:ph type="ftr" sz="quarter" idx="11"/>
          </p:nvPr>
        </p:nvSpPr>
        <p:spPr/>
        <p:txBody>
          <a:bodyPr/>
          <a:lstStyle/>
          <a:p>
            <a:r>
              <a:rPr lang="en-US"/>
              <a:t>Binary Stars in a New Era</a:t>
            </a:r>
            <a:endParaRPr lang="en-US" dirty="0"/>
          </a:p>
        </p:txBody>
      </p:sp>
      <p:sp>
        <p:nvSpPr>
          <p:cNvPr id="4" name="Slide Number Placeholder 3">
            <a:extLst>
              <a:ext uri="{FF2B5EF4-FFF2-40B4-BE49-F238E27FC236}">
                <a16:creationId xmlns:a16="http://schemas.microsoft.com/office/drawing/2014/main" id="{CAEBCBCA-1293-C100-B6F7-242744A9EF33}"/>
              </a:ext>
            </a:extLst>
          </p:cNvPr>
          <p:cNvSpPr>
            <a:spLocks noGrp="1"/>
          </p:cNvSpPr>
          <p:nvPr>
            <p:ph type="sldNum" sz="quarter" idx="12"/>
          </p:nvPr>
        </p:nvSpPr>
        <p:spPr/>
        <p:txBody>
          <a:bodyPr/>
          <a:lstStyle/>
          <a:p>
            <a:fld id="{CE0A201B-ED89-3E49-8333-B23E6243976D}" type="slidenum">
              <a:rPr lang="en-US" smtClean="0"/>
              <a:t>11</a:t>
            </a:fld>
            <a:endParaRPr lang="en-US"/>
          </a:p>
        </p:txBody>
      </p:sp>
      <p:pic>
        <p:nvPicPr>
          <p:cNvPr id="5" name="Picture 4" descr="A graph of a graph&#10;&#10;AI-generated content may be incorrect.">
            <a:extLst>
              <a:ext uri="{FF2B5EF4-FFF2-40B4-BE49-F238E27FC236}">
                <a16:creationId xmlns:a16="http://schemas.microsoft.com/office/drawing/2014/main" id="{5CA83F1B-F7FC-E2CD-A882-191614EA64E6}"/>
              </a:ext>
            </a:extLst>
          </p:cNvPr>
          <p:cNvPicPr>
            <a:picLocks noChangeAspect="1"/>
          </p:cNvPicPr>
          <p:nvPr/>
        </p:nvPicPr>
        <p:blipFill>
          <a:blip r:embed="rId3"/>
          <a:stretch>
            <a:fillRect/>
          </a:stretch>
        </p:blipFill>
        <p:spPr>
          <a:xfrm>
            <a:off x="3454950" y="1864746"/>
            <a:ext cx="5281132" cy="4069443"/>
          </a:xfrm>
          <a:prstGeom prst="rect">
            <a:avLst/>
          </a:prstGeom>
        </p:spPr>
      </p:pic>
      <p:sp>
        <p:nvSpPr>
          <p:cNvPr id="6" name="TextBox 5">
            <a:extLst>
              <a:ext uri="{FF2B5EF4-FFF2-40B4-BE49-F238E27FC236}">
                <a16:creationId xmlns:a16="http://schemas.microsoft.com/office/drawing/2014/main" id="{F4861F6B-A69B-2242-55CE-ED6D75B08ACC}"/>
              </a:ext>
            </a:extLst>
          </p:cNvPr>
          <p:cNvSpPr txBox="1"/>
          <p:nvPr/>
        </p:nvSpPr>
        <p:spPr>
          <a:xfrm>
            <a:off x="4164186" y="837175"/>
            <a:ext cx="3862660" cy="461665"/>
          </a:xfrm>
          <a:prstGeom prst="rect">
            <a:avLst/>
          </a:prstGeom>
          <a:noFill/>
        </p:spPr>
        <p:txBody>
          <a:bodyPr wrap="none" rtlCol="0">
            <a:spAutoFit/>
          </a:bodyPr>
          <a:lstStyle/>
          <a:p>
            <a:r>
              <a:rPr lang="en-US" sz="2400" b="1" dirty="0">
                <a:solidFill>
                  <a:srgbClr val="C1BAFE"/>
                </a:solidFill>
                <a:latin typeface="Seaford Display" pitchFamily="2" charset="0"/>
              </a:rPr>
              <a:t>DNS Total Mass Distribution</a:t>
            </a:r>
          </a:p>
        </p:txBody>
      </p:sp>
      <p:sp>
        <p:nvSpPr>
          <p:cNvPr id="7" name="TextBox 6">
            <a:extLst>
              <a:ext uri="{FF2B5EF4-FFF2-40B4-BE49-F238E27FC236}">
                <a16:creationId xmlns:a16="http://schemas.microsoft.com/office/drawing/2014/main" id="{98765F8D-D120-D30A-3613-D5CB97C93964}"/>
              </a:ext>
            </a:extLst>
          </p:cNvPr>
          <p:cNvSpPr txBox="1"/>
          <p:nvPr/>
        </p:nvSpPr>
        <p:spPr>
          <a:xfrm>
            <a:off x="6909229" y="3105797"/>
            <a:ext cx="4429331" cy="646331"/>
          </a:xfrm>
          <a:prstGeom prst="rect">
            <a:avLst/>
          </a:prstGeom>
          <a:noFill/>
        </p:spPr>
        <p:txBody>
          <a:bodyPr wrap="square" rtlCol="0">
            <a:spAutoFit/>
          </a:bodyPr>
          <a:lstStyle/>
          <a:p>
            <a:r>
              <a:rPr lang="en-US" dirty="0"/>
              <a:t>Overproduce high mass systems than observed </a:t>
            </a:r>
          </a:p>
        </p:txBody>
      </p:sp>
      <p:cxnSp>
        <p:nvCxnSpPr>
          <p:cNvPr id="8" name="Curved Connector 7">
            <a:extLst>
              <a:ext uri="{FF2B5EF4-FFF2-40B4-BE49-F238E27FC236}">
                <a16:creationId xmlns:a16="http://schemas.microsoft.com/office/drawing/2014/main" id="{DAF59735-32D9-3250-A8B9-9C170212008B}"/>
              </a:ext>
            </a:extLst>
          </p:cNvPr>
          <p:cNvCxnSpPr>
            <a:cxnSpLocks/>
          </p:cNvCxnSpPr>
          <p:nvPr/>
        </p:nvCxnSpPr>
        <p:spPr>
          <a:xfrm>
            <a:off x="7875041" y="2309698"/>
            <a:ext cx="861041" cy="796175"/>
          </a:xfrm>
          <a:prstGeom prst="curvedConnector2">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CFFB6CB-A42C-F599-D898-410B83CF6D97}"/>
              </a:ext>
            </a:extLst>
          </p:cNvPr>
          <p:cNvSpPr txBox="1"/>
          <p:nvPr/>
        </p:nvSpPr>
        <p:spPr>
          <a:xfrm>
            <a:off x="4293220" y="1259333"/>
            <a:ext cx="3604592" cy="461665"/>
          </a:xfrm>
          <a:prstGeom prst="rect">
            <a:avLst/>
          </a:prstGeom>
          <a:noFill/>
        </p:spPr>
        <p:txBody>
          <a:bodyPr wrap="square" rtlCol="0">
            <a:spAutoFit/>
          </a:bodyPr>
          <a:lstStyle/>
          <a:p>
            <a:pPr algn="ctr"/>
            <a:r>
              <a:rPr lang="en-US" sz="2400" dirty="0">
                <a:solidFill>
                  <a:srgbClr val="C1BAFE"/>
                </a:solidFill>
                <a:latin typeface="Seaford Display" pitchFamily="2" charset="0"/>
              </a:rPr>
              <a:t>Standard Model</a:t>
            </a:r>
          </a:p>
        </p:txBody>
      </p:sp>
    </p:spTree>
    <p:extLst>
      <p:ext uri="{BB962C8B-B14F-4D97-AF65-F5344CB8AC3E}">
        <p14:creationId xmlns:p14="http://schemas.microsoft.com/office/powerpoint/2010/main" val="1814935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0C2B"/>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EC23D7-157C-F3B4-A0B5-E93A477DAA31}"/>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602CE6BD-DFB2-CAA9-8C6A-6BA6C2C16294}"/>
              </a:ext>
            </a:extLst>
          </p:cNvPr>
          <p:cNvSpPr>
            <a:spLocks noGrp="1"/>
          </p:cNvSpPr>
          <p:nvPr>
            <p:ph type="ftr" sz="quarter" idx="11"/>
          </p:nvPr>
        </p:nvSpPr>
        <p:spPr/>
        <p:txBody>
          <a:bodyPr/>
          <a:lstStyle/>
          <a:p>
            <a:r>
              <a:rPr lang="en-US"/>
              <a:t>Binary Stars in a New Era</a:t>
            </a:r>
            <a:endParaRPr lang="en-US" dirty="0"/>
          </a:p>
        </p:txBody>
      </p:sp>
      <p:sp>
        <p:nvSpPr>
          <p:cNvPr id="4" name="Slide Number Placeholder 3">
            <a:extLst>
              <a:ext uri="{FF2B5EF4-FFF2-40B4-BE49-F238E27FC236}">
                <a16:creationId xmlns:a16="http://schemas.microsoft.com/office/drawing/2014/main" id="{E2EFB5CC-A44D-8B00-E006-FA132E906B4B}"/>
              </a:ext>
            </a:extLst>
          </p:cNvPr>
          <p:cNvSpPr>
            <a:spLocks noGrp="1"/>
          </p:cNvSpPr>
          <p:nvPr>
            <p:ph type="sldNum" sz="quarter" idx="12"/>
          </p:nvPr>
        </p:nvSpPr>
        <p:spPr/>
        <p:txBody>
          <a:bodyPr/>
          <a:lstStyle/>
          <a:p>
            <a:fld id="{CE0A201B-ED89-3E49-8333-B23E6243976D}" type="slidenum">
              <a:rPr lang="en-US" smtClean="0"/>
              <a:t>12</a:t>
            </a:fld>
            <a:endParaRPr lang="en-US"/>
          </a:p>
        </p:txBody>
      </p:sp>
      <p:sp>
        <p:nvSpPr>
          <p:cNvPr id="5" name="TextBox 4">
            <a:extLst>
              <a:ext uri="{FF2B5EF4-FFF2-40B4-BE49-F238E27FC236}">
                <a16:creationId xmlns:a16="http://schemas.microsoft.com/office/drawing/2014/main" id="{B0800D46-309F-E874-6EC0-DFC13114A33C}"/>
              </a:ext>
            </a:extLst>
          </p:cNvPr>
          <p:cNvSpPr txBox="1"/>
          <p:nvPr/>
        </p:nvSpPr>
        <p:spPr>
          <a:xfrm>
            <a:off x="2406019" y="1218058"/>
            <a:ext cx="7378994" cy="830997"/>
          </a:xfrm>
          <a:prstGeom prst="rect">
            <a:avLst/>
          </a:prstGeom>
          <a:noFill/>
        </p:spPr>
        <p:txBody>
          <a:bodyPr wrap="square" rtlCol="0">
            <a:spAutoFit/>
          </a:bodyPr>
          <a:lstStyle/>
          <a:p>
            <a:pPr algn="ctr"/>
            <a:r>
              <a:rPr lang="en-US" sz="2400" b="1" dirty="0">
                <a:solidFill>
                  <a:srgbClr val="C1BAFE"/>
                </a:solidFill>
                <a:latin typeface="Seaford Display" pitchFamily="2" charset="0"/>
              </a:rPr>
              <a:t>Issues with the Standard Prescription</a:t>
            </a:r>
          </a:p>
          <a:p>
            <a:pPr algn="ctr"/>
            <a:endParaRPr lang="en-US" sz="2400" b="1" dirty="0">
              <a:solidFill>
                <a:srgbClr val="C1BAFE"/>
              </a:solidFill>
              <a:latin typeface="Seaford Display" pitchFamily="2" charset="0"/>
            </a:endParaRPr>
          </a:p>
        </p:txBody>
      </p:sp>
      <p:sp>
        <p:nvSpPr>
          <p:cNvPr id="6" name="TextBox 5">
            <a:extLst>
              <a:ext uri="{FF2B5EF4-FFF2-40B4-BE49-F238E27FC236}">
                <a16:creationId xmlns:a16="http://schemas.microsoft.com/office/drawing/2014/main" id="{71786EDC-43B7-6A45-E2A6-4E2492387F48}"/>
              </a:ext>
            </a:extLst>
          </p:cNvPr>
          <p:cNvSpPr txBox="1"/>
          <p:nvPr/>
        </p:nvSpPr>
        <p:spPr>
          <a:xfrm>
            <a:off x="2846534" y="2586127"/>
            <a:ext cx="5695598" cy="400110"/>
          </a:xfrm>
          <a:prstGeom prst="rect">
            <a:avLst/>
          </a:prstGeom>
          <a:noFill/>
        </p:spPr>
        <p:txBody>
          <a:bodyPr wrap="none" rtlCol="0">
            <a:spAutoFit/>
          </a:bodyPr>
          <a:lstStyle/>
          <a:p>
            <a:pPr marL="285750" indent="-285750" algn="ctr">
              <a:buFont typeface="Arial" panose="020B0604020202020204" pitchFamily="34" charset="0"/>
              <a:buChar char="•"/>
            </a:pPr>
            <a:r>
              <a:rPr lang="en-US" sz="2000" b="1" dirty="0">
                <a:latin typeface="Seaford Display" pitchFamily="2" charset="0"/>
              </a:rPr>
              <a:t>Overpredicts orbital eccentricities of the systems</a:t>
            </a:r>
          </a:p>
        </p:txBody>
      </p:sp>
      <p:sp>
        <p:nvSpPr>
          <p:cNvPr id="7" name="TextBox 6">
            <a:extLst>
              <a:ext uri="{FF2B5EF4-FFF2-40B4-BE49-F238E27FC236}">
                <a16:creationId xmlns:a16="http://schemas.microsoft.com/office/drawing/2014/main" id="{53D282FE-BF91-82D4-628E-13C5DF075430}"/>
              </a:ext>
            </a:extLst>
          </p:cNvPr>
          <p:cNvSpPr txBox="1"/>
          <p:nvPr/>
        </p:nvSpPr>
        <p:spPr>
          <a:xfrm>
            <a:off x="2846534" y="3373990"/>
            <a:ext cx="6497963"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latin typeface="Seaford Display" pitchFamily="2" charset="0"/>
              </a:rPr>
              <a:t>Overpredicts DNS total mass compared to what we observe at solar metallicity</a:t>
            </a:r>
          </a:p>
        </p:txBody>
      </p:sp>
    </p:spTree>
    <p:extLst>
      <p:ext uri="{BB962C8B-B14F-4D97-AF65-F5344CB8AC3E}">
        <p14:creationId xmlns:p14="http://schemas.microsoft.com/office/powerpoint/2010/main" val="1082053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0C2B"/>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86454A-315E-1DCF-097D-CC6F4D4963E1}"/>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72D0F43C-F547-C122-5A42-6D15212C93D3}"/>
              </a:ext>
            </a:extLst>
          </p:cNvPr>
          <p:cNvSpPr>
            <a:spLocks noGrp="1"/>
          </p:cNvSpPr>
          <p:nvPr>
            <p:ph type="ftr" sz="quarter" idx="11"/>
          </p:nvPr>
        </p:nvSpPr>
        <p:spPr/>
        <p:txBody>
          <a:bodyPr/>
          <a:lstStyle/>
          <a:p>
            <a:r>
              <a:rPr lang="en-US"/>
              <a:t>Binary Stars in a New Era</a:t>
            </a:r>
            <a:endParaRPr lang="en-US" dirty="0"/>
          </a:p>
        </p:txBody>
      </p:sp>
      <p:sp>
        <p:nvSpPr>
          <p:cNvPr id="4" name="Slide Number Placeholder 3">
            <a:extLst>
              <a:ext uri="{FF2B5EF4-FFF2-40B4-BE49-F238E27FC236}">
                <a16:creationId xmlns:a16="http://schemas.microsoft.com/office/drawing/2014/main" id="{46FC385E-A148-1A7F-7DDD-79E71A815574}"/>
              </a:ext>
            </a:extLst>
          </p:cNvPr>
          <p:cNvSpPr>
            <a:spLocks noGrp="1"/>
          </p:cNvSpPr>
          <p:nvPr>
            <p:ph type="sldNum" sz="quarter" idx="12"/>
          </p:nvPr>
        </p:nvSpPr>
        <p:spPr/>
        <p:txBody>
          <a:bodyPr/>
          <a:lstStyle/>
          <a:p>
            <a:fld id="{CE0A201B-ED89-3E49-8333-B23E6243976D}" type="slidenum">
              <a:rPr lang="en-US" smtClean="0"/>
              <a:t>13</a:t>
            </a:fld>
            <a:endParaRPr lang="en-US"/>
          </a:p>
        </p:txBody>
      </p:sp>
      <p:sp>
        <p:nvSpPr>
          <p:cNvPr id="5" name="TextBox 4">
            <a:extLst>
              <a:ext uri="{FF2B5EF4-FFF2-40B4-BE49-F238E27FC236}">
                <a16:creationId xmlns:a16="http://schemas.microsoft.com/office/drawing/2014/main" id="{540771CA-F110-AF98-0D03-AF0E64D0947B}"/>
              </a:ext>
            </a:extLst>
          </p:cNvPr>
          <p:cNvSpPr txBox="1"/>
          <p:nvPr/>
        </p:nvSpPr>
        <p:spPr>
          <a:xfrm>
            <a:off x="2877866" y="2338458"/>
            <a:ext cx="7764370" cy="1631216"/>
          </a:xfrm>
          <a:prstGeom prst="rect">
            <a:avLst/>
          </a:prstGeom>
          <a:noFill/>
        </p:spPr>
        <p:txBody>
          <a:bodyPr wrap="none" rtlCol="0">
            <a:spAutoFit/>
          </a:bodyPr>
          <a:lstStyle/>
          <a:p>
            <a:pPr marL="342900" indent="-342900">
              <a:buAutoNum type="arabicPeriod"/>
            </a:pPr>
            <a:r>
              <a:rPr lang="en-US" sz="2000" dirty="0">
                <a:latin typeface="Seaford Display" pitchFamily="2" charset="0"/>
              </a:rPr>
              <a:t>Different remnant mass and CO core mass relation</a:t>
            </a:r>
          </a:p>
          <a:p>
            <a:pPr marL="342900" indent="-342900">
              <a:buAutoNum type="arabicPeriod"/>
            </a:pPr>
            <a:endParaRPr lang="en-US" sz="2000" dirty="0">
              <a:latin typeface="Seaford Display" pitchFamily="2" charset="0"/>
            </a:endParaRPr>
          </a:p>
          <a:p>
            <a:pPr marL="342900" indent="-342900">
              <a:buAutoNum type="arabicPeriod"/>
            </a:pPr>
            <a:r>
              <a:rPr lang="en-US" sz="2000" dirty="0">
                <a:latin typeface="Seaford Display" pitchFamily="2" charset="0"/>
              </a:rPr>
              <a:t>Incorporate Ultra-stripped and Electron capture supernova conditions</a:t>
            </a:r>
          </a:p>
          <a:p>
            <a:pPr marL="342900" indent="-342900">
              <a:buAutoNum type="arabicPeriod"/>
            </a:pPr>
            <a:endParaRPr lang="en-US" sz="2000" dirty="0">
              <a:latin typeface="Seaford Display" pitchFamily="2" charset="0"/>
            </a:endParaRPr>
          </a:p>
          <a:p>
            <a:pPr marL="342900" indent="-342900">
              <a:buAutoNum type="arabicPeriod"/>
            </a:pPr>
            <a:r>
              <a:rPr lang="en-US" sz="2000" dirty="0">
                <a:latin typeface="Seaford Display" pitchFamily="2" charset="0"/>
              </a:rPr>
              <a:t>Kick slow merging systems to high velocities</a:t>
            </a:r>
          </a:p>
        </p:txBody>
      </p:sp>
      <p:sp>
        <p:nvSpPr>
          <p:cNvPr id="6" name="TextBox 5">
            <a:extLst>
              <a:ext uri="{FF2B5EF4-FFF2-40B4-BE49-F238E27FC236}">
                <a16:creationId xmlns:a16="http://schemas.microsoft.com/office/drawing/2014/main" id="{5217AC5B-C8D4-A6A8-9F2C-095D0FBDE5E7}"/>
              </a:ext>
            </a:extLst>
          </p:cNvPr>
          <p:cNvSpPr txBox="1"/>
          <p:nvPr/>
        </p:nvSpPr>
        <p:spPr>
          <a:xfrm>
            <a:off x="3649718" y="1121336"/>
            <a:ext cx="4891596" cy="461665"/>
          </a:xfrm>
          <a:prstGeom prst="rect">
            <a:avLst/>
          </a:prstGeom>
          <a:noFill/>
        </p:spPr>
        <p:txBody>
          <a:bodyPr wrap="none" rtlCol="0">
            <a:spAutoFit/>
          </a:bodyPr>
          <a:lstStyle/>
          <a:p>
            <a:pPr algn="ctr"/>
            <a:r>
              <a:rPr lang="en-US" sz="2400" b="1" dirty="0">
                <a:solidFill>
                  <a:srgbClr val="C1BAFE"/>
                </a:solidFill>
                <a:latin typeface="Seaford Display" pitchFamily="2" charset="0"/>
              </a:rPr>
              <a:t>Modifications to the Standard Model</a:t>
            </a:r>
          </a:p>
        </p:txBody>
      </p:sp>
    </p:spTree>
    <p:extLst>
      <p:ext uri="{BB962C8B-B14F-4D97-AF65-F5344CB8AC3E}">
        <p14:creationId xmlns:p14="http://schemas.microsoft.com/office/powerpoint/2010/main" val="311125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20C2B"/>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5F1192-CB94-92B0-199E-F66B8BD66366}"/>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66918DA4-12D7-94E4-521A-B704CB4B6DAC}"/>
              </a:ext>
            </a:extLst>
          </p:cNvPr>
          <p:cNvSpPr>
            <a:spLocks noGrp="1"/>
          </p:cNvSpPr>
          <p:nvPr>
            <p:ph type="ftr" sz="quarter" idx="11"/>
          </p:nvPr>
        </p:nvSpPr>
        <p:spPr/>
        <p:txBody>
          <a:bodyPr/>
          <a:lstStyle/>
          <a:p>
            <a:r>
              <a:rPr lang="en-US"/>
              <a:t>Binary Stars in a New Era</a:t>
            </a:r>
            <a:endParaRPr lang="en-US" dirty="0"/>
          </a:p>
        </p:txBody>
      </p:sp>
      <p:sp>
        <p:nvSpPr>
          <p:cNvPr id="4" name="Slide Number Placeholder 3">
            <a:extLst>
              <a:ext uri="{FF2B5EF4-FFF2-40B4-BE49-F238E27FC236}">
                <a16:creationId xmlns:a16="http://schemas.microsoft.com/office/drawing/2014/main" id="{536CB9DA-AE83-2925-0E2A-D1DBAC2D1C87}"/>
              </a:ext>
            </a:extLst>
          </p:cNvPr>
          <p:cNvSpPr>
            <a:spLocks noGrp="1"/>
          </p:cNvSpPr>
          <p:nvPr>
            <p:ph type="sldNum" sz="quarter" idx="12"/>
          </p:nvPr>
        </p:nvSpPr>
        <p:spPr/>
        <p:txBody>
          <a:bodyPr/>
          <a:lstStyle/>
          <a:p>
            <a:fld id="{CE0A201B-ED89-3E49-8333-B23E6243976D}" type="slidenum">
              <a:rPr lang="en-US" smtClean="0"/>
              <a:t>14</a:t>
            </a:fld>
            <a:endParaRPr lang="en-US"/>
          </a:p>
        </p:txBody>
      </p:sp>
      <p:pic>
        <p:nvPicPr>
          <p:cNvPr id="5" name="Picture 4">
            <a:extLst>
              <a:ext uri="{FF2B5EF4-FFF2-40B4-BE49-F238E27FC236}">
                <a16:creationId xmlns:a16="http://schemas.microsoft.com/office/drawing/2014/main" id="{37B7D733-912E-CFE2-FBD4-FC32751019D4}"/>
              </a:ext>
            </a:extLst>
          </p:cNvPr>
          <p:cNvPicPr>
            <a:picLocks noChangeAspect="1"/>
          </p:cNvPicPr>
          <p:nvPr/>
        </p:nvPicPr>
        <p:blipFill>
          <a:blip r:embed="rId3"/>
          <a:stretch>
            <a:fillRect/>
          </a:stretch>
        </p:blipFill>
        <p:spPr>
          <a:xfrm>
            <a:off x="626065" y="1475683"/>
            <a:ext cx="5096582" cy="3906631"/>
          </a:xfrm>
          <a:prstGeom prst="rect">
            <a:avLst/>
          </a:prstGeom>
        </p:spPr>
      </p:pic>
      <p:sp>
        <p:nvSpPr>
          <p:cNvPr id="6" name="TextBox 5">
            <a:extLst>
              <a:ext uri="{FF2B5EF4-FFF2-40B4-BE49-F238E27FC236}">
                <a16:creationId xmlns:a16="http://schemas.microsoft.com/office/drawing/2014/main" id="{44689DF4-461C-5774-17AF-832E20AD31E7}"/>
              </a:ext>
            </a:extLst>
          </p:cNvPr>
          <p:cNvSpPr txBox="1"/>
          <p:nvPr/>
        </p:nvSpPr>
        <p:spPr>
          <a:xfrm>
            <a:off x="1457018" y="725326"/>
            <a:ext cx="3604592" cy="400110"/>
          </a:xfrm>
          <a:prstGeom prst="rect">
            <a:avLst/>
          </a:prstGeom>
          <a:noFill/>
        </p:spPr>
        <p:txBody>
          <a:bodyPr wrap="square" rtlCol="0">
            <a:spAutoFit/>
          </a:bodyPr>
          <a:lstStyle/>
          <a:p>
            <a:pPr algn="ctr"/>
            <a:r>
              <a:rPr lang="en-US" sz="2000" dirty="0">
                <a:solidFill>
                  <a:srgbClr val="C1BAFE"/>
                </a:solidFill>
                <a:latin typeface="Seaford Display" pitchFamily="2" charset="0"/>
              </a:rPr>
              <a:t>Standard Model</a:t>
            </a:r>
          </a:p>
        </p:txBody>
      </p:sp>
      <p:sp>
        <p:nvSpPr>
          <p:cNvPr id="7" name="TextBox 6">
            <a:extLst>
              <a:ext uri="{FF2B5EF4-FFF2-40B4-BE49-F238E27FC236}">
                <a16:creationId xmlns:a16="http://schemas.microsoft.com/office/drawing/2014/main" id="{C4E97D02-53FD-7A50-86D8-81BF73BE6DEC}"/>
              </a:ext>
            </a:extLst>
          </p:cNvPr>
          <p:cNvSpPr txBox="1"/>
          <p:nvPr/>
        </p:nvSpPr>
        <p:spPr>
          <a:xfrm>
            <a:off x="1791609" y="5763342"/>
            <a:ext cx="8607813" cy="369332"/>
          </a:xfrm>
          <a:prstGeom prst="rect">
            <a:avLst/>
          </a:prstGeom>
          <a:noFill/>
        </p:spPr>
        <p:txBody>
          <a:bodyPr wrap="square" rtlCol="0">
            <a:spAutoFit/>
          </a:bodyPr>
          <a:lstStyle/>
          <a:p>
            <a:pPr algn="ctr"/>
            <a:r>
              <a:rPr lang="en-US" dirty="0"/>
              <a:t>Remnant masses (NS2) as a function of CO core mass</a:t>
            </a:r>
          </a:p>
        </p:txBody>
      </p:sp>
      <p:sp>
        <p:nvSpPr>
          <p:cNvPr id="8" name="TextBox 7">
            <a:extLst>
              <a:ext uri="{FF2B5EF4-FFF2-40B4-BE49-F238E27FC236}">
                <a16:creationId xmlns:a16="http://schemas.microsoft.com/office/drawing/2014/main" id="{19FF0C1C-3B33-C06F-3A20-9B014FA6385D}"/>
              </a:ext>
            </a:extLst>
          </p:cNvPr>
          <p:cNvSpPr txBox="1"/>
          <p:nvPr/>
        </p:nvSpPr>
        <p:spPr>
          <a:xfrm>
            <a:off x="2619395" y="1012287"/>
            <a:ext cx="1279838" cy="400110"/>
          </a:xfrm>
          <a:prstGeom prst="rect">
            <a:avLst/>
          </a:prstGeom>
          <a:noFill/>
        </p:spPr>
        <p:txBody>
          <a:bodyPr wrap="none" rtlCol="0">
            <a:spAutoFit/>
          </a:bodyPr>
          <a:lstStyle/>
          <a:p>
            <a:r>
              <a:rPr lang="en-US" sz="2000" dirty="0">
                <a:solidFill>
                  <a:srgbClr val="C1BAFE"/>
                </a:solidFill>
                <a:latin typeface="Seaford Display" pitchFamily="2" charset="0"/>
              </a:rPr>
              <a:t>(BEFORE)</a:t>
            </a:r>
          </a:p>
        </p:txBody>
      </p:sp>
      <p:pic>
        <p:nvPicPr>
          <p:cNvPr id="9" name="Picture 8">
            <a:extLst>
              <a:ext uri="{FF2B5EF4-FFF2-40B4-BE49-F238E27FC236}">
                <a16:creationId xmlns:a16="http://schemas.microsoft.com/office/drawing/2014/main" id="{B89BECE2-C03E-B33B-357F-7F9D7CD5D1AE}"/>
              </a:ext>
            </a:extLst>
          </p:cNvPr>
          <p:cNvPicPr>
            <a:picLocks noChangeAspect="1"/>
          </p:cNvPicPr>
          <p:nvPr/>
        </p:nvPicPr>
        <p:blipFill>
          <a:blip r:embed="rId4"/>
          <a:stretch>
            <a:fillRect/>
          </a:stretch>
        </p:blipFill>
        <p:spPr>
          <a:xfrm>
            <a:off x="6095516" y="1475682"/>
            <a:ext cx="5096582" cy="3906631"/>
          </a:xfrm>
          <a:prstGeom prst="rect">
            <a:avLst/>
          </a:prstGeom>
        </p:spPr>
      </p:pic>
      <p:sp>
        <p:nvSpPr>
          <p:cNvPr id="10" name="TextBox 9">
            <a:extLst>
              <a:ext uri="{FF2B5EF4-FFF2-40B4-BE49-F238E27FC236}">
                <a16:creationId xmlns:a16="http://schemas.microsoft.com/office/drawing/2014/main" id="{FD381673-A345-5A01-CE25-FC9BC3A1B7D4}"/>
              </a:ext>
            </a:extLst>
          </p:cNvPr>
          <p:cNvSpPr txBox="1"/>
          <p:nvPr/>
        </p:nvSpPr>
        <p:spPr>
          <a:xfrm>
            <a:off x="7714182" y="804001"/>
            <a:ext cx="2835965" cy="400110"/>
          </a:xfrm>
          <a:prstGeom prst="rect">
            <a:avLst/>
          </a:prstGeom>
          <a:noFill/>
        </p:spPr>
        <p:txBody>
          <a:bodyPr wrap="square" rtlCol="0">
            <a:spAutoFit/>
          </a:bodyPr>
          <a:lstStyle/>
          <a:p>
            <a:pPr algn="ctr"/>
            <a:r>
              <a:rPr lang="en-US" sz="2000" dirty="0">
                <a:solidFill>
                  <a:srgbClr val="C1BAFE"/>
                </a:solidFill>
                <a:latin typeface="Seaford Display" pitchFamily="2" charset="0"/>
              </a:rPr>
              <a:t>Modified Model</a:t>
            </a:r>
          </a:p>
        </p:txBody>
      </p:sp>
    </p:spTree>
    <p:extLst>
      <p:ext uri="{BB962C8B-B14F-4D97-AF65-F5344CB8AC3E}">
        <p14:creationId xmlns:p14="http://schemas.microsoft.com/office/powerpoint/2010/main" val="4183648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0C2B"/>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900090-B37E-251D-63D7-F629D17F127F}"/>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6ACAB0D2-4C10-FBD3-E36F-214A9DAEF3FD}"/>
              </a:ext>
            </a:extLst>
          </p:cNvPr>
          <p:cNvSpPr>
            <a:spLocks noGrp="1"/>
          </p:cNvSpPr>
          <p:nvPr>
            <p:ph type="ftr" sz="quarter" idx="11"/>
          </p:nvPr>
        </p:nvSpPr>
        <p:spPr/>
        <p:txBody>
          <a:bodyPr/>
          <a:lstStyle/>
          <a:p>
            <a:r>
              <a:rPr lang="en-US"/>
              <a:t>Binary Stars in a New Era</a:t>
            </a:r>
            <a:endParaRPr lang="en-US" dirty="0"/>
          </a:p>
        </p:txBody>
      </p:sp>
      <p:sp>
        <p:nvSpPr>
          <p:cNvPr id="4" name="Slide Number Placeholder 3">
            <a:extLst>
              <a:ext uri="{FF2B5EF4-FFF2-40B4-BE49-F238E27FC236}">
                <a16:creationId xmlns:a16="http://schemas.microsoft.com/office/drawing/2014/main" id="{336E251E-8AAB-D8A4-B10C-2C7BFA365EE6}"/>
              </a:ext>
            </a:extLst>
          </p:cNvPr>
          <p:cNvSpPr>
            <a:spLocks noGrp="1"/>
          </p:cNvSpPr>
          <p:nvPr>
            <p:ph type="sldNum" sz="quarter" idx="12"/>
          </p:nvPr>
        </p:nvSpPr>
        <p:spPr/>
        <p:txBody>
          <a:bodyPr/>
          <a:lstStyle/>
          <a:p>
            <a:fld id="{CE0A201B-ED89-3E49-8333-B23E6243976D}" type="slidenum">
              <a:rPr lang="en-US" smtClean="0"/>
              <a:t>15</a:t>
            </a:fld>
            <a:endParaRPr lang="en-US"/>
          </a:p>
        </p:txBody>
      </p:sp>
      <p:pic>
        <p:nvPicPr>
          <p:cNvPr id="5" name="Picture 4" descr="A graph with colorful stars&#10;&#10;AI-generated content may be incorrect.">
            <a:extLst>
              <a:ext uri="{FF2B5EF4-FFF2-40B4-BE49-F238E27FC236}">
                <a16:creationId xmlns:a16="http://schemas.microsoft.com/office/drawing/2014/main" id="{CD7011E4-9416-51A7-F8E8-B715C7C27E40}"/>
              </a:ext>
            </a:extLst>
          </p:cNvPr>
          <p:cNvPicPr>
            <a:picLocks noChangeAspect="1"/>
          </p:cNvPicPr>
          <p:nvPr/>
        </p:nvPicPr>
        <p:blipFill>
          <a:blip r:embed="rId3"/>
          <a:stretch>
            <a:fillRect/>
          </a:stretch>
        </p:blipFill>
        <p:spPr>
          <a:xfrm>
            <a:off x="773265" y="1475684"/>
            <a:ext cx="5096581" cy="3906631"/>
          </a:xfrm>
          <a:prstGeom prst="rect">
            <a:avLst/>
          </a:prstGeom>
        </p:spPr>
      </p:pic>
      <p:pic>
        <p:nvPicPr>
          <p:cNvPr id="6" name="Picture 5">
            <a:extLst>
              <a:ext uri="{FF2B5EF4-FFF2-40B4-BE49-F238E27FC236}">
                <a16:creationId xmlns:a16="http://schemas.microsoft.com/office/drawing/2014/main" id="{512B0ACC-BD9C-848B-D5EA-66130ED1B48F}"/>
              </a:ext>
            </a:extLst>
          </p:cNvPr>
          <p:cNvPicPr>
            <a:picLocks noChangeAspect="1"/>
          </p:cNvPicPr>
          <p:nvPr/>
        </p:nvPicPr>
        <p:blipFill>
          <a:blip r:embed="rId4"/>
          <a:stretch>
            <a:fillRect/>
          </a:stretch>
        </p:blipFill>
        <p:spPr>
          <a:xfrm>
            <a:off x="6247955" y="1475684"/>
            <a:ext cx="5096582" cy="3906631"/>
          </a:xfrm>
          <a:prstGeom prst="rect">
            <a:avLst/>
          </a:prstGeom>
        </p:spPr>
      </p:pic>
      <p:sp>
        <p:nvSpPr>
          <p:cNvPr id="7" name="TextBox 6">
            <a:extLst>
              <a:ext uri="{FF2B5EF4-FFF2-40B4-BE49-F238E27FC236}">
                <a16:creationId xmlns:a16="http://schemas.microsoft.com/office/drawing/2014/main" id="{D8D481F4-A31A-CB1D-44FD-0F3A914B9986}"/>
              </a:ext>
            </a:extLst>
          </p:cNvPr>
          <p:cNvSpPr txBox="1"/>
          <p:nvPr/>
        </p:nvSpPr>
        <p:spPr>
          <a:xfrm>
            <a:off x="2501429" y="5684665"/>
            <a:ext cx="7188173" cy="369332"/>
          </a:xfrm>
          <a:prstGeom prst="rect">
            <a:avLst/>
          </a:prstGeom>
          <a:noFill/>
        </p:spPr>
        <p:txBody>
          <a:bodyPr wrap="square" rtlCol="0">
            <a:spAutoFit/>
          </a:bodyPr>
          <a:lstStyle/>
          <a:p>
            <a:pPr algn="ctr"/>
            <a:r>
              <a:rPr lang="en-US" dirty="0">
                <a:latin typeface="Seaford Display" pitchFamily="2" charset="0"/>
              </a:rPr>
              <a:t>Kick velocity for the corresponding NS2 as a function of CO core mass</a:t>
            </a:r>
          </a:p>
        </p:txBody>
      </p:sp>
      <p:sp>
        <p:nvSpPr>
          <p:cNvPr id="8" name="TextBox 7">
            <a:extLst>
              <a:ext uri="{FF2B5EF4-FFF2-40B4-BE49-F238E27FC236}">
                <a16:creationId xmlns:a16="http://schemas.microsoft.com/office/drawing/2014/main" id="{D8121C53-8A94-A918-60C5-76E5811DC221}"/>
              </a:ext>
            </a:extLst>
          </p:cNvPr>
          <p:cNvSpPr txBox="1"/>
          <p:nvPr/>
        </p:nvSpPr>
        <p:spPr>
          <a:xfrm>
            <a:off x="1519259" y="737846"/>
            <a:ext cx="3604592" cy="400110"/>
          </a:xfrm>
          <a:prstGeom prst="rect">
            <a:avLst/>
          </a:prstGeom>
          <a:noFill/>
        </p:spPr>
        <p:txBody>
          <a:bodyPr wrap="square" rtlCol="0">
            <a:spAutoFit/>
          </a:bodyPr>
          <a:lstStyle/>
          <a:p>
            <a:pPr algn="ctr"/>
            <a:r>
              <a:rPr lang="en-US" sz="2000" dirty="0">
                <a:solidFill>
                  <a:srgbClr val="C1BAFE"/>
                </a:solidFill>
                <a:latin typeface="Seaford Display" pitchFamily="2" charset="0"/>
              </a:rPr>
              <a:t>Standard Model</a:t>
            </a:r>
          </a:p>
        </p:txBody>
      </p:sp>
      <p:sp>
        <p:nvSpPr>
          <p:cNvPr id="9" name="TextBox 8">
            <a:extLst>
              <a:ext uri="{FF2B5EF4-FFF2-40B4-BE49-F238E27FC236}">
                <a16:creationId xmlns:a16="http://schemas.microsoft.com/office/drawing/2014/main" id="{F2A421DC-E8DE-4F9E-750B-7212D082E150}"/>
              </a:ext>
            </a:extLst>
          </p:cNvPr>
          <p:cNvSpPr txBox="1"/>
          <p:nvPr/>
        </p:nvSpPr>
        <p:spPr>
          <a:xfrm>
            <a:off x="2692589" y="1070974"/>
            <a:ext cx="963534" cy="369332"/>
          </a:xfrm>
          <a:prstGeom prst="rect">
            <a:avLst/>
          </a:prstGeom>
          <a:noFill/>
        </p:spPr>
        <p:txBody>
          <a:bodyPr wrap="none" rtlCol="0">
            <a:spAutoFit/>
          </a:bodyPr>
          <a:lstStyle/>
          <a:p>
            <a:pPr algn="ctr"/>
            <a:r>
              <a:rPr lang="en-US" dirty="0">
                <a:solidFill>
                  <a:srgbClr val="C1BAFE"/>
                </a:solidFill>
                <a:latin typeface="Seaford Display" pitchFamily="2" charset="0"/>
              </a:rPr>
              <a:t>(Before)</a:t>
            </a:r>
          </a:p>
        </p:txBody>
      </p:sp>
      <p:sp>
        <p:nvSpPr>
          <p:cNvPr id="10" name="TextBox 9">
            <a:extLst>
              <a:ext uri="{FF2B5EF4-FFF2-40B4-BE49-F238E27FC236}">
                <a16:creationId xmlns:a16="http://schemas.microsoft.com/office/drawing/2014/main" id="{DBBB0F5C-FCA9-2644-C485-19625390B46E}"/>
              </a:ext>
            </a:extLst>
          </p:cNvPr>
          <p:cNvSpPr txBox="1"/>
          <p:nvPr/>
        </p:nvSpPr>
        <p:spPr>
          <a:xfrm>
            <a:off x="7714182" y="870919"/>
            <a:ext cx="2835965" cy="400110"/>
          </a:xfrm>
          <a:prstGeom prst="rect">
            <a:avLst/>
          </a:prstGeom>
          <a:noFill/>
        </p:spPr>
        <p:txBody>
          <a:bodyPr wrap="square" rtlCol="0">
            <a:spAutoFit/>
          </a:bodyPr>
          <a:lstStyle/>
          <a:p>
            <a:pPr algn="ctr"/>
            <a:r>
              <a:rPr lang="en-US" sz="2000" dirty="0">
                <a:solidFill>
                  <a:srgbClr val="C1BAFE"/>
                </a:solidFill>
                <a:latin typeface="Seaford Display" pitchFamily="2" charset="0"/>
              </a:rPr>
              <a:t>Modified Model</a:t>
            </a:r>
          </a:p>
        </p:txBody>
      </p:sp>
      <p:sp>
        <p:nvSpPr>
          <p:cNvPr id="11" name="Oval 10">
            <a:extLst>
              <a:ext uri="{FF2B5EF4-FFF2-40B4-BE49-F238E27FC236}">
                <a16:creationId xmlns:a16="http://schemas.microsoft.com/office/drawing/2014/main" id="{D660833D-9ABE-94B0-8B31-CF6949DB678C}"/>
              </a:ext>
            </a:extLst>
          </p:cNvPr>
          <p:cNvSpPr/>
          <p:nvPr/>
        </p:nvSpPr>
        <p:spPr>
          <a:xfrm>
            <a:off x="1641853" y="4073236"/>
            <a:ext cx="1084722" cy="73152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49A79EA-21BA-FFBD-DEBE-23ADEF9B7FA6}"/>
              </a:ext>
            </a:extLst>
          </p:cNvPr>
          <p:cNvSpPr/>
          <p:nvPr/>
        </p:nvSpPr>
        <p:spPr>
          <a:xfrm>
            <a:off x="7171821" y="4073236"/>
            <a:ext cx="1084722" cy="73152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07E5081-46B8-74A4-C0E7-5B55493D5CB3}"/>
              </a:ext>
            </a:extLst>
          </p:cNvPr>
          <p:cNvSpPr txBox="1"/>
          <p:nvPr/>
        </p:nvSpPr>
        <p:spPr>
          <a:xfrm>
            <a:off x="6300856" y="5197649"/>
            <a:ext cx="3559501" cy="369332"/>
          </a:xfrm>
          <a:prstGeom prst="rect">
            <a:avLst/>
          </a:prstGeom>
          <a:noFill/>
        </p:spPr>
        <p:txBody>
          <a:bodyPr wrap="none" rtlCol="0">
            <a:spAutoFit/>
          </a:bodyPr>
          <a:lstStyle/>
          <a:p>
            <a:r>
              <a:rPr lang="en-US" dirty="0">
                <a:latin typeface="Seaford Display" pitchFamily="2" charset="0"/>
              </a:rPr>
              <a:t>After incorporating USSN and ECSN</a:t>
            </a:r>
          </a:p>
        </p:txBody>
      </p:sp>
    </p:spTree>
    <p:extLst>
      <p:ext uri="{BB962C8B-B14F-4D97-AF65-F5344CB8AC3E}">
        <p14:creationId xmlns:p14="http://schemas.microsoft.com/office/powerpoint/2010/main" val="3045979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20C2B"/>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B5A489-8FA9-E4B3-82FE-F1EA04F718EE}"/>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DA61CDFB-901E-7D78-DEAE-6F06D3322A7D}"/>
              </a:ext>
            </a:extLst>
          </p:cNvPr>
          <p:cNvSpPr>
            <a:spLocks noGrp="1"/>
          </p:cNvSpPr>
          <p:nvPr>
            <p:ph type="ftr" sz="quarter" idx="11"/>
          </p:nvPr>
        </p:nvSpPr>
        <p:spPr/>
        <p:txBody>
          <a:bodyPr/>
          <a:lstStyle/>
          <a:p>
            <a:r>
              <a:rPr lang="en-US"/>
              <a:t>Binary Stars in a New Era</a:t>
            </a:r>
            <a:endParaRPr lang="en-US" dirty="0"/>
          </a:p>
        </p:txBody>
      </p:sp>
      <p:sp>
        <p:nvSpPr>
          <p:cNvPr id="4" name="Slide Number Placeholder 3">
            <a:extLst>
              <a:ext uri="{FF2B5EF4-FFF2-40B4-BE49-F238E27FC236}">
                <a16:creationId xmlns:a16="http://schemas.microsoft.com/office/drawing/2014/main" id="{DC371D2C-57BA-7323-BF18-62AD981BCEB6}"/>
              </a:ext>
            </a:extLst>
          </p:cNvPr>
          <p:cNvSpPr>
            <a:spLocks noGrp="1"/>
          </p:cNvSpPr>
          <p:nvPr>
            <p:ph type="sldNum" sz="quarter" idx="12"/>
          </p:nvPr>
        </p:nvSpPr>
        <p:spPr/>
        <p:txBody>
          <a:bodyPr/>
          <a:lstStyle/>
          <a:p>
            <a:fld id="{CE0A201B-ED89-3E49-8333-B23E6243976D}" type="slidenum">
              <a:rPr lang="en-US" smtClean="0"/>
              <a:t>16</a:t>
            </a:fld>
            <a:endParaRPr lang="en-US" dirty="0"/>
          </a:p>
        </p:txBody>
      </p:sp>
      <p:pic>
        <p:nvPicPr>
          <p:cNvPr id="5" name="Picture 4">
            <a:extLst>
              <a:ext uri="{FF2B5EF4-FFF2-40B4-BE49-F238E27FC236}">
                <a16:creationId xmlns:a16="http://schemas.microsoft.com/office/drawing/2014/main" id="{F5997A69-0D76-F926-1FE8-3BE1D5E67659}"/>
              </a:ext>
            </a:extLst>
          </p:cNvPr>
          <p:cNvPicPr>
            <a:picLocks noChangeAspect="1"/>
          </p:cNvPicPr>
          <p:nvPr/>
        </p:nvPicPr>
        <p:blipFill>
          <a:blip r:embed="rId3"/>
          <a:stretch>
            <a:fillRect/>
          </a:stretch>
        </p:blipFill>
        <p:spPr>
          <a:xfrm>
            <a:off x="6327929" y="1993690"/>
            <a:ext cx="5491561" cy="4154485"/>
          </a:xfrm>
          <a:prstGeom prst="rect">
            <a:avLst/>
          </a:prstGeom>
        </p:spPr>
      </p:pic>
      <p:sp>
        <p:nvSpPr>
          <p:cNvPr id="6" name="TextBox 5">
            <a:extLst>
              <a:ext uri="{FF2B5EF4-FFF2-40B4-BE49-F238E27FC236}">
                <a16:creationId xmlns:a16="http://schemas.microsoft.com/office/drawing/2014/main" id="{D960F41D-FA9B-30EB-6F91-AEC037589DE5}"/>
              </a:ext>
            </a:extLst>
          </p:cNvPr>
          <p:cNvSpPr txBox="1"/>
          <p:nvPr/>
        </p:nvSpPr>
        <p:spPr>
          <a:xfrm>
            <a:off x="3127844" y="671853"/>
            <a:ext cx="5956392" cy="461665"/>
          </a:xfrm>
          <a:prstGeom prst="rect">
            <a:avLst/>
          </a:prstGeom>
          <a:noFill/>
        </p:spPr>
        <p:txBody>
          <a:bodyPr wrap="square" rtlCol="0">
            <a:spAutoFit/>
          </a:bodyPr>
          <a:lstStyle/>
          <a:p>
            <a:pPr algn="ctr"/>
            <a:r>
              <a:rPr lang="en-US" sz="2400" dirty="0">
                <a:solidFill>
                  <a:srgbClr val="C1BAFE"/>
                </a:solidFill>
                <a:latin typeface="Seaford Display" pitchFamily="2" charset="0"/>
              </a:rPr>
              <a:t>Combined </a:t>
            </a:r>
            <a:r>
              <a:rPr lang="en-US" sz="2400" dirty="0" err="1">
                <a:solidFill>
                  <a:srgbClr val="C1BAFE"/>
                </a:solidFill>
                <a:latin typeface="Seaford Display" pitchFamily="2" charset="0"/>
              </a:rPr>
              <a:t>Porb</a:t>
            </a:r>
            <a:r>
              <a:rPr lang="en-US" sz="2400" dirty="0">
                <a:solidFill>
                  <a:srgbClr val="C1BAFE"/>
                </a:solidFill>
                <a:latin typeface="Seaford Display" pitchFamily="2" charset="0"/>
              </a:rPr>
              <a:t>-e Distribution of all models</a:t>
            </a:r>
          </a:p>
        </p:txBody>
      </p:sp>
      <p:sp>
        <p:nvSpPr>
          <p:cNvPr id="7" name="TextBox 6">
            <a:extLst>
              <a:ext uri="{FF2B5EF4-FFF2-40B4-BE49-F238E27FC236}">
                <a16:creationId xmlns:a16="http://schemas.microsoft.com/office/drawing/2014/main" id="{303EA545-8FA5-E82A-E294-9659BBA4B9BE}"/>
              </a:ext>
            </a:extLst>
          </p:cNvPr>
          <p:cNvSpPr txBox="1"/>
          <p:nvPr/>
        </p:nvSpPr>
        <p:spPr>
          <a:xfrm>
            <a:off x="7655726" y="1397757"/>
            <a:ext cx="2835965" cy="400110"/>
          </a:xfrm>
          <a:prstGeom prst="rect">
            <a:avLst/>
          </a:prstGeom>
          <a:noFill/>
        </p:spPr>
        <p:txBody>
          <a:bodyPr wrap="square" rtlCol="0">
            <a:spAutoFit/>
          </a:bodyPr>
          <a:lstStyle/>
          <a:p>
            <a:pPr algn="ctr"/>
            <a:r>
              <a:rPr lang="en-US" sz="2000" dirty="0">
                <a:solidFill>
                  <a:srgbClr val="C1BAFE"/>
                </a:solidFill>
                <a:latin typeface="Seaford Display" pitchFamily="2" charset="0"/>
              </a:rPr>
              <a:t>Modified Model</a:t>
            </a:r>
          </a:p>
        </p:txBody>
      </p:sp>
      <p:pic>
        <p:nvPicPr>
          <p:cNvPr id="8" name="Picture 7">
            <a:extLst>
              <a:ext uri="{FF2B5EF4-FFF2-40B4-BE49-F238E27FC236}">
                <a16:creationId xmlns:a16="http://schemas.microsoft.com/office/drawing/2014/main" id="{FFEE1F18-C01F-9E27-E08F-2B7747851B26}"/>
              </a:ext>
            </a:extLst>
          </p:cNvPr>
          <p:cNvPicPr>
            <a:picLocks noChangeAspect="1"/>
          </p:cNvPicPr>
          <p:nvPr/>
        </p:nvPicPr>
        <p:blipFill>
          <a:blip r:embed="rId4"/>
          <a:stretch>
            <a:fillRect/>
          </a:stretch>
        </p:blipFill>
        <p:spPr>
          <a:xfrm>
            <a:off x="604440" y="1993689"/>
            <a:ext cx="5491560" cy="4154485"/>
          </a:xfrm>
          <a:prstGeom prst="rect">
            <a:avLst/>
          </a:prstGeom>
        </p:spPr>
      </p:pic>
      <p:sp>
        <p:nvSpPr>
          <p:cNvPr id="9" name="TextBox 8">
            <a:extLst>
              <a:ext uri="{FF2B5EF4-FFF2-40B4-BE49-F238E27FC236}">
                <a16:creationId xmlns:a16="http://schemas.microsoft.com/office/drawing/2014/main" id="{6CF161FA-2328-CDDB-7174-D059B9A3EEE1}"/>
              </a:ext>
            </a:extLst>
          </p:cNvPr>
          <p:cNvSpPr txBox="1"/>
          <p:nvPr/>
        </p:nvSpPr>
        <p:spPr>
          <a:xfrm>
            <a:off x="1315996" y="1204792"/>
            <a:ext cx="3604592" cy="400110"/>
          </a:xfrm>
          <a:prstGeom prst="rect">
            <a:avLst/>
          </a:prstGeom>
          <a:noFill/>
        </p:spPr>
        <p:txBody>
          <a:bodyPr wrap="square" rtlCol="0">
            <a:spAutoFit/>
          </a:bodyPr>
          <a:lstStyle/>
          <a:p>
            <a:pPr algn="ctr"/>
            <a:r>
              <a:rPr lang="en-US" sz="2000" dirty="0">
                <a:solidFill>
                  <a:srgbClr val="C1BAFE"/>
                </a:solidFill>
                <a:latin typeface="Seaford Display" pitchFamily="2" charset="0"/>
              </a:rPr>
              <a:t>Standard Model</a:t>
            </a:r>
          </a:p>
        </p:txBody>
      </p:sp>
      <p:sp>
        <p:nvSpPr>
          <p:cNvPr id="10" name="TextBox 9">
            <a:extLst>
              <a:ext uri="{FF2B5EF4-FFF2-40B4-BE49-F238E27FC236}">
                <a16:creationId xmlns:a16="http://schemas.microsoft.com/office/drawing/2014/main" id="{118482FE-724C-E4BA-622C-7BE1B25A1B8A}"/>
              </a:ext>
            </a:extLst>
          </p:cNvPr>
          <p:cNvSpPr txBox="1"/>
          <p:nvPr/>
        </p:nvSpPr>
        <p:spPr>
          <a:xfrm>
            <a:off x="-3048" y="1522306"/>
            <a:ext cx="6099048" cy="369332"/>
          </a:xfrm>
          <a:prstGeom prst="rect">
            <a:avLst/>
          </a:prstGeom>
          <a:noFill/>
        </p:spPr>
        <p:txBody>
          <a:bodyPr wrap="square">
            <a:spAutoFit/>
          </a:bodyPr>
          <a:lstStyle/>
          <a:p>
            <a:pPr algn="ctr"/>
            <a:r>
              <a:rPr lang="en-US" dirty="0">
                <a:solidFill>
                  <a:srgbClr val="C1BAFE"/>
                </a:solidFill>
                <a:latin typeface="Seaford Display" pitchFamily="2" charset="0"/>
              </a:rPr>
              <a:t>(BEFORE)</a:t>
            </a:r>
          </a:p>
        </p:txBody>
      </p:sp>
      <p:sp>
        <p:nvSpPr>
          <p:cNvPr id="11" name="TextBox 10">
            <a:extLst>
              <a:ext uri="{FF2B5EF4-FFF2-40B4-BE49-F238E27FC236}">
                <a16:creationId xmlns:a16="http://schemas.microsoft.com/office/drawing/2014/main" id="{C2BFCD3D-9388-FAE9-D455-21AC96E2214F}"/>
              </a:ext>
            </a:extLst>
          </p:cNvPr>
          <p:cNvSpPr txBox="1"/>
          <p:nvPr/>
        </p:nvSpPr>
        <p:spPr>
          <a:xfrm>
            <a:off x="9016678" y="600805"/>
            <a:ext cx="3030294" cy="641866"/>
          </a:xfrm>
          <a:prstGeom prst="rect">
            <a:avLst/>
          </a:prstGeom>
          <a:noFill/>
        </p:spPr>
        <p:txBody>
          <a:bodyPr wrap="square">
            <a:spAutoFit/>
          </a:bodyPr>
          <a:lstStyle/>
          <a:p>
            <a:r>
              <a:rPr lang="en-US" dirty="0">
                <a:latin typeface="Seaford Display" pitchFamily="2" charset="0"/>
              </a:rPr>
              <a:t>Nair et al. 2025 (Published in MNRAS)</a:t>
            </a:r>
          </a:p>
        </p:txBody>
      </p:sp>
    </p:spTree>
    <p:extLst>
      <p:ext uri="{BB962C8B-B14F-4D97-AF65-F5344CB8AC3E}">
        <p14:creationId xmlns:p14="http://schemas.microsoft.com/office/powerpoint/2010/main" val="1897428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20C2B"/>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25B0D4-C835-486C-9121-7411CEA838DB}"/>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8378D2C8-701C-A23A-7E85-F74B48B94EE1}"/>
              </a:ext>
            </a:extLst>
          </p:cNvPr>
          <p:cNvSpPr>
            <a:spLocks noGrp="1"/>
          </p:cNvSpPr>
          <p:nvPr>
            <p:ph type="ftr" sz="quarter" idx="11"/>
          </p:nvPr>
        </p:nvSpPr>
        <p:spPr/>
        <p:txBody>
          <a:bodyPr/>
          <a:lstStyle/>
          <a:p>
            <a:r>
              <a:rPr lang="en-US"/>
              <a:t>Binary Stars in a New Era</a:t>
            </a:r>
            <a:endParaRPr lang="en-US" dirty="0"/>
          </a:p>
        </p:txBody>
      </p:sp>
      <p:sp>
        <p:nvSpPr>
          <p:cNvPr id="4" name="Slide Number Placeholder 3">
            <a:extLst>
              <a:ext uri="{FF2B5EF4-FFF2-40B4-BE49-F238E27FC236}">
                <a16:creationId xmlns:a16="http://schemas.microsoft.com/office/drawing/2014/main" id="{8D45C24E-D7F0-7687-0939-5EAB58C937C0}"/>
              </a:ext>
            </a:extLst>
          </p:cNvPr>
          <p:cNvSpPr>
            <a:spLocks noGrp="1"/>
          </p:cNvSpPr>
          <p:nvPr>
            <p:ph type="sldNum" sz="quarter" idx="12"/>
          </p:nvPr>
        </p:nvSpPr>
        <p:spPr/>
        <p:txBody>
          <a:bodyPr/>
          <a:lstStyle/>
          <a:p>
            <a:fld id="{CE0A201B-ED89-3E49-8333-B23E6243976D}" type="slidenum">
              <a:rPr lang="en-US" smtClean="0"/>
              <a:t>17</a:t>
            </a:fld>
            <a:endParaRPr lang="en-US"/>
          </a:p>
        </p:txBody>
      </p:sp>
      <p:sp>
        <p:nvSpPr>
          <p:cNvPr id="5" name="TextBox 4">
            <a:extLst>
              <a:ext uri="{FF2B5EF4-FFF2-40B4-BE49-F238E27FC236}">
                <a16:creationId xmlns:a16="http://schemas.microsoft.com/office/drawing/2014/main" id="{AB19AB4C-F114-9B5F-D4A6-D99A943F096E}"/>
              </a:ext>
            </a:extLst>
          </p:cNvPr>
          <p:cNvSpPr txBox="1"/>
          <p:nvPr/>
        </p:nvSpPr>
        <p:spPr>
          <a:xfrm>
            <a:off x="4164186" y="662185"/>
            <a:ext cx="3862660" cy="461665"/>
          </a:xfrm>
          <a:prstGeom prst="rect">
            <a:avLst/>
          </a:prstGeom>
          <a:noFill/>
        </p:spPr>
        <p:txBody>
          <a:bodyPr wrap="none" rtlCol="0">
            <a:spAutoFit/>
          </a:bodyPr>
          <a:lstStyle/>
          <a:p>
            <a:r>
              <a:rPr lang="en-US" sz="2400" b="1" dirty="0">
                <a:solidFill>
                  <a:srgbClr val="C1BAFE"/>
                </a:solidFill>
                <a:latin typeface="Seaford Display" pitchFamily="2" charset="0"/>
              </a:rPr>
              <a:t>DNS Total Mass Distribution</a:t>
            </a:r>
          </a:p>
        </p:txBody>
      </p:sp>
      <p:pic>
        <p:nvPicPr>
          <p:cNvPr id="6" name="Picture 5" descr="A graph of a graph&#10;&#10;AI-generated content may be incorrect.">
            <a:extLst>
              <a:ext uri="{FF2B5EF4-FFF2-40B4-BE49-F238E27FC236}">
                <a16:creationId xmlns:a16="http://schemas.microsoft.com/office/drawing/2014/main" id="{F387D03C-2E0F-95E0-56DE-FD61429EFBB0}"/>
              </a:ext>
            </a:extLst>
          </p:cNvPr>
          <p:cNvPicPr>
            <a:picLocks noChangeAspect="1"/>
          </p:cNvPicPr>
          <p:nvPr/>
        </p:nvPicPr>
        <p:blipFill>
          <a:blip r:embed="rId3"/>
          <a:stretch>
            <a:fillRect/>
          </a:stretch>
        </p:blipFill>
        <p:spPr>
          <a:xfrm>
            <a:off x="6305378" y="1890992"/>
            <a:ext cx="4987469" cy="3843158"/>
          </a:xfrm>
          <a:prstGeom prst="rect">
            <a:avLst/>
          </a:prstGeom>
        </p:spPr>
      </p:pic>
      <p:pic>
        <p:nvPicPr>
          <p:cNvPr id="7" name="Picture 6" descr="A graph of a graph&#10;&#10;AI-generated content may be incorrect.">
            <a:extLst>
              <a:ext uri="{FF2B5EF4-FFF2-40B4-BE49-F238E27FC236}">
                <a16:creationId xmlns:a16="http://schemas.microsoft.com/office/drawing/2014/main" id="{0F298674-420B-D429-4E16-5C1729F56C59}"/>
              </a:ext>
            </a:extLst>
          </p:cNvPr>
          <p:cNvPicPr>
            <a:picLocks noChangeAspect="1"/>
          </p:cNvPicPr>
          <p:nvPr/>
        </p:nvPicPr>
        <p:blipFill>
          <a:blip r:embed="rId4"/>
          <a:stretch>
            <a:fillRect/>
          </a:stretch>
        </p:blipFill>
        <p:spPr>
          <a:xfrm>
            <a:off x="648326" y="1890992"/>
            <a:ext cx="4987469" cy="3843158"/>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064B0DB-9115-5DB6-BBAA-F37AC71D461B}"/>
                  </a:ext>
                </a:extLst>
              </p:cNvPr>
              <p:cNvSpPr txBox="1"/>
              <p:nvPr/>
            </p:nvSpPr>
            <p:spPr>
              <a:xfrm>
                <a:off x="10445186" y="2211710"/>
                <a:ext cx="1985570" cy="276999"/>
              </a:xfrm>
              <a:prstGeom prst="rect">
                <a:avLst/>
              </a:prstGeom>
              <a:noFill/>
            </p:spPr>
            <p:txBody>
              <a:bodyPr wrap="square" rtlCol="0">
                <a:spAutoFit/>
              </a:bodyPr>
              <a:lstStyle/>
              <a:p>
                <a14:m>
                  <m:oMath xmlns:m="http://schemas.openxmlformats.org/officeDocument/2006/math">
                    <m:sSub>
                      <m:sSubPr>
                        <m:ctrlPr>
                          <a:rPr lang="en-US" sz="1200" i="1" smtClean="0">
                            <a:latin typeface="Cambria Math" panose="02040503050406030204" pitchFamily="18" charset="0"/>
                          </a:rPr>
                        </m:ctrlPr>
                      </m:sSubPr>
                      <m:e>
                        <m:r>
                          <a:rPr lang="en-AU" sz="1200" b="0" i="1" smtClean="0">
                            <a:latin typeface="Cambria Math" panose="02040503050406030204" pitchFamily="18" charset="0"/>
                          </a:rPr>
                          <m:t>𝑀</m:t>
                        </m:r>
                      </m:e>
                      <m:sub>
                        <m:r>
                          <a:rPr lang="en-AU" sz="1200" b="0" i="1" smtClean="0">
                            <a:latin typeface="Cambria Math" panose="02040503050406030204" pitchFamily="18" charset="0"/>
                          </a:rPr>
                          <m:t>𝑇𝑜𝑡</m:t>
                        </m:r>
                      </m:sub>
                    </m:sSub>
                  </m:oMath>
                </a14:m>
                <a:r>
                  <a:rPr lang="en-US" sz="1200" dirty="0"/>
                  <a:t> ≥ 3.0</a:t>
                </a:r>
                <a:r>
                  <a:rPr lang="en-US" sz="1200" b="1" dirty="0">
                    <a:solidFill>
                      <a:srgbClr val="C1BAFE"/>
                    </a:solidFill>
                    <a:latin typeface="Seaford Display" pitchFamily="2" charset="0"/>
                  </a:rPr>
                  <a:t> </a:t>
                </a:r>
                <a:r>
                  <a:rPr lang="en-AU" sz="1200" i="1" dirty="0"/>
                  <a:t>M</a:t>
                </a:r>
                <a:r>
                  <a:rPr lang="en-AU" sz="1200" baseline="-25000" dirty="0"/>
                  <a:t>☉</a:t>
                </a:r>
                <a:r>
                  <a:rPr lang="en-US" sz="1200" dirty="0"/>
                  <a:t> : 0.01</a:t>
                </a:r>
                <a:r>
                  <a:rPr lang="en-US" sz="1200" b="1" dirty="0">
                    <a:solidFill>
                      <a:srgbClr val="C1BAFE"/>
                    </a:solidFill>
                    <a:latin typeface="Seaford Display" pitchFamily="2" charset="0"/>
                  </a:rPr>
                  <a:t> </a:t>
                </a:r>
                <a:r>
                  <a:rPr lang="en-US" sz="1200" dirty="0"/>
                  <a:t>%</a:t>
                </a:r>
              </a:p>
            </p:txBody>
          </p:sp>
        </mc:Choice>
        <mc:Fallback xmlns="">
          <p:sp>
            <p:nvSpPr>
              <p:cNvPr id="8" name="TextBox 7">
                <a:extLst>
                  <a:ext uri="{FF2B5EF4-FFF2-40B4-BE49-F238E27FC236}">
                    <a16:creationId xmlns:a16="http://schemas.microsoft.com/office/drawing/2014/main" id="{F064B0DB-9115-5DB6-BBAA-F37AC71D461B}"/>
                  </a:ext>
                </a:extLst>
              </p:cNvPr>
              <p:cNvSpPr txBox="1">
                <a:spLocks noRot="1" noChangeAspect="1" noMove="1" noResize="1" noEditPoints="1" noAdjustHandles="1" noChangeArrowheads="1" noChangeShapeType="1" noTextEdit="1"/>
              </p:cNvSpPr>
              <p:nvPr/>
            </p:nvSpPr>
            <p:spPr>
              <a:xfrm>
                <a:off x="10445186" y="2211710"/>
                <a:ext cx="1985570" cy="276999"/>
              </a:xfrm>
              <a:prstGeom prst="rect">
                <a:avLst/>
              </a:prstGeom>
              <a:blipFill>
                <a:blip r:embed="rId5"/>
                <a:stretch>
                  <a:fillRect b="-18182"/>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2D5D9D91-D5EA-7F92-7C3F-63AAA123F075}"/>
              </a:ext>
            </a:extLst>
          </p:cNvPr>
          <p:cNvSpPr txBox="1"/>
          <p:nvPr/>
        </p:nvSpPr>
        <p:spPr>
          <a:xfrm>
            <a:off x="7655726" y="1220181"/>
            <a:ext cx="2835965" cy="400110"/>
          </a:xfrm>
          <a:prstGeom prst="rect">
            <a:avLst/>
          </a:prstGeom>
          <a:noFill/>
        </p:spPr>
        <p:txBody>
          <a:bodyPr wrap="square" rtlCol="0">
            <a:spAutoFit/>
          </a:bodyPr>
          <a:lstStyle/>
          <a:p>
            <a:pPr algn="ctr"/>
            <a:r>
              <a:rPr lang="en-US" sz="2000" dirty="0">
                <a:solidFill>
                  <a:srgbClr val="C1BAFE"/>
                </a:solidFill>
                <a:latin typeface="Seaford Display" pitchFamily="2" charset="0"/>
              </a:rPr>
              <a:t>Modified Model</a:t>
            </a:r>
          </a:p>
        </p:txBody>
      </p:sp>
      <p:sp>
        <p:nvSpPr>
          <p:cNvPr id="10" name="TextBox 9">
            <a:extLst>
              <a:ext uri="{FF2B5EF4-FFF2-40B4-BE49-F238E27FC236}">
                <a16:creationId xmlns:a16="http://schemas.microsoft.com/office/drawing/2014/main" id="{5EC5CC3A-1662-2CDB-AF86-E2067976E655}"/>
              </a:ext>
            </a:extLst>
          </p:cNvPr>
          <p:cNvSpPr txBox="1"/>
          <p:nvPr/>
        </p:nvSpPr>
        <p:spPr>
          <a:xfrm>
            <a:off x="1315022" y="1142311"/>
            <a:ext cx="3604592" cy="400110"/>
          </a:xfrm>
          <a:prstGeom prst="rect">
            <a:avLst/>
          </a:prstGeom>
          <a:noFill/>
        </p:spPr>
        <p:txBody>
          <a:bodyPr wrap="square" rtlCol="0">
            <a:spAutoFit/>
          </a:bodyPr>
          <a:lstStyle/>
          <a:p>
            <a:pPr algn="ctr"/>
            <a:r>
              <a:rPr lang="en-US" sz="2000" dirty="0">
                <a:solidFill>
                  <a:srgbClr val="C1BAFE"/>
                </a:solidFill>
                <a:latin typeface="Seaford Display" pitchFamily="2" charset="0"/>
              </a:rPr>
              <a:t>Standard Model</a:t>
            </a:r>
          </a:p>
        </p:txBody>
      </p:sp>
      <p:sp>
        <p:nvSpPr>
          <p:cNvPr id="11" name="TextBox 10">
            <a:extLst>
              <a:ext uri="{FF2B5EF4-FFF2-40B4-BE49-F238E27FC236}">
                <a16:creationId xmlns:a16="http://schemas.microsoft.com/office/drawing/2014/main" id="{FB36F976-371B-3291-2C64-50E010167216}"/>
              </a:ext>
            </a:extLst>
          </p:cNvPr>
          <p:cNvSpPr txBox="1"/>
          <p:nvPr/>
        </p:nvSpPr>
        <p:spPr>
          <a:xfrm>
            <a:off x="-42472" y="1404847"/>
            <a:ext cx="6099048" cy="369332"/>
          </a:xfrm>
          <a:prstGeom prst="rect">
            <a:avLst/>
          </a:prstGeom>
          <a:noFill/>
        </p:spPr>
        <p:txBody>
          <a:bodyPr wrap="square">
            <a:spAutoFit/>
          </a:bodyPr>
          <a:lstStyle/>
          <a:p>
            <a:pPr algn="ctr"/>
            <a:r>
              <a:rPr lang="en-US" dirty="0">
                <a:solidFill>
                  <a:srgbClr val="C1BAFE"/>
                </a:solidFill>
              </a:rPr>
              <a:t>(BEFORE)</a:t>
            </a:r>
          </a:p>
        </p:txBody>
      </p:sp>
      <p:sp>
        <p:nvSpPr>
          <p:cNvPr id="12" name="TextBox 11">
            <a:extLst>
              <a:ext uri="{FF2B5EF4-FFF2-40B4-BE49-F238E27FC236}">
                <a16:creationId xmlns:a16="http://schemas.microsoft.com/office/drawing/2014/main" id="{85D39964-C564-6BE5-3323-E26A65A286E3}"/>
              </a:ext>
            </a:extLst>
          </p:cNvPr>
          <p:cNvSpPr txBox="1"/>
          <p:nvPr/>
        </p:nvSpPr>
        <p:spPr>
          <a:xfrm>
            <a:off x="8976544" y="5733935"/>
            <a:ext cx="3030294" cy="641866"/>
          </a:xfrm>
          <a:prstGeom prst="rect">
            <a:avLst/>
          </a:prstGeom>
          <a:noFill/>
        </p:spPr>
        <p:txBody>
          <a:bodyPr wrap="square">
            <a:spAutoFit/>
          </a:bodyPr>
          <a:lstStyle/>
          <a:p>
            <a:r>
              <a:rPr lang="en-US" dirty="0">
                <a:latin typeface="Seaford Display" pitchFamily="2" charset="0"/>
              </a:rPr>
              <a:t>Nair et al. 2025 (Published in MNRAS)</a:t>
            </a:r>
          </a:p>
        </p:txBody>
      </p:sp>
    </p:spTree>
    <p:extLst>
      <p:ext uri="{BB962C8B-B14F-4D97-AF65-F5344CB8AC3E}">
        <p14:creationId xmlns:p14="http://schemas.microsoft.com/office/powerpoint/2010/main" val="3228436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7C53EE-C27D-C7D0-7E89-A9E318E599AE}"/>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F74CAA3D-386F-07C9-9EF7-B03FEBD57515}"/>
              </a:ext>
            </a:extLst>
          </p:cNvPr>
          <p:cNvSpPr>
            <a:spLocks noGrp="1"/>
          </p:cNvSpPr>
          <p:nvPr>
            <p:ph type="ftr" sz="quarter" idx="11"/>
          </p:nvPr>
        </p:nvSpPr>
        <p:spPr/>
        <p:txBody>
          <a:bodyPr/>
          <a:lstStyle/>
          <a:p>
            <a:r>
              <a:rPr lang="en-US"/>
              <a:t>Binary Stars in a New Era</a:t>
            </a:r>
            <a:endParaRPr lang="en-US" dirty="0"/>
          </a:p>
        </p:txBody>
      </p:sp>
      <p:sp>
        <p:nvSpPr>
          <p:cNvPr id="13" name="TextBox 12">
            <a:extLst>
              <a:ext uri="{FF2B5EF4-FFF2-40B4-BE49-F238E27FC236}">
                <a16:creationId xmlns:a16="http://schemas.microsoft.com/office/drawing/2014/main" id="{9FBA1DC6-1A14-456E-C4D9-EA3143271821}"/>
              </a:ext>
            </a:extLst>
          </p:cNvPr>
          <p:cNvSpPr txBox="1"/>
          <p:nvPr/>
        </p:nvSpPr>
        <p:spPr>
          <a:xfrm>
            <a:off x="3443413" y="1027423"/>
            <a:ext cx="5270085" cy="4093428"/>
          </a:xfrm>
          <a:prstGeom prst="rect">
            <a:avLst/>
          </a:prstGeom>
          <a:noFill/>
        </p:spPr>
        <p:txBody>
          <a:bodyPr wrap="square" rtlCol="0">
            <a:spAutoFit/>
          </a:bodyPr>
          <a:lstStyle/>
          <a:p>
            <a:pPr algn="ctr"/>
            <a:r>
              <a:rPr lang="en-US" sz="2400" b="1" dirty="0">
                <a:solidFill>
                  <a:srgbClr val="C1BAFE"/>
                </a:solidFill>
                <a:latin typeface="Seaford Display" pitchFamily="2" charset="0"/>
              </a:rPr>
              <a:t>GW190425 Progenitors</a:t>
            </a:r>
          </a:p>
          <a:p>
            <a:endParaRPr lang="en-US" dirty="0"/>
          </a:p>
          <a:p>
            <a:r>
              <a:rPr lang="en-US" sz="2000" dirty="0">
                <a:latin typeface="Seaford Display" pitchFamily="2" charset="0"/>
              </a:rPr>
              <a:t>Modified: (Out of all the systems ≥ 3</a:t>
            </a:r>
            <a:r>
              <a:rPr lang="en-AU" sz="2000" i="1" dirty="0">
                <a:solidFill>
                  <a:srgbClr val="C1BAFE"/>
                </a:solidFill>
                <a:latin typeface="Seaford Display" pitchFamily="2" charset="0"/>
              </a:rPr>
              <a:t> </a:t>
            </a:r>
            <a:r>
              <a:rPr lang="en-AU" sz="2000" i="1" dirty="0">
                <a:latin typeface="Seaford Display" pitchFamily="2" charset="0"/>
              </a:rPr>
              <a:t>M</a:t>
            </a:r>
            <a:r>
              <a:rPr lang="en-AU" sz="2000" baseline="-25000" dirty="0">
                <a:latin typeface="Seaford Display" pitchFamily="2" charset="0"/>
              </a:rPr>
              <a:t>☉ </a:t>
            </a:r>
            <a:r>
              <a:rPr lang="en-US" sz="2000" dirty="0">
                <a:latin typeface="Seaford Display" pitchFamily="2" charset="0"/>
              </a:rPr>
              <a:t>) </a:t>
            </a:r>
          </a:p>
          <a:p>
            <a:endParaRPr lang="en-US" sz="2000" dirty="0">
              <a:latin typeface="Seaford Display" pitchFamily="2" charset="0"/>
            </a:endParaRPr>
          </a:p>
          <a:p>
            <a:pPr marL="285750" indent="-285750">
              <a:buFont typeface="Arial" panose="020B0604020202020204" pitchFamily="34" charset="0"/>
              <a:buChar char="•"/>
            </a:pPr>
            <a:r>
              <a:rPr lang="en-US" sz="2000" b="1" dirty="0">
                <a:latin typeface="Seaford Display" pitchFamily="2" charset="0"/>
              </a:rPr>
              <a:t>~80% of systems - formed via Case BB RLO MT</a:t>
            </a:r>
          </a:p>
          <a:p>
            <a:endParaRPr lang="en-US" sz="2000" b="1" dirty="0">
              <a:latin typeface="Seaford Display" pitchFamily="2" charset="0"/>
            </a:endParaRPr>
          </a:p>
          <a:p>
            <a:pPr marL="285750" indent="-285750">
              <a:buFont typeface="Arial" panose="020B0604020202020204" pitchFamily="34" charset="0"/>
              <a:buChar char="•"/>
            </a:pPr>
            <a:r>
              <a:rPr lang="en-US" sz="2000" b="1" dirty="0">
                <a:latin typeface="Seaford Display" pitchFamily="2" charset="0"/>
              </a:rPr>
              <a:t>~20% of systems - formed via massive helium stars without recycling the first-born NS</a:t>
            </a:r>
          </a:p>
          <a:p>
            <a:pPr marL="285750" indent="-285750">
              <a:buFont typeface="Arial" panose="020B0604020202020204" pitchFamily="34" charset="0"/>
              <a:buChar char="•"/>
            </a:pPr>
            <a:endParaRPr lang="en-US" sz="2000" b="1" dirty="0">
              <a:latin typeface="Seaford Display" pitchFamily="2" charset="0"/>
            </a:endParaRPr>
          </a:p>
          <a:p>
            <a:pPr marL="285750" indent="-285750">
              <a:buFont typeface="Arial" panose="020B0604020202020204" pitchFamily="34" charset="0"/>
              <a:buChar char="•"/>
            </a:pPr>
            <a:r>
              <a:rPr lang="en-US" sz="2000" b="1" dirty="0">
                <a:latin typeface="Seaford Display" pitchFamily="2" charset="0"/>
              </a:rPr>
              <a:t>Rules out the formation pathway via unstable mass transfe</a:t>
            </a:r>
            <a:r>
              <a:rPr lang="en-US" sz="2000" dirty="0">
                <a:latin typeface="Seaford Display" pitchFamily="2" charset="0"/>
              </a:rPr>
              <a:t>r</a:t>
            </a:r>
            <a:endParaRPr lang="en-US" dirty="0"/>
          </a:p>
          <a:p>
            <a:endParaRPr lang="en-US" dirty="0"/>
          </a:p>
        </p:txBody>
      </p:sp>
      <p:pic>
        <p:nvPicPr>
          <p:cNvPr id="14" name="Picture 13">
            <a:extLst>
              <a:ext uri="{FF2B5EF4-FFF2-40B4-BE49-F238E27FC236}">
                <a16:creationId xmlns:a16="http://schemas.microsoft.com/office/drawing/2014/main" id="{7E79AB69-C636-E30A-8935-32C73172C997}"/>
              </a:ext>
            </a:extLst>
          </p:cNvPr>
          <p:cNvPicPr>
            <a:picLocks noChangeAspect="1"/>
          </p:cNvPicPr>
          <p:nvPr/>
        </p:nvPicPr>
        <p:blipFill rotWithShape="1">
          <a:blip r:embed="rId3"/>
          <a:srcRect t="21924" b="21924"/>
          <a:stretch/>
        </p:blipFill>
        <p:spPr>
          <a:xfrm>
            <a:off x="9097194" y="1332634"/>
            <a:ext cx="2496720" cy="1401966"/>
          </a:xfrm>
          <a:prstGeom prst="rect">
            <a:avLst/>
          </a:prstGeom>
        </p:spPr>
      </p:pic>
      <p:sp>
        <p:nvSpPr>
          <p:cNvPr id="15" name="TextBox 14">
            <a:extLst>
              <a:ext uri="{FF2B5EF4-FFF2-40B4-BE49-F238E27FC236}">
                <a16:creationId xmlns:a16="http://schemas.microsoft.com/office/drawing/2014/main" id="{E860811A-746F-9C8E-4F90-6DA75F8AD06E}"/>
              </a:ext>
            </a:extLst>
          </p:cNvPr>
          <p:cNvSpPr txBox="1"/>
          <p:nvPr/>
        </p:nvSpPr>
        <p:spPr>
          <a:xfrm>
            <a:off x="10018181" y="1178745"/>
            <a:ext cx="1515163" cy="307777"/>
          </a:xfrm>
          <a:prstGeom prst="rect">
            <a:avLst/>
          </a:prstGeom>
          <a:noFill/>
        </p:spPr>
        <p:txBody>
          <a:bodyPr wrap="square" rtlCol="0">
            <a:spAutoFit/>
          </a:bodyPr>
          <a:lstStyle/>
          <a:p>
            <a:r>
              <a:rPr lang="en-US" sz="1400" dirty="0">
                <a:solidFill>
                  <a:srgbClr val="FF0000"/>
                </a:solidFill>
              </a:rPr>
              <a:t>Case BB RLO</a:t>
            </a:r>
          </a:p>
        </p:txBody>
      </p:sp>
      <p:pic>
        <p:nvPicPr>
          <p:cNvPr id="16" name="Picture 15">
            <a:extLst>
              <a:ext uri="{FF2B5EF4-FFF2-40B4-BE49-F238E27FC236}">
                <a16:creationId xmlns:a16="http://schemas.microsoft.com/office/drawing/2014/main" id="{34FEFC5E-3E6D-44EB-8CA2-84ABC93CF29E}"/>
              </a:ext>
            </a:extLst>
          </p:cNvPr>
          <p:cNvPicPr>
            <a:picLocks noChangeAspect="1"/>
          </p:cNvPicPr>
          <p:nvPr/>
        </p:nvPicPr>
        <p:blipFill rotWithShape="1">
          <a:blip r:embed="rId4"/>
          <a:srcRect r="1304"/>
          <a:stretch/>
        </p:blipFill>
        <p:spPr>
          <a:xfrm>
            <a:off x="162221" y="2236949"/>
            <a:ext cx="2857016" cy="2894783"/>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6632498-FE39-D2CA-F93D-CD5884DCF60A}"/>
                  </a:ext>
                </a:extLst>
              </p:cNvPr>
              <p:cNvSpPr txBox="1"/>
              <p:nvPr/>
            </p:nvSpPr>
            <p:spPr>
              <a:xfrm>
                <a:off x="1166267" y="2000792"/>
                <a:ext cx="1519015" cy="461665"/>
              </a:xfrm>
              <a:prstGeom prst="rect">
                <a:avLst/>
              </a:prstGeom>
              <a:noFill/>
            </p:spPr>
            <p:txBody>
              <a:bodyPr wrap="square" rtlCol="0">
                <a:spAutoFit/>
              </a:bodyPr>
              <a:lstStyle/>
              <a:p>
                <a:r>
                  <a:rPr lang="en-US" sz="1200" dirty="0">
                    <a:solidFill>
                      <a:srgbClr val="FF0000"/>
                    </a:solidFill>
                  </a:rPr>
                  <a:t>Massive helium star </a:t>
                </a:r>
                <a14:m>
                  <m:oMath xmlns:m="http://schemas.openxmlformats.org/officeDocument/2006/math">
                    <m:r>
                      <a:rPr lang="en-AU" sz="1200" b="0" i="1" smtClean="0">
                        <a:solidFill>
                          <a:srgbClr val="FF0000"/>
                        </a:solidFill>
                        <a:latin typeface="Cambria Math" panose="02040503050406030204" pitchFamily="18" charset="0"/>
                      </a:rPr>
                      <m:t>&gt;9</m:t>
                    </m:r>
                    <m:r>
                      <m:rPr>
                        <m:nor/>
                      </m:rPr>
                      <a:rPr lang="en-AU" sz="1200" i="1" dirty="0" smtClean="0">
                        <a:solidFill>
                          <a:srgbClr val="FF0000"/>
                        </a:solidFill>
                      </a:rPr>
                      <m:t>M</m:t>
                    </m:r>
                    <m:r>
                      <m:rPr>
                        <m:nor/>
                      </m:rPr>
                      <a:rPr lang="en-AU" sz="1200" baseline="-25000" dirty="0" smtClean="0">
                        <a:solidFill>
                          <a:srgbClr val="FF0000"/>
                        </a:solidFill>
                      </a:rPr>
                      <m:t>☉</m:t>
                    </m:r>
                  </m:oMath>
                </a14:m>
                <a:endParaRPr lang="en-US" sz="1200" dirty="0">
                  <a:solidFill>
                    <a:srgbClr val="FF0000"/>
                  </a:solidFill>
                </a:endParaRPr>
              </a:p>
            </p:txBody>
          </p:sp>
        </mc:Choice>
        <mc:Fallback xmlns="">
          <p:sp>
            <p:nvSpPr>
              <p:cNvPr id="17" name="TextBox 16">
                <a:extLst>
                  <a:ext uri="{FF2B5EF4-FFF2-40B4-BE49-F238E27FC236}">
                    <a16:creationId xmlns:a16="http://schemas.microsoft.com/office/drawing/2014/main" id="{D6632498-FE39-D2CA-F93D-CD5884DCF60A}"/>
                  </a:ext>
                </a:extLst>
              </p:cNvPr>
              <p:cNvSpPr txBox="1">
                <a:spLocks noRot="1" noChangeAspect="1" noMove="1" noResize="1" noEditPoints="1" noAdjustHandles="1" noChangeArrowheads="1" noChangeShapeType="1" noTextEdit="1"/>
              </p:cNvSpPr>
              <p:nvPr/>
            </p:nvSpPr>
            <p:spPr>
              <a:xfrm>
                <a:off x="1166267" y="2000792"/>
                <a:ext cx="1519015" cy="461665"/>
              </a:xfrm>
              <a:prstGeom prst="rect">
                <a:avLst/>
              </a:prstGeom>
              <a:blipFill>
                <a:blip r:embed="rId5"/>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D54343DE-FFB1-1BDA-E6F5-B5600E8DE771}"/>
              </a:ext>
            </a:extLst>
          </p:cNvPr>
          <p:cNvSpPr txBox="1"/>
          <p:nvPr/>
        </p:nvSpPr>
        <p:spPr>
          <a:xfrm>
            <a:off x="1846446" y="2772612"/>
            <a:ext cx="2057571" cy="276999"/>
          </a:xfrm>
          <a:prstGeom prst="rect">
            <a:avLst/>
          </a:prstGeom>
          <a:noFill/>
        </p:spPr>
        <p:txBody>
          <a:bodyPr wrap="square" rtlCol="0">
            <a:spAutoFit/>
          </a:bodyPr>
          <a:lstStyle/>
          <a:p>
            <a:r>
              <a:rPr lang="en-US" sz="1200" b="1" dirty="0">
                <a:solidFill>
                  <a:srgbClr val="FF0000"/>
                </a:solidFill>
              </a:rPr>
              <a:t>No mass transfer</a:t>
            </a:r>
          </a:p>
        </p:txBody>
      </p:sp>
      <p:sp>
        <p:nvSpPr>
          <p:cNvPr id="19" name="TextBox 18">
            <a:extLst>
              <a:ext uri="{FF2B5EF4-FFF2-40B4-BE49-F238E27FC236}">
                <a16:creationId xmlns:a16="http://schemas.microsoft.com/office/drawing/2014/main" id="{B23A0B1D-3E51-D22E-8037-B96C11456AF7}"/>
              </a:ext>
            </a:extLst>
          </p:cNvPr>
          <p:cNvSpPr txBox="1"/>
          <p:nvPr/>
        </p:nvSpPr>
        <p:spPr>
          <a:xfrm>
            <a:off x="254595" y="4619271"/>
            <a:ext cx="2046991" cy="461665"/>
          </a:xfrm>
          <a:prstGeom prst="rect">
            <a:avLst/>
          </a:prstGeom>
          <a:noFill/>
        </p:spPr>
        <p:txBody>
          <a:bodyPr wrap="square" rtlCol="0">
            <a:spAutoFit/>
          </a:bodyPr>
          <a:lstStyle/>
          <a:p>
            <a:r>
              <a:rPr lang="en-US" sz="1200" dirty="0"/>
              <a:t>Vigna Gómez et al. (2021)</a:t>
            </a:r>
          </a:p>
        </p:txBody>
      </p:sp>
      <p:pic>
        <p:nvPicPr>
          <p:cNvPr id="20" name="Picture 19">
            <a:extLst>
              <a:ext uri="{FF2B5EF4-FFF2-40B4-BE49-F238E27FC236}">
                <a16:creationId xmlns:a16="http://schemas.microsoft.com/office/drawing/2014/main" id="{6D9A3B2C-9824-E442-1A35-738E1BBF6A25}"/>
              </a:ext>
            </a:extLst>
          </p:cNvPr>
          <p:cNvPicPr>
            <a:picLocks noChangeAspect="1"/>
          </p:cNvPicPr>
          <p:nvPr/>
        </p:nvPicPr>
        <p:blipFill>
          <a:blip r:embed="rId6"/>
          <a:srcRect t="8038" r="6299"/>
          <a:stretch/>
        </p:blipFill>
        <p:spPr>
          <a:xfrm>
            <a:off x="8858365" y="3256244"/>
            <a:ext cx="2908672" cy="2945925"/>
          </a:xfrm>
          <a:prstGeom prst="rect">
            <a:avLst/>
          </a:prstGeom>
        </p:spPr>
      </p:pic>
      <p:sp>
        <p:nvSpPr>
          <p:cNvPr id="21" name="TextBox 20">
            <a:extLst>
              <a:ext uri="{FF2B5EF4-FFF2-40B4-BE49-F238E27FC236}">
                <a16:creationId xmlns:a16="http://schemas.microsoft.com/office/drawing/2014/main" id="{F2EBD302-1F88-5FD2-0052-7A1BEAF2C314}"/>
              </a:ext>
            </a:extLst>
          </p:cNvPr>
          <p:cNvSpPr txBox="1"/>
          <p:nvPr/>
        </p:nvSpPr>
        <p:spPr>
          <a:xfrm>
            <a:off x="9613462" y="3256244"/>
            <a:ext cx="844982" cy="646331"/>
          </a:xfrm>
          <a:prstGeom prst="rect">
            <a:avLst/>
          </a:prstGeom>
          <a:noFill/>
        </p:spPr>
        <p:txBody>
          <a:bodyPr wrap="square" rtlCol="0">
            <a:spAutoFit/>
          </a:bodyPr>
          <a:lstStyle/>
          <a:p>
            <a:r>
              <a:rPr lang="en-US" sz="1200" b="1" dirty="0">
                <a:solidFill>
                  <a:srgbClr val="FF0000"/>
                </a:solidFill>
              </a:rPr>
              <a:t>Unstable mass transfer</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1DE9857-7C3D-C458-68D5-14BD242ABF2C}"/>
                  </a:ext>
                </a:extLst>
              </p:cNvPr>
              <p:cNvSpPr txBox="1"/>
              <p:nvPr/>
            </p:nvSpPr>
            <p:spPr>
              <a:xfrm>
                <a:off x="11030352" y="4995895"/>
                <a:ext cx="841256" cy="646331"/>
              </a:xfrm>
              <a:prstGeom prst="rect">
                <a:avLst/>
              </a:prstGeom>
              <a:noFill/>
            </p:spPr>
            <p:txBody>
              <a:bodyPr wrap="square" rtlCol="0">
                <a:spAutoFit/>
              </a:bodyPr>
              <a:lstStyle/>
              <a:p>
                <a:r>
                  <a:rPr lang="en-US" sz="1200" dirty="0">
                    <a:solidFill>
                      <a:srgbClr val="FF0000"/>
                    </a:solidFill>
                  </a:rPr>
                  <a:t>Tight orbit </a:t>
                </a:r>
                <a14:m>
                  <m:oMath xmlns:m="http://schemas.openxmlformats.org/officeDocument/2006/math">
                    <m:sSub>
                      <m:sSubPr>
                        <m:ctrlPr>
                          <a:rPr lang="en-AU" sz="1200" b="0" i="1" smtClean="0">
                            <a:solidFill>
                              <a:srgbClr val="FF0000"/>
                            </a:solidFill>
                            <a:latin typeface="Cambria Math" panose="02040503050406030204" pitchFamily="18" charset="0"/>
                          </a:rPr>
                        </m:ctrlPr>
                      </m:sSubPr>
                      <m:e>
                        <m:r>
                          <a:rPr lang="en-AU" sz="1200" b="0" i="1" smtClean="0">
                            <a:solidFill>
                              <a:srgbClr val="FF0000"/>
                            </a:solidFill>
                            <a:latin typeface="Cambria Math" panose="02040503050406030204" pitchFamily="18" charset="0"/>
                          </a:rPr>
                          <m:t>𝑃</m:t>
                        </m:r>
                      </m:e>
                      <m:sub>
                        <m:r>
                          <a:rPr lang="en-AU" sz="1200" b="0" i="1" smtClean="0">
                            <a:solidFill>
                              <a:srgbClr val="FF0000"/>
                            </a:solidFill>
                            <a:latin typeface="Cambria Math" panose="02040503050406030204" pitchFamily="18" charset="0"/>
                          </a:rPr>
                          <m:t>𝑜𝑟𝑏</m:t>
                        </m:r>
                      </m:sub>
                    </m:sSub>
                    <m:r>
                      <a:rPr lang="en-AU" sz="1200" b="0" i="0" smtClean="0">
                        <a:solidFill>
                          <a:srgbClr val="FF0000"/>
                        </a:solidFill>
                        <a:latin typeface="Cambria Math" panose="02040503050406030204" pitchFamily="18" charset="0"/>
                      </a:rPr>
                      <m:t>&lt;</m:t>
                    </m:r>
                    <m:r>
                      <m:rPr>
                        <m:sty m:val="p"/>
                      </m:rPr>
                      <a:rPr lang="en-AU" sz="1200" b="0" i="0" smtClean="0">
                        <a:solidFill>
                          <a:srgbClr val="FF0000"/>
                        </a:solidFill>
                        <a:latin typeface="Cambria Math" panose="02040503050406030204" pitchFamily="18" charset="0"/>
                      </a:rPr>
                      <m:t>Hr</m:t>
                    </m:r>
                  </m:oMath>
                </a14:m>
                <a:endParaRPr lang="en-AU" sz="1200" b="0" dirty="0">
                  <a:solidFill>
                    <a:srgbClr val="FF0000"/>
                  </a:solidFill>
                </a:endParaRPr>
              </a:p>
            </p:txBody>
          </p:sp>
        </mc:Choice>
        <mc:Fallback xmlns="">
          <p:sp>
            <p:nvSpPr>
              <p:cNvPr id="22" name="TextBox 21">
                <a:extLst>
                  <a:ext uri="{FF2B5EF4-FFF2-40B4-BE49-F238E27FC236}">
                    <a16:creationId xmlns:a16="http://schemas.microsoft.com/office/drawing/2014/main" id="{A1DE9857-7C3D-C458-68D5-14BD242ABF2C}"/>
                  </a:ext>
                </a:extLst>
              </p:cNvPr>
              <p:cNvSpPr txBox="1">
                <a:spLocks noRot="1" noChangeAspect="1" noMove="1" noResize="1" noEditPoints="1" noAdjustHandles="1" noChangeArrowheads="1" noChangeShapeType="1" noTextEdit="1"/>
              </p:cNvSpPr>
              <p:nvPr/>
            </p:nvSpPr>
            <p:spPr>
              <a:xfrm>
                <a:off x="11030352" y="4995895"/>
                <a:ext cx="841256" cy="646331"/>
              </a:xfrm>
              <a:prstGeom prst="rect">
                <a:avLst/>
              </a:prstGeom>
              <a:blipFill>
                <a:blip r:embed="rId7"/>
                <a:stretch>
                  <a:fillRect r="-2985"/>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9DA98BE2-0D12-2C63-1D28-EE067771F63B}"/>
              </a:ext>
            </a:extLst>
          </p:cNvPr>
          <p:cNvSpPr txBox="1"/>
          <p:nvPr/>
        </p:nvSpPr>
        <p:spPr>
          <a:xfrm>
            <a:off x="9941824" y="5934070"/>
            <a:ext cx="2045095" cy="276999"/>
          </a:xfrm>
          <a:prstGeom prst="rect">
            <a:avLst/>
          </a:prstGeom>
          <a:noFill/>
        </p:spPr>
        <p:txBody>
          <a:bodyPr wrap="square" rtlCol="0">
            <a:spAutoFit/>
          </a:bodyPr>
          <a:lstStyle/>
          <a:p>
            <a:r>
              <a:rPr lang="en-US" sz="1200" dirty="0"/>
              <a:t>B.P. Abbott et al. (2020)</a:t>
            </a:r>
          </a:p>
        </p:txBody>
      </p:sp>
      <p:pic>
        <p:nvPicPr>
          <p:cNvPr id="25" name="Graphic 24" descr="Back with solid fill">
            <a:extLst>
              <a:ext uri="{FF2B5EF4-FFF2-40B4-BE49-F238E27FC236}">
                <a16:creationId xmlns:a16="http://schemas.microsoft.com/office/drawing/2014/main" id="{A42AE76E-503B-F293-1BF8-23D99B7AF34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059717" y="2840296"/>
            <a:ext cx="662763" cy="662763"/>
          </a:xfrm>
          <a:prstGeom prst="rect">
            <a:avLst/>
          </a:prstGeom>
        </p:spPr>
      </p:pic>
      <p:pic>
        <p:nvPicPr>
          <p:cNvPr id="26" name="Graphic 25" descr="Back with solid fill">
            <a:extLst>
              <a:ext uri="{FF2B5EF4-FFF2-40B4-BE49-F238E27FC236}">
                <a16:creationId xmlns:a16="http://schemas.microsoft.com/office/drawing/2014/main" id="{A568659A-A031-5DB9-DDEC-2EF68F0D811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254737" y="1712972"/>
            <a:ext cx="740735" cy="740735"/>
          </a:xfrm>
          <a:prstGeom prst="rect">
            <a:avLst/>
          </a:prstGeom>
        </p:spPr>
      </p:pic>
      <p:pic>
        <p:nvPicPr>
          <p:cNvPr id="27" name="Graphic 26" descr="Back with solid fill">
            <a:extLst>
              <a:ext uri="{FF2B5EF4-FFF2-40B4-BE49-F238E27FC236}">
                <a16:creationId xmlns:a16="http://schemas.microsoft.com/office/drawing/2014/main" id="{05F4ACA5-83A1-1552-DA89-C796A955B4D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0800000" flipH="1">
            <a:off x="8117630" y="4340201"/>
            <a:ext cx="740735" cy="740735"/>
          </a:xfrm>
          <a:prstGeom prst="rect">
            <a:avLst/>
          </a:prstGeom>
          <a:scene3d>
            <a:camera prst="orthographicFront">
              <a:rot lat="0" lon="20999997" rev="0"/>
            </a:camera>
            <a:lightRig rig="threePt" dir="t"/>
          </a:scene3d>
        </p:spPr>
      </p:pic>
      <p:sp>
        <p:nvSpPr>
          <p:cNvPr id="28" name="Slide Number Placeholder 27">
            <a:extLst>
              <a:ext uri="{FF2B5EF4-FFF2-40B4-BE49-F238E27FC236}">
                <a16:creationId xmlns:a16="http://schemas.microsoft.com/office/drawing/2014/main" id="{9EF48300-2DAF-25D1-2849-6B97A6FD5309}"/>
              </a:ext>
            </a:extLst>
          </p:cNvPr>
          <p:cNvSpPr>
            <a:spLocks noGrp="1"/>
          </p:cNvSpPr>
          <p:nvPr>
            <p:ph type="sldNum" sz="quarter" idx="12"/>
          </p:nvPr>
        </p:nvSpPr>
        <p:spPr/>
        <p:txBody>
          <a:bodyPr/>
          <a:lstStyle/>
          <a:p>
            <a:fld id="{CE0A201B-ED89-3E49-8333-B23E6243976D}" type="slidenum">
              <a:rPr lang="en-US" smtClean="0"/>
              <a:t>18</a:t>
            </a:fld>
            <a:endParaRPr lang="en-US"/>
          </a:p>
        </p:txBody>
      </p:sp>
    </p:spTree>
    <p:extLst>
      <p:ext uri="{BB962C8B-B14F-4D97-AF65-F5344CB8AC3E}">
        <p14:creationId xmlns:p14="http://schemas.microsoft.com/office/powerpoint/2010/main" val="1666402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xEl>
                                              <p:pRg st="6" end="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
                                            <p:txEl>
                                              <p:pRg st="8" end="8"/>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8" grpId="0"/>
      <p:bldP spid="19" grpId="0"/>
      <p:bldP spid="21" grpId="0"/>
      <p:bldP spid="22" grpId="0"/>
      <p:bldP spid="2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A27DFF-D3A6-B7DD-B659-F3C371FB1240}"/>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427B14CF-717D-5551-E871-054C53F60940}"/>
              </a:ext>
            </a:extLst>
          </p:cNvPr>
          <p:cNvSpPr>
            <a:spLocks noGrp="1"/>
          </p:cNvSpPr>
          <p:nvPr>
            <p:ph type="ftr" sz="quarter" idx="11"/>
          </p:nvPr>
        </p:nvSpPr>
        <p:spPr/>
        <p:txBody>
          <a:bodyPr/>
          <a:lstStyle/>
          <a:p>
            <a:r>
              <a:rPr lang="en-US"/>
              <a:t>Binary Stars in a New Era</a:t>
            </a:r>
            <a:endParaRPr lang="en-US" dirty="0"/>
          </a:p>
        </p:txBody>
      </p:sp>
      <p:sp>
        <p:nvSpPr>
          <p:cNvPr id="4" name="TextBox 3">
            <a:extLst>
              <a:ext uri="{FF2B5EF4-FFF2-40B4-BE49-F238E27FC236}">
                <a16:creationId xmlns:a16="http://schemas.microsoft.com/office/drawing/2014/main" id="{07BB7074-7244-41D8-C696-0760C7C43B96}"/>
              </a:ext>
            </a:extLst>
          </p:cNvPr>
          <p:cNvSpPr txBox="1"/>
          <p:nvPr/>
        </p:nvSpPr>
        <p:spPr>
          <a:xfrm>
            <a:off x="2081323" y="1167395"/>
            <a:ext cx="8646928" cy="4524315"/>
          </a:xfrm>
          <a:prstGeom prst="rect">
            <a:avLst/>
          </a:prstGeom>
          <a:noFill/>
        </p:spPr>
        <p:txBody>
          <a:bodyPr wrap="square">
            <a:spAutoFit/>
          </a:bodyPr>
          <a:lstStyle/>
          <a:p>
            <a:r>
              <a:rPr lang="en-AU" b="1" dirty="0"/>
              <a:t>Models calibrated</a:t>
            </a:r>
            <a:r>
              <a:rPr lang="en-AU" dirty="0"/>
              <a:t> to match the Galactic DNS population</a:t>
            </a:r>
          </a:p>
          <a:p>
            <a:pPr>
              <a:buFont typeface="Arial" panose="020B0604020202020204" pitchFamily="34" charset="0"/>
              <a:buChar char="•"/>
            </a:pPr>
            <a:endParaRPr lang="en-AU" dirty="0"/>
          </a:p>
          <a:p>
            <a:r>
              <a:rPr lang="en-AU" b="1" dirty="0"/>
              <a:t>Roughly reproduces the observed Galactic DNS distribution</a:t>
            </a:r>
          </a:p>
          <a:p>
            <a:pPr>
              <a:buFont typeface="Arial" panose="020B0604020202020204" pitchFamily="34" charset="0"/>
              <a:buChar char="•"/>
            </a:pPr>
            <a:endParaRPr lang="en-AU" b="1" dirty="0"/>
          </a:p>
          <a:p>
            <a:r>
              <a:rPr lang="en-AU" dirty="0"/>
              <a:t>Used models to explore </a:t>
            </a:r>
            <a:r>
              <a:rPr lang="en-AU" b="1" dirty="0"/>
              <a:t>GW190425 progenitors</a:t>
            </a:r>
          </a:p>
          <a:p>
            <a:endParaRPr lang="en-AU" dirty="0"/>
          </a:p>
          <a:p>
            <a:r>
              <a:rPr lang="en-AU" dirty="0"/>
              <a:t>Massive systems (like GW190425) formed at </a:t>
            </a:r>
            <a:r>
              <a:rPr lang="en-AU" b="1" dirty="0"/>
              <a:t>solar metallicity </a:t>
            </a:r>
            <a:r>
              <a:rPr lang="en-AU" dirty="0"/>
              <a:t>are</a:t>
            </a:r>
            <a:r>
              <a:rPr lang="en-AU" b="1" dirty="0"/>
              <a:t> rare</a:t>
            </a:r>
          </a:p>
          <a:p>
            <a:endParaRPr lang="en-AU" dirty="0"/>
          </a:p>
          <a:p>
            <a:r>
              <a:rPr lang="en-AU" b="1" dirty="0"/>
              <a:t>Unstable Case BB MT pathway</a:t>
            </a:r>
            <a:r>
              <a:rPr lang="en-AU" dirty="0"/>
              <a:t> does not yield GW190425-like binaries</a:t>
            </a:r>
          </a:p>
          <a:p>
            <a:pPr>
              <a:buFont typeface="Arial" panose="020B0604020202020204" pitchFamily="34" charset="0"/>
              <a:buChar char="•"/>
            </a:pPr>
            <a:endParaRPr lang="en-AU" dirty="0"/>
          </a:p>
          <a:p>
            <a:r>
              <a:rPr lang="en-AU" b="1" dirty="0"/>
              <a:t>Model limitations:</a:t>
            </a:r>
            <a:r>
              <a:rPr lang="en-AU" dirty="0"/>
              <a:t> Can’t explain high GW190425 rates</a:t>
            </a:r>
          </a:p>
          <a:p>
            <a:pPr>
              <a:buFont typeface="Arial" panose="020B0604020202020204" pitchFamily="34" charset="0"/>
              <a:buChar char="•"/>
            </a:pPr>
            <a:endParaRPr lang="en-AU" dirty="0"/>
          </a:p>
          <a:p>
            <a:r>
              <a:rPr lang="en-AU" b="1" dirty="0"/>
              <a:t>Next steps:</a:t>
            </a:r>
            <a:r>
              <a:rPr lang="en-AU" dirty="0"/>
              <a:t> Explore low-Z models, massive NS primaries &amp; super-Eddington accretion</a:t>
            </a:r>
          </a:p>
          <a:p>
            <a:pPr>
              <a:buFont typeface="Arial" panose="020B0604020202020204" pitchFamily="34" charset="0"/>
              <a:buChar char="•"/>
            </a:pPr>
            <a:endParaRPr lang="en-AU" dirty="0"/>
          </a:p>
          <a:p>
            <a:r>
              <a:rPr lang="en-AU" b="1" dirty="0"/>
              <a:t>Hoping O4 run detects</a:t>
            </a:r>
            <a:r>
              <a:rPr lang="en-AU" dirty="0"/>
              <a:t> at least one DNS</a:t>
            </a:r>
          </a:p>
        </p:txBody>
      </p:sp>
      <p:pic>
        <p:nvPicPr>
          <p:cNvPr id="5" name="Graphic 4" descr="Close with solid fill">
            <a:extLst>
              <a:ext uri="{FF2B5EF4-FFF2-40B4-BE49-F238E27FC236}">
                <a16:creationId xmlns:a16="http://schemas.microsoft.com/office/drawing/2014/main" id="{4B52C041-5EC3-5D4F-822C-F75EBBBF55C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31072" y="3400680"/>
            <a:ext cx="437575" cy="437575"/>
          </a:xfrm>
          <a:prstGeom prst="rect">
            <a:avLst/>
          </a:prstGeom>
        </p:spPr>
      </p:pic>
      <p:pic>
        <p:nvPicPr>
          <p:cNvPr id="6" name="Graphic 5" descr="Dizzy with solid fill">
            <a:extLst>
              <a:ext uri="{FF2B5EF4-FFF2-40B4-BE49-F238E27FC236}">
                <a16:creationId xmlns:a16="http://schemas.microsoft.com/office/drawing/2014/main" id="{8354EEAE-EC7C-E348-75D7-33790863CC8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77309" y="2218590"/>
            <a:ext cx="519889" cy="519889"/>
          </a:xfrm>
          <a:prstGeom prst="rect">
            <a:avLst/>
          </a:prstGeom>
        </p:spPr>
      </p:pic>
      <p:pic>
        <p:nvPicPr>
          <p:cNvPr id="7" name="Graphic 6" descr="Zoom in outline">
            <a:extLst>
              <a:ext uri="{FF2B5EF4-FFF2-40B4-BE49-F238E27FC236}">
                <a16:creationId xmlns:a16="http://schemas.microsoft.com/office/drawing/2014/main" id="{212635EA-EBDE-D685-B7F2-E96DC9DFDBE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31072" y="4441918"/>
            <a:ext cx="493188" cy="493188"/>
          </a:xfrm>
          <a:prstGeom prst="rect">
            <a:avLst/>
          </a:prstGeom>
        </p:spPr>
      </p:pic>
      <p:pic>
        <p:nvPicPr>
          <p:cNvPr id="8" name="Graphic 7" descr="Bar chart outline">
            <a:extLst>
              <a:ext uri="{FF2B5EF4-FFF2-40B4-BE49-F238E27FC236}">
                <a16:creationId xmlns:a16="http://schemas.microsoft.com/office/drawing/2014/main" id="{BD66BDD0-5F4B-BE6B-0473-8977AB7D00C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63748" y="1627545"/>
            <a:ext cx="519889" cy="519889"/>
          </a:xfrm>
          <a:prstGeom prst="rect">
            <a:avLst/>
          </a:prstGeom>
        </p:spPr>
      </p:pic>
      <p:pic>
        <p:nvPicPr>
          <p:cNvPr id="9" name="Graphic 8" descr="Puzzle pieces outline">
            <a:extLst>
              <a:ext uri="{FF2B5EF4-FFF2-40B4-BE49-F238E27FC236}">
                <a16:creationId xmlns:a16="http://schemas.microsoft.com/office/drawing/2014/main" id="{BD7C4A09-9F47-E5E5-6BB9-B82E5146F39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499091" y="3838255"/>
            <a:ext cx="570614" cy="570614"/>
          </a:xfrm>
          <a:prstGeom prst="rect">
            <a:avLst/>
          </a:prstGeom>
        </p:spPr>
      </p:pic>
      <p:pic>
        <p:nvPicPr>
          <p:cNvPr id="10" name="Graphic 9" descr="Settings outline">
            <a:extLst>
              <a:ext uri="{FF2B5EF4-FFF2-40B4-BE49-F238E27FC236}">
                <a16:creationId xmlns:a16="http://schemas.microsoft.com/office/drawing/2014/main" id="{6B5E1670-21A2-FD5A-F238-AD728A5374A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463747" y="1036499"/>
            <a:ext cx="519890" cy="519890"/>
          </a:xfrm>
          <a:prstGeom prst="rect">
            <a:avLst/>
          </a:prstGeom>
        </p:spPr>
      </p:pic>
      <p:pic>
        <p:nvPicPr>
          <p:cNvPr id="11" name="Graphic 10" descr="Badge 1 outline">
            <a:extLst>
              <a:ext uri="{FF2B5EF4-FFF2-40B4-BE49-F238E27FC236}">
                <a16:creationId xmlns:a16="http://schemas.microsoft.com/office/drawing/2014/main" id="{A0B995B3-0B6C-ED4A-44B7-C8312A922C0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472601" y="4935106"/>
            <a:ext cx="524597" cy="524597"/>
          </a:xfrm>
          <a:prstGeom prst="rect">
            <a:avLst/>
          </a:prstGeom>
        </p:spPr>
      </p:pic>
      <p:sp>
        <p:nvSpPr>
          <p:cNvPr id="12" name="TextBox 11">
            <a:extLst>
              <a:ext uri="{FF2B5EF4-FFF2-40B4-BE49-F238E27FC236}">
                <a16:creationId xmlns:a16="http://schemas.microsoft.com/office/drawing/2014/main" id="{A4A423BD-59F2-C9B5-3DA9-B565ED1EB22A}"/>
              </a:ext>
            </a:extLst>
          </p:cNvPr>
          <p:cNvSpPr txBox="1"/>
          <p:nvPr/>
        </p:nvSpPr>
        <p:spPr>
          <a:xfrm>
            <a:off x="4746287" y="548924"/>
            <a:ext cx="1752276" cy="461665"/>
          </a:xfrm>
          <a:prstGeom prst="rect">
            <a:avLst/>
          </a:prstGeom>
          <a:noFill/>
        </p:spPr>
        <p:txBody>
          <a:bodyPr wrap="none" rtlCol="0">
            <a:spAutoFit/>
          </a:bodyPr>
          <a:lstStyle/>
          <a:p>
            <a:pPr algn="ctr"/>
            <a:r>
              <a:rPr lang="en-US" sz="2400" b="1" dirty="0">
                <a:solidFill>
                  <a:srgbClr val="C1BAFE"/>
                </a:solidFill>
                <a:latin typeface="Seaford Display" pitchFamily="2" charset="0"/>
              </a:rPr>
              <a:t>Conclusions</a:t>
            </a:r>
          </a:p>
        </p:txBody>
      </p:sp>
      <p:pic>
        <p:nvPicPr>
          <p:cNvPr id="13" name="Graphic 12" descr="Four leaf clover outline">
            <a:extLst>
              <a:ext uri="{FF2B5EF4-FFF2-40B4-BE49-F238E27FC236}">
                <a16:creationId xmlns:a16="http://schemas.microsoft.com/office/drawing/2014/main" id="{00C29A83-2D08-9E99-877F-3BC125E6220F}"/>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434819" y="2764529"/>
            <a:ext cx="636151" cy="636151"/>
          </a:xfrm>
          <a:prstGeom prst="rect">
            <a:avLst/>
          </a:prstGeom>
        </p:spPr>
      </p:pic>
      <p:sp>
        <p:nvSpPr>
          <p:cNvPr id="14" name="Slide Number Placeholder 13">
            <a:extLst>
              <a:ext uri="{FF2B5EF4-FFF2-40B4-BE49-F238E27FC236}">
                <a16:creationId xmlns:a16="http://schemas.microsoft.com/office/drawing/2014/main" id="{79A4F918-5573-1F48-46FF-A69861F84D8F}"/>
              </a:ext>
            </a:extLst>
          </p:cNvPr>
          <p:cNvSpPr>
            <a:spLocks noGrp="1"/>
          </p:cNvSpPr>
          <p:nvPr>
            <p:ph type="sldNum" sz="quarter" idx="12"/>
          </p:nvPr>
        </p:nvSpPr>
        <p:spPr/>
        <p:txBody>
          <a:bodyPr/>
          <a:lstStyle/>
          <a:p>
            <a:fld id="{CE0A201B-ED89-3E49-8333-B23E6243976D}" type="slidenum">
              <a:rPr lang="en-US" smtClean="0"/>
              <a:t>19</a:t>
            </a:fld>
            <a:endParaRPr lang="en-US"/>
          </a:p>
        </p:txBody>
      </p:sp>
      <p:pic>
        <p:nvPicPr>
          <p:cNvPr id="18" name="Picture 17">
            <a:extLst>
              <a:ext uri="{FF2B5EF4-FFF2-40B4-BE49-F238E27FC236}">
                <a16:creationId xmlns:a16="http://schemas.microsoft.com/office/drawing/2014/main" id="{131E325F-102C-5FF1-2DBA-5547CD586CC9}"/>
              </a:ext>
            </a:extLst>
          </p:cNvPr>
          <p:cNvPicPr>
            <a:picLocks noChangeAspect="1"/>
          </p:cNvPicPr>
          <p:nvPr/>
        </p:nvPicPr>
        <p:blipFill>
          <a:blip r:embed="rId18"/>
          <a:stretch>
            <a:fillRect/>
          </a:stretch>
        </p:blipFill>
        <p:spPr>
          <a:xfrm>
            <a:off x="9521962" y="558684"/>
            <a:ext cx="2205845" cy="2205845"/>
          </a:xfrm>
          <a:prstGeom prst="rect">
            <a:avLst/>
          </a:prstGeom>
        </p:spPr>
      </p:pic>
      <p:sp>
        <p:nvSpPr>
          <p:cNvPr id="19" name="TextBox 18">
            <a:extLst>
              <a:ext uri="{FF2B5EF4-FFF2-40B4-BE49-F238E27FC236}">
                <a16:creationId xmlns:a16="http://schemas.microsoft.com/office/drawing/2014/main" id="{099BF98C-BEE0-FF99-6ECA-BF7EF082271C}"/>
              </a:ext>
            </a:extLst>
          </p:cNvPr>
          <p:cNvSpPr txBox="1"/>
          <p:nvPr/>
        </p:nvSpPr>
        <p:spPr>
          <a:xfrm>
            <a:off x="9938612" y="2897938"/>
            <a:ext cx="1579278" cy="369332"/>
          </a:xfrm>
          <a:prstGeom prst="rect">
            <a:avLst/>
          </a:prstGeom>
          <a:noFill/>
        </p:spPr>
        <p:txBody>
          <a:bodyPr wrap="none" rtlCol="0">
            <a:spAutoFit/>
          </a:bodyPr>
          <a:lstStyle/>
          <a:p>
            <a:r>
              <a:rPr lang="en-US" dirty="0">
                <a:latin typeface="Seaford Display" pitchFamily="2" charset="0"/>
              </a:rPr>
              <a:t>Nair et al. 2025</a:t>
            </a:r>
            <a:endParaRPr lang="en-US" dirty="0"/>
          </a:p>
        </p:txBody>
      </p:sp>
    </p:spTree>
    <p:extLst>
      <p:ext uri="{BB962C8B-B14F-4D97-AF65-F5344CB8AC3E}">
        <p14:creationId xmlns:p14="http://schemas.microsoft.com/office/powerpoint/2010/main" val="3053777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F41A47F-5A95-C408-9745-FB1D46966434}"/>
              </a:ext>
            </a:extLst>
          </p:cNvPr>
          <p:cNvSpPr>
            <a:spLocks noGrp="1"/>
          </p:cNvSpPr>
          <p:nvPr>
            <p:ph type="dt" sz="half" idx="10"/>
          </p:nvPr>
        </p:nvSpPr>
        <p:spPr/>
        <p:txBody>
          <a:bodyPr/>
          <a:lstStyle/>
          <a:p>
            <a:r>
              <a:rPr lang="en-AU"/>
              <a:t>Ashwathi Nair</a:t>
            </a:r>
            <a:endParaRPr lang="en-US"/>
          </a:p>
        </p:txBody>
      </p:sp>
      <p:sp>
        <p:nvSpPr>
          <p:cNvPr id="4" name="Footer Placeholder 3">
            <a:extLst>
              <a:ext uri="{FF2B5EF4-FFF2-40B4-BE49-F238E27FC236}">
                <a16:creationId xmlns:a16="http://schemas.microsoft.com/office/drawing/2014/main" id="{1EDA1B41-E819-A3BF-84F0-A5898F52DA39}"/>
              </a:ext>
            </a:extLst>
          </p:cNvPr>
          <p:cNvSpPr>
            <a:spLocks noGrp="1"/>
          </p:cNvSpPr>
          <p:nvPr>
            <p:ph type="ftr" sz="quarter" idx="11"/>
          </p:nvPr>
        </p:nvSpPr>
        <p:spPr/>
        <p:txBody>
          <a:bodyPr/>
          <a:lstStyle/>
          <a:p>
            <a:r>
              <a:rPr lang="en-US"/>
              <a:t>Binary Stars in a New Era</a:t>
            </a:r>
          </a:p>
        </p:txBody>
      </p:sp>
      <p:sp>
        <p:nvSpPr>
          <p:cNvPr id="5" name="Slide Number Placeholder 4">
            <a:extLst>
              <a:ext uri="{FF2B5EF4-FFF2-40B4-BE49-F238E27FC236}">
                <a16:creationId xmlns:a16="http://schemas.microsoft.com/office/drawing/2014/main" id="{C296E757-7FA0-103C-D4E5-73DE7D85F57F}"/>
              </a:ext>
            </a:extLst>
          </p:cNvPr>
          <p:cNvSpPr>
            <a:spLocks noGrp="1"/>
          </p:cNvSpPr>
          <p:nvPr>
            <p:ph type="sldNum" sz="quarter" idx="12"/>
          </p:nvPr>
        </p:nvSpPr>
        <p:spPr/>
        <p:txBody>
          <a:bodyPr/>
          <a:lstStyle/>
          <a:p>
            <a:fld id="{CE0A201B-ED89-3E49-8333-B23E6243976D}" type="slidenum">
              <a:rPr lang="en-US" smtClean="0"/>
              <a:t>20</a:t>
            </a:fld>
            <a:endParaRPr lang="en-US"/>
          </a:p>
        </p:txBody>
      </p:sp>
      <p:sp>
        <p:nvSpPr>
          <p:cNvPr id="6" name="TextBox 5">
            <a:extLst>
              <a:ext uri="{FF2B5EF4-FFF2-40B4-BE49-F238E27FC236}">
                <a16:creationId xmlns:a16="http://schemas.microsoft.com/office/drawing/2014/main" id="{47DB962A-273F-3677-807D-E2C5962333AA}"/>
              </a:ext>
            </a:extLst>
          </p:cNvPr>
          <p:cNvSpPr txBox="1"/>
          <p:nvPr/>
        </p:nvSpPr>
        <p:spPr>
          <a:xfrm>
            <a:off x="4903910" y="2905780"/>
            <a:ext cx="2479718" cy="523220"/>
          </a:xfrm>
          <a:prstGeom prst="rect">
            <a:avLst/>
          </a:prstGeom>
          <a:noFill/>
        </p:spPr>
        <p:txBody>
          <a:bodyPr wrap="none" rtlCol="0">
            <a:spAutoFit/>
          </a:bodyPr>
          <a:lstStyle/>
          <a:p>
            <a:r>
              <a:rPr lang="en-US" sz="2800" dirty="0">
                <a:latin typeface="Seaford Display" pitchFamily="2" charset="0"/>
              </a:rPr>
              <a:t>EXTRA SLIDES</a:t>
            </a:r>
          </a:p>
        </p:txBody>
      </p:sp>
    </p:spTree>
    <p:extLst>
      <p:ext uri="{BB962C8B-B14F-4D97-AF65-F5344CB8AC3E}">
        <p14:creationId xmlns:p14="http://schemas.microsoft.com/office/powerpoint/2010/main" val="1073181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AF00B5-2F23-E655-2339-C72BB887A524}"/>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B9EF5BE6-8FDA-53ED-E305-3267DECC30CC}"/>
              </a:ext>
            </a:extLst>
          </p:cNvPr>
          <p:cNvSpPr>
            <a:spLocks noGrp="1"/>
          </p:cNvSpPr>
          <p:nvPr>
            <p:ph type="ftr" sz="quarter" idx="11"/>
          </p:nvPr>
        </p:nvSpPr>
        <p:spPr/>
        <p:txBody>
          <a:bodyPr/>
          <a:lstStyle/>
          <a:p>
            <a:r>
              <a:rPr lang="en-US"/>
              <a:t>Binary Stars in a New Era</a:t>
            </a:r>
            <a:endParaRPr lang="en-US" dirty="0"/>
          </a:p>
        </p:txBody>
      </p:sp>
      <p:pic>
        <p:nvPicPr>
          <p:cNvPr id="4" name="Picture 3">
            <a:extLst>
              <a:ext uri="{FF2B5EF4-FFF2-40B4-BE49-F238E27FC236}">
                <a16:creationId xmlns:a16="http://schemas.microsoft.com/office/drawing/2014/main" id="{DDC2B8D2-ECCF-96EC-F2D2-ECA31F143BD9}"/>
              </a:ext>
            </a:extLst>
          </p:cNvPr>
          <p:cNvPicPr>
            <a:picLocks noChangeAspect="1"/>
          </p:cNvPicPr>
          <p:nvPr/>
        </p:nvPicPr>
        <p:blipFill rotWithShape="1">
          <a:blip r:embed="rId2"/>
          <a:srcRect t="21924" b="21924"/>
          <a:stretch/>
        </p:blipFill>
        <p:spPr>
          <a:xfrm>
            <a:off x="6332127" y="3734223"/>
            <a:ext cx="2496720" cy="1401966"/>
          </a:xfrm>
          <a:prstGeom prst="rect">
            <a:avLst/>
          </a:prstGeom>
        </p:spPr>
      </p:pic>
      <p:pic>
        <p:nvPicPr>
          <p:cNvPr id="5" name="Picture 4">
            <a:extLst>
              <a:ext uri="{FF2B5EF4-FFF2-40B4-BE49-F238E27FC236}">
                <a16:creationId xmlns:a16="http://schemas.microsoft.com/office/drawing/2014/main" id="{B2FDAD6D-A38C-BB3D-F26B-210C8901831F}"/>
              </a:ext>
            </a:extLst>
          </p:cNvPr>
          <p:cNvPicPr>
            <a:picLocks noChangeAspect="1"/>
          </p:cNvPicPr>
          <p:nvPr/>
        </p:nvPicPr>
        <p:blipFill rotWithShape="1">
          <a:blip r:embed="rId3"/>
          <a:srcRect l="-1603" t="7707"/>
          <a:stretch/>
        </p:blipFill>
        <p:spPr>
          <a:xfrm>
            <a:off x="9483057" y="1050704"/>
            <a:ext cx="1718132" cy="1560710"/>
          </a:xfrm>
          <a:prstGeom prst="rect">
            <a:avLst/>
          </a:prstGeom>
        </p:spPr>
      </p:pic>
      <p:pic>
        <p:nvPicPr>
          <p:cNvPr id="6" name="Picture 5">
            <a:extLst>
              <a:ext uri="{FF2B5EF4-FFF2-40B4-BE49-F238E27FC236}">
                <a16:creationId xmlns:a16="http://schemas.microsoft.com/office/drawing/2014/main" id="{43997DF4-E6A3-0BCB-33D1-B49178CE5D51}"/>
              </a:ext>
            </a:extLst>
          </p:cNvPr>
          <p:cNvPicPr>
            <a:picLocks noChangeAspect="1"/>
          </p:cNvPicPr>
          <p:nvPr/>
        </p:nvPicPr>
        <p:blipFill>
          <a:blip r:embed="rId4"/>
          <a:stretch>
            <a:fillRect/>
          </a:stretch>
        </p:blipFill>
        <p:spPr>
          <a:xfrm>
            <a:off x="9489922" y="2833957"/>
            <a:ext cx="1718133" cy="1718133"/>
          </a:xfrm>
          <a:prstGeom prst="rect">
            <a:avLst/>
          </a:prstGeom>
        </p:spPr>
      </p:pic>
      <p:pic>
        <p:nvPicPr>
          <p:cNvPr id="7" name="Picture 6">
            <a:extLst>
              <a:ext uri="{FF2B5EF4-FFF2-40B4-BE49-F238E27FC236}">
                <a16:creationId xmlns:a16="http://schemas.microsoft.com/office/drawing/2014/main" id="{0DAB2670-BEFF-6C0D-059D-62B1523CC4D6}"/>
              </a:ext>
            </a:extLst>
          </p:cNvPr>
          <p:cNvPicPr>
            <a:picLocks noChangeAspect="1"/>
          </p:cNvPicPr>
          <p:nvPr/>
        </p:nvPicPr>
        <p:blipFill rotWithShape="1">
          <a:blip r:embed="rId5"/>
          <a:srcRect r="5584" b="16131"/>
          <a:stretch/>
        </p:blipFill>
        <p:spPr>
          <a:xfrm>
            <a:off x="9443580" y="4954829"/>
            <a:ext cx="1969039" cy="1749078"/>
          </a:xfrm>
          <a:prstGeom prst="rect">
            <a:avLst/>
          </a:prstGeom>
        </p:spPr>
      </p:pic>
      <p:pic>
        <p:nvPicPr>
          <p:cNvPr id="8" name="Picture 7">
            <a:extLst>
              <a:ext uri="{FF2B5EF4-FFF2-40B4-BE49-F238E27FC236}">
                <a16:creationId xmlns:a16="http://schemas.microsoft.com/office/drawing/2014/main" id="{327BA1FF-23EB-8190-24DD-9C2BAB2592BF}"/>
              </a:ext>
            </a:extLst>
          </p:cNvPr>
          <p:cNvPicPr>
            <a:picLocks noChangeAspect="1"/>
          </p:cNvPicPr>
          <p:nvPr/>
        </p:nvPicPr>
        <p:blipFill rotWithShape="1">
          <a:blip r:embed="rId6"/>
          <a:srcRect l="11780" t="12971" r="7682" b="24045"/>
          <a:stretch/>
        </p:blipFill>
        <p:spPr>
          <a:xfrm rot="1535882">
            <a:off x="6947941" y="1826537"/>
            <a:ext cx="1446542" cy="1131237"/>
          </a:xfrm>
          <a:prstGeom prst="rect">
            <a:avLst/>
          </a:prstGeom>
        </p:spPr>
      </p:pic>
      <p:sp>
        <p:nvSpPr>
          <p:cNvPr id="9" name="TextBox 8">
            <a:extLst>
              <a:ext uri="{FF2B5EF4-FFF2-40B4-BE49-F238E27FC236}">
                <a16:creationId xmlns:a16="http://schemas.microsoft.com/office/drawing/2014/main" id="{5E7B1A3B-0159-E58D-A20E-FC4732B2C510}"/>
              </a:ext>
            </a:extLst>
          </p:cNvPr>
          <p:cNvSpPr txBox="1"/>
          <p:nvPr/>
        </p:nvSpPr>
        <p:spPr>
          <a:xfrm>
            <a:off x="8059302" y="1556113"/>
            <a:ext cx="563317" cy="369332"/>
          </a:xfrm>
          <a:prstGeom prst="rect">
            <a:avLst/>
          </a:prstGeom>
          <a:noFill/>
        </p:spPr>
        <p:txBody>
          <a:bodyPr wrap="square" rtlCol="0">
            <a:spAutoFit/>
          </a:bodyPr>
          <a:lstStyle/>
          <a:p>
            <a:r>
              <a:rPr lang="en-US" dirty="0"/>
              <a:t>He</a:t>
            </a:r>
          </a:p>
        </p:txBody>
      </p:sp>
      <p:sp>
        <p:nvSpPr>
          <p:cNvPr id="10" name="TextBox 9">
            <a:extLst>
              <a:ext uri="{FF2B5EF4-FFF2-40B4-BE49-F238E27FC236}">
                <a16:creationId xmlns:a16="http://schemas.microsoft.com/office/drawing/2014/main" id="{FA29FDDE-178A-0332-3AFD-28991A4DBF04}"/>
              </a:ext>
            </a:extLst>
          </p:cNvPr>
          <p:cNvSpPr txBox="1"/>
          <p:nvPr/>
        </p:nvSpPr>
        <p:spPr>
          <a:xfrm>
            <a:off x="6734699" y="1825822"/>
            <a:ext cx="561203" cy="369332"/>
          </a:xfrm>
          <a:prstGeom prst="rect">
            <a:avLst/>
          </a:prstGeom>
          <a:noFill/>
        </p:spPr>
        <p:txBody>
          <a:bodyPr wrap="square" rtlCol="0">
            <a:spAutoFit/>
          </a:bodyPr>
          <a:lstStyle/>
          <a:p>
            <a:r>
              <a:rPr lang="en-US" dirty="0"/>
              <a:t>NS</a:t>
            </a:r>
          </a:p>
        </p:txBody>
      </p:sp>
      <p:sp>
        <p:nvSpPr>
          <p:cNvPr id="11" name="TextBox 10">
            <a:extLst>
              <a:ext uri="{FF2B5EF4-FFF2-40B4-BE49-F238E27FC236}">
                <a16:creationId xmlns:a16="http://schemas.microsoft.com/office/drawing/2014/main" id="{F3BF5519-ABCC-54CE-8897-A07609A75A8B}"/>
              </a:ext>
            </a:extLst>
          </p:cNvPr>
          <p:cNvSpPr txBox="1"/>
          <p:nvPr/>
        </p:nvSpPr>
        <p:spPr>
          <a:xfrm>
            <a:off x="7608295" y="5196186"/>
            <a:ext cx="1515163" cy="646331"/>
          </a:xfrm>
          <a:prstGeom prst="rect">
            <a:avLst/>
          </a:prstGeom>
          <a:noFill/>
        </p:spPr>
        <p:txBody>
          <a:bodyPr wrap="square" rtlCol="0">
            <a:spAutoFit/>
          </a:bodyPr>
          <a:lstStyle/>
          <a:p>
            <a:r>
              <a:rPr lang="en-US" dirty="0"/>
              <a:t>Case BB RLO</a:t>
            </a:r>
          </a:p>
        </p:txBody>
      </p:sp>
      <p:sp>
        <p:nvSpPr>
          <p:cNvPr id="12" name="TextBox 11">
            <a:extLst>
              <a:ext uri="{FF2B5EF4-FFF2-40B4-BE49-F238E27FC236}">
                <a16:creationId xmlns:a16="http://schemas.microsoft.com/office/drawing/2014/main" id="{2A183DC3-A808-FF9E-D466-C14317893F82}"/>
              </a:ext>
            </a:extLst>
          </p:cNvPr>
          <p:cNvSpPr txBox="1"/>
          <p:nvPr/>
        </p:nvSpPr>
        <p:spPr>
          <a:xfrm>
            <a:off x="8597869" y="804230"/>
            <a:ext cx="2379589" cy="369332"/>
          </a:xfrm>
          <a:prstGeom prst="rect">
            <a:avLst/>
          </a:prstGeom>
          <a:noFill/>
        </p:spPr>
        <p:txBody>
          <a:bodyPr wrap="square" rtlCol="0">
            <a:spAutoFit/>
          </a:bodyPr>
          <a:lstStyle/>
          <a:p>
            <a:r>
              <a:rPr lang="en-US" dirty="0"/>
              <a:t>Ultra-stripped SN</a:t>
            </a:r>
          </a:p>
        </p:txBody>
      </p:sp>
      <p:sp>
        <p:nvSpPr>
          <p:cNvPr id="13" name="TextBox 12">
            <a:extLst>
              <a:ext uri="{FF2B5EF4-FFF2-40B4-BE49-F238E27FC236}">
                <a16:creationId xmlns:a16="http://schemas.microsoft.com/office/drawing/2014/main" id="{69F51A2B-86A6-6C1C-1CAC-50A4DD55E429}"/>
              </a:ext>
            </a:extLst>
          </p:cNvPr>
          <p:cNvSpPr txBox="1"/>
          <p:nvPr/>
        </p:nvSpPr>
        <p:spPr>
          <a:xfrm>
            <a:off x="10940383" y="2476086"/>
            <a:ext cx="1421400" cy="923330"/>
          </a:xfrm>
          <a:prstGeom prst="rect">
            <a:avLst/>
          </a:prstGeom>
          <a:noFill/>
        </p:spPr>
        <p:txBody>
          <a:bodyPr wrap="square" rtlCol="0">
            <a:spAutoFit/>
          </a:bodyPr>
          <a:lstStyle/>
          <a:p>
            <a:r>
              <a:rPr lang="en-US" dirty="0"/>
              <a:t>Recycled + young NS</a:t>
            </a:r>
          </a:p>
        </p:txBody>
      </p:sp>
      <p:sp>
        <p:nvSpPr>
          <p:cNvPr id="14" name="TextBox 13">
            <a:extLst>
              <a:ext uri="{FF2B5EF4-FFF2-40B4-BE49-F238E27FC236}">
                <a16:creationId xmlns:a16="http://schemas.microsoft.com/office/drawing/2014/main" id="{FDB5C777-C631-ABEA-D895-2DDE11C0D402}"/>
              </a:ext>
            </a:extLst>
          </p:cNvPr>
          <p:cNvSpPr txBox="1"/>
          <p:nvPr/>
        </p:nvSpPr>
        <p:spPr>
          <a:xfrm>
            <a:off x="10710833" y="4341022"/>
            <a:ext cx="1252099" cy="646331"/>
          </a:xfrm>
          <a:prstGeom prst="rect">
            <a:avLst/>
          </a:prstGeom>
          <a:noFill/>
        </p:spPr>
        <p:txBody>
          <a:bodyPr wrap="square" rtlCol="0">
            <a:spAutoFit/>
          </a:bodyPr>
          <a:lstStyle/>
          <a:p>
            <a:r>
              <a:rPr lang="en-US" dirty="0"/>
              <a:t>DNS merger</a:t>
            </a:r>
          </a:p>
        </p:txBody>
      </p:sp>
      <p:sp>
        <p:nvSpPr>
          <p:cNvPr id="15" name="TextBox 14">
            <a:extLst>
              <a:ext uri="{FF2B5EF4-FFF2-40B4-BE49-F238E27FC236}">
                <a16:creationId xmlns:a16="http://schemas.microsoft.com/office/drawing/2014/main" id="{CE803BFC-19DE-BBDF-5180-944A3FE06E76}"/>
              </a:ext>
            </a:extLst>
          </p:cNvPr>
          <p:cNvSpPr txBox="1"/>
          <p:nvPr/>
        </p:nvSpPr>
        <p:spPr>
          <a:xfrm>
            <a:off x="10982635" y="5928960"/>
            <a:ext cx="678184" cy="369332"/>
          </a:xfrm>
          <a:prstGeom prst="rect">
            <a:avLst/>
          </a:prstGeom>
          <a:noFill/>
        </p:spPr>
        <p:txBody>
          <a:bodyPr wrap="square" rtlCol="0">
            <a:spAutoFit/>
          </a:bodyPr>
          <a:lstStyle/>
          <a:p>
            <a:r>
              <a:rPr lang="en-US" dirty="0"/>
              <a:t>BH</a:t>
            </a:r>
          </a:p>
        </p:txBody>
      </p:sp>
      <p:sp>
        <p:nvSpPr>
          <p:cNvPr id="16" name="TextBox 15">
            <a:extLst>
              <a:ext uri="{FF2B5EF4-FFF2-40B4-BE49-F238E27FC236}">
                <a16:creationId xmlns:a16="http://schemas.microsoft.com/office/drawing/2014/main" id="{58BF8719-5F09-B313-98CF-A0F94AFCB492}"/>
              </a:ext>
            </a:extLst>
          </p:cNvPr>
          <p:cNvSpPr txBox="1"/>
          <p:nvPr/>
        </p:nvSpPr>
        <p:spPr>
          <a:xfrm>
            <a:off x="317340" y="1456490"/>
            <a:ext cx="5716886" cy="400110"/>
          </a:xfrm>
          <a:prstGeom prst="rect">
            <a:avLst/>
          </a:prstGeom>
          <a:noFill/>
        </p:spPr>
        <p:txBody>
          <a:bodyPr wrap="none" rtlCol="0">
            <a:spAutoFit/>
          </a:bodyPr>
          <a:lstStyle/>
          <a:p>
            <a:r>
              <a:rPr lang="en-US" sz="2000" dirty="0">
                <a:latin typeface="Seaford Display" pitchFamily="2" charset="0"/>
              </a:rPr>
              <a:t>The evolutionary phases that decides the fate of DNSs</a:t>
            </a:r>
          </a:p>
        </p:txBody>
      </p:sp>
      <p:sp>
        <p:nvSpPr>
          <p:cNvPr id="17" name="TextBox 16">
            <a:extLst>
              <a:ext uri="{FF2B5EF4-FFF2-40B4-BE49-F238E27FC236}">
                <a16:creationId xmlns:a16="http://schemas.microsoft.com/office/drawing/2014/main" id="{3A54C4AA-FC80-18C4-E8CB-AF1C78B94666}"/>
              </a:ext>
            </a:extLst>
          </p:cNvPr>
          <p:cNvSpPr txBox="1"/>
          <p:nvPr/>
        </p:nvSpPr>
        <p:spPr>
          <a:xfrm>
            <a:off x="736656" y="2242082"/>
            <a:ext cx="5151860" cy="400110"/>
          </a:xfrm>
          <a:prstGeom prst="rect">
            <a:avLst/>
          </a:prstGeom>
          <a:noFill/>
        </p:spPr>
        <p:txBody>
          <a:bodyPr wrap="none" rtlCol="0">
            <a:spAutoFit/>
          </a:bodyPr>
          <a:lstStyle/>
          <a:p>
            <a:r>
              <a:rPr lang="en-US" sz="2000" dirty="0">
                <a:latin typeface="Seaford Display" pitchFamily="2" charset="0"/>
              </a:rPr>
              <a:t>Preferred for modeling DNS formation pathways</a:t>
            </a:r>
          </a:p>
        </p:txBody>
      </p:sp>
      <p:cxnSp>
        <p:nvCxnSpPr>
          <p:cNvPr id="18" name="Curved Connector 17">
            <a:extLst>
              <a:ext uri="{FF2B5EF4-FFF2-40B4-BE49-F238E27FC236}">
                <a16:creationId xmlns:a16="http://schemas.microsoft.com/office/drawing/2014/main" id="{3313A48D-EFD8-E346-B582-62197210E755}"/>
              </a:ext>
            </a:extLst>
          </p:cNvPr>
          <p:cNvCxnSpPr>
            <a:cxnSpLocks/>
          </p:cNvCxnSpPr>
          <p:nvPr/>
        </p:nvCxnSpPr>
        <p:spPr>
          <a:xfrm rot="10800000" flipV="1">
            <a:off x="8744503" y="2136683"/>
            <a:ext cx="1013090" cy="3331155"/>
          </a:xfrm>
          <a:prstGeom prst="curvedConnector3">
            <a:avLst/>
          </a:prstGeom>
          <a:ln w="38100">
            <a:solidFill>
              <a:srgbClr val="C1A5FF"/>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72393C56-9745-E3EE-31B3-68E1934F420E}"/>
              </a:ext>
            </a:extLst>
          </p:cNvPr>
          <p:cNvSpPr txBox="1"/>
          <p:nvPr/>
        </p:nvSpPr>
        <p:spPr>
          <a:xfrm>
            <a:off x="10523647" y="803922"/>
            <a:ext cx="907621" cy="369332"/>
          </a:xfrm>
          <a:prstGeom prst="rect">
            <a:avLst/>
          </a:prstGeom>
          <a:noFill/>
        </p:spPr>
        <p:txBody>
          <a:bodyPr wrap="none" rtlCol="0">
            <a:spAutoFit/>
          </a:bodyPr>
          <a:lstStyle/>
          <a:p>
            <a:r>
              <a:rPr lang="en-US" dirty="0"/>
              <a:t>(USSN)</a:t>
            </a:r>
          </a:p>
        </p:txBody>
      </p:sp>
      <p:pic>
        <p:nvPicPr>
          <p:cNvPr id="20" name="Graphic 19" descr="Arrow: Straight outline">
            <a:extLst>
              <a:ext uri="{FF2B5EF4-FFF2-40B4-BE49-F238E27FC236}">
                <a16:creationId xmlns:a16="http://schemas.microsoft.com/office/drawing/2014/main" id="{ED1BB595-45A0-2627-7605-015C8A8E4C8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200000">
            <a:off x="7196036" y="3005203"/>
            <a:ext cx="638048" cy="638048"/>
          </a:xfrm>
          <a:prstGeom prst="rect">
            <a:avLst/>
          </a:prstGeom>
        </p:spPr>
      </p:pic>
      <p:pic>
        <p:nvPicPr>
          <p:cNvPr id="21" name="Graphic 20" descr="Arrow: Straight outline">
            <a:extLst>
              <a:ext uri="{FF2B5EF4-FFF2-40B4-BE49-F238E27FC236}">
                <a16:creationId xmlns:a16="http://schemas.microsoft.com/office/drawing/2014/main" id="{C923D19A-B0D8-2896-BF39-F639470F0AE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200000">
            <a:off x="10077715" y="2394857"/>
            <a:ext cx="638048" cy="638048"/>
          </a:xfrm>
          <a:prstGeom prst="rect">
            <a:avLst/>
          </a:prstGeom>
        </p:spPr>
      </p:pic>
      <p:pic>
        <p:nvPicPr>
          <p:cNvPr id="22" name="Graphic 21" descr="Arrow: Straight outline">
            <a:extLst>
              <a:ext uri="{FF2B5EF4-FFF2-40B4-BE49-F238E27FC236}">
                <a16:creationId xmlns:a16="http://schemas.microsoft.com/office/drawing/2014/main" id="{0E1B2715-F455-5A08-1458-FA55AB46C0D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200000">
            <a:off x="10077715" y="4316781"/>
            <a:ext cx="638048" cy="638048"/>
          </a:xfrm>
          <a:prstGeom prst="rect">
            <a:avLst/>
          </a:prstGeom>
        </p:spPr>
      </p:pic>
      <p:sp>
        <p:nvSpPr>
          <p:cNvPr id="23" name="Slide Number Placeholder 22">
            <a:extLst>
              <a:ext uri="{FF2B5EF4-FFF2-40B4-BE49-F238E27FC236}">
                <a16:creationId xmlns:a16="http://schemas.microsoft.com/office/drawing/2014/main" id="{4E662EBA-2E98-A7E0-9CAA-8DE5373F0D66}"/>
              </a:ext>
            </a:extLst>
          </p:cNvPr>
          <p:cNvSpPr>
            <a:spLocks noGrp="1"/>
          </p:cNvSpPr>
          <p:nvPr>
            <p:ph type="sldNum" sz="quarter" idx="12"/>
          </p:nvPr>
        </p:nvSpPr>
        <p:spPr/>
        <p:txBody>
          <a:bodyPr/>
          <a:lstStyle/>
          <a:p>
            <a:fld id="{CE0A201B-ED89-3E49-8333-B23E6243976D}" type="slidenum">
              <a:rPr lang="en-US" smtClean="0"/>
              <a:t>21</a:t>
            </a:fld>
            <a:endParaRPr lang="en-US"/>
          </a:p>
        </p:txBody>
      </p:sp>
    </p:spTree>
    <p:extLst>
      <p:ext uri="{BB962C8B-B14F-4D97-AF65-F5344CB8AC3E}">
        <p14:creationId xmlns:p14="http://schemas.microsoft.com/office/powerpoint/2010/main" val="1083680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4A21FEF-4023-C44E-A9FB-3788DB20DBD3}"/>
              </a:ext>
            </a:extLst>
          </p:cNvPr>
          <p:cNvSpPr>
            <a:spLocks noGrp="1"/>
          </p:cNvSpPr>
          <p:nvPr>
            <p:ph type="ftr" sz="quarter" idx="11"/>
          </p:nvPr>
        </p:nvSpPr>
        <p:spPr/>
        <p:txBody>
          <a:bodyPr/>
          <a:lstStyle/>
          <a:p>
            <a:r>
              <a:rPr lang="en-US"/>
              <a:t>Binary Stars in a New Era</a:t>
            </a:r>
            <a:endParaRPr lang="en-US" dirty="0"/>
          </a:p>
        </p:txBody>
      </p:sp>
      <p:sp>
        <p:nvSpPr>
          <p:cNvPr id="6" name="TextBox 5">
            <a:extLst>
              <a:ext uri="{FF2B5EF4-FFF2-40B4-BE49-F238E27FC236}">
                <a16:creationId xmlns:a16="http://schemas.microsoft.com/office/drawing/2014/main" id="{A3AA5CBE-E224-1692-1BD5-1E2A2F6D4A9B}"/>
              </a:ext>
            </a:extLst>
          </p:cNvPr>
          <p:cNvSpPr txBox="1"/>
          <p:nvPr/>
        </p:nvSpPr>
        <p:spPr>
          <a:xfrm>
            <a:off x="663389" y="659025"/>
            <a:ext cx="11210306" cy="461665"/>
          </a:xfrm>
          <a:prstGeom prst="rect">
            <a:avLst/>
          </a:prstGeom>
          <a:noFill/>
        </p:spPr>
        <p:txBody>
          <a:bodyPr wrap="square" rtlCol="0">
            <a:spAutoFit/>
          </a:bodyPr>
          <a:lstStyle/>
          <a:p>
            <a:pPr algn="ctr"/>
            <a:r>
              <a:rPr lang="en-US" sz="2400" b="1" dirty="0">
                <a:solidFill>
                  <a:srgbClr val="C1BAFE"/>
                </a:solidFill>
                <a:latin typeface="Seaford Display" pitchFamily="2" charset="0"/>
              </a:rPr>
              <a:t>Initial and Maximum Radius as a Function of Initial He-ZAMS Mass at Solar Metallicity</a:t>
            </a:r>
          </a:p>
        </p:txBody>
      </p:sp>
      <p:sp>
        <p:nvSpPr>
          <p:cNvPr id="9" name="TextBox 8">
            <a:extLst>
              <a:ext uri="{FF2B5EF4-FFF2-40B4-BE49-F238E27FC236}">
                <a16:creationId xmlns:a16="http://schemas.microsoft.com/office/drawing/2014/main" id="{0E9581DB-B0E6-1D40-D681-B42E0962EBEF}"/>
              </a:ext>
            </a:extLst>
          </p:cNvPr>
          <p:cNvSpPr txBox="1"/>
          <p:nvPr/>
        </p:nvSpPr>
        <p:spPr>
          <a:xfrm>
            <a:off x="1191850" y="1256797"/>
            <a:ext cx="912750" cy="369332"/>
          </a:xfrm>
          <a:prstGeom prst="rect">
            <a:avLst/>
          </a:prstGeom>
          <a:noFill/>
        </p:spPr>
        <p:txBody>
          <a:bodyPr wrap="none" rtlCol="0">
            <a:spAutoFit/>
          </a:bodyPr>
          <a:lstStyle/>
          <a:p>
            <a:r>
              <a:rPr lang="en-US" i="1" dirty="0">
                <a:latin typeface="Seaford Display" pitchFamily="2" charset="0"/>
              </a:rPr>
              <a:t>(Recap)</a:t>
            </a:r>
          </a:p>
        </p:txBody>
      </p:sp>
      <p:pic>
        <p:nvPicPr>
          <p:cNvPr id="4" name="Picture 3" descr="A graph of a number of objects&#10;&#10;AI-generated content may be incorrect.">
            <a:extLst>
              <a:ext uri="{FF2B5EF4-FFF2-40B4-BE49-F238E27FC236}">
                <a16:creationId xmlns:a16="http://schemas.microsoft.com/office/drawing/2014/main" id="{40938463-6CCA-3CA6-731A-D447D9B4C4DE}"/>
              </a:ext>
            </a:extLst>
          </p:cNvPr>
          <p:cNvPicPr>
            <a:picLocks noChangeAspect="1"/>
          </p:cNvPicPr>
          <p:nvPr/>
        </p:nvPicPr>
        <p:blipFill>
          <a:blip r:embed="rId3"/>
          <a:stretch>
            <a:fillRect/>
          </a:stretch>
        </p:blipFill>
        <p:spPr>
          <a:xfrm>
            <a:off x="1453559" y="1830519"/>
            <a:ext cx="5701326" cy="4393229"/>
          </a:xfrm>
          <a:prstGeom prst="rect">
            <a:avLst/>
          </a:prstGeom>
        </p:spPr>
      </p:pic>
      <p:sp>
        <p:nvSpPr>
          <p:cNvPr id="10" name="Slide Number Placeholder 9">
            <a:extLst>
              <a:ext uri="{FF2B5EF4-FFF2-40B4-BE49-F238E27FC236}">
                <a16:creationId xmlns:a16="http://schemas.microsoft.com/office/drawing/2014/main" id="{7DF8372D-4676-BD62-A191-65AFAC20EF08}"/>
              </a:ext>
            </a:extLst>
          </p:cNvPr>
          <p:cNvSpPr>
            <a:spLocks noGrp="1"/>
          </p:cNvSpPr>
          <p:nvPr>
            <p:ph type="sldNum" sz="quarter" idx="12"/>
          </p:nvPr>
        </p:nvSpPr>
        <p:spPr/>
        <p:txBody>
          <a:bodyPr/>
          <a:lstStyle/>
          <a:p>
            <a:fld id="{4A7A06D8-6BB7-C344-81C2-850CCC820A67}" type="slidenum">
              <a:rPr lang="en-US" smtClean="0"/>
              <a:t>22</a:t>
            </a:fld>
            <a:endParaRPr lang="en-US"/>
          </a:p>
        </p:txBody>
      </p:sp>
      <p:sp>
        <p:nvSpPr>
          <p:cNvPr id="11" name="Date Placeholder 10">
            <a:extLst>
              <a:ext uri="{FF2B5EF4-FFF2-40B4-BE49-F238E27FC236}">
                <a16:creationId xmlns:a16="http://schemas.microsoft.com/office/drawing/2014/main" id="{C72D0E0B-F1A4-ED01-CA7D-1C30BC4A8059}"/>
              </a:ext>
            </a:extLst>
          </p:cNvPr>
          <p:cNvSpPr>
            <a:spLocks noGrp="1"/>
          </p:cNvSpPr>
          <p:nvPr>
            <p:ph type="dt" sz="half" idx="10"/>
          </p:nvPr>
        </p:nvSpPr>
        <p:spPr/>
        <p:txBody>
          <a:bodyPr/>
          <a:lstStyle/>
          <a:p>
            <a:r>
              <a:rPr lang="en-AU"/>
              <a:t>Ashwathi Nair</a:t>
            </a:r>
            <a:endParaRPr lang="en-US" dirty="0"/>
          </a:p>
        </p:txBody>
      </p:sp>
      <p:sp>
        <p:nvSpPr>
          <p:cNvPr id="2" name="TextBox 1">
            <a:extLst>
              <a:ext uri="{FF2B5EF4-FFF2-40B4-BE49-F238E27FC236}">
                <a16:creationId xmlns:a16="http://schemas.microsoft.com/office/drawing/2014/main" id="{52C4752C-AE87-F24C-B2E9-BC0FEC1A0D53}"/>
              </a:ext>
            </a:extLst>
          </p:cNvPr>
          <p:cNvSpPr txBox="1"/>
          <p:nvPr/>
        </p:nvSpPr>
        <p:spPr>
          <a:xfrm>
            <a:off x="8338047" y="1961901"/>
            <a:ext cx="2508507" cy="1200329"/>
          </a:xfrm>
          <a:prstGeom prst="rect">
            <a:avLst/>
          </a:prstGeom>
          <a:noFill/>
        </p:spPr>
        <p:txBody>
          <a:bodyPr wrap="none" rtlCol="0">
            <a:spAutoFit/>
          </a:bodyPr>
          <a:lstStyle/>
          <a:p>
            <a:r>
              <a:rPr lang="en-AU" dirty="0">
                <a:latin typeface="Seaford Display" pitchFamily="2" charset="0"/>
              </a:rPr>
              <a:t>ZAMS :</a:t>
            </a:r>
          </a:p>
          <a:p>
            <a:r>
              <a:rPr lang="en-AU" dirty="0">
                <a:latin typeface="Seaford Display" pitchFamily="2" charset="0"/>
              </a:rPr>
              <a:t>Zero Age Main Sequence</a:t>
            </a:r>
          </a:p>
          <a:p>
            <a:r>
              <a:rPr lang="en-AU" dirty="0">
                <a:latin typeface="Seaford Display" pitchFamily="2" charset="0"/>
              </a:rPr>
              <a:t>(aka newly formed stars)</a:t>
            </a:r>
          </a:p>
          <a:p>
            <a:endParaRPr lang="en-US" dirty="0">
              <a:latin typeface="Seaford Display" pitchFamily="2" charset="0"/>
            </a:endParaRPr>
          </a:p>
        </p:txBody>
      </p:sp>
    </p:spTree>
    <p:extLst>
      <p:ext uri="{BB962C8B-B14F-4D97-AF65-F5344CB8AC3E}">
        <p14:creationId xmlns:p14="http://schemas.microsoft.com/office/powerpoint/2010/main" val="969514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F0A4838-918D-6B19-12E8-E007A382A674}"/>
              </a:ext>
            </a:extLst>
          </p:cNvPr>
          <p:cNvSpPr>
            <a:spLocks noGrp="1"/>
          </p:cNvSpPr>
          <p:nvPr>
            <p:ph type="ftr" sz="quarter" idx="11"/>
          </p:nvPr>
        </p:nvSpPr>
        <p:spPr/>
        <p:txBody>
          <a:bodyPr/>
          <a:lstStyle/>
          <a:p>
            <a:r>
              <a:rPr lang="en-US"/>
              <a:t>Binary Stars in a New Era</a:t>
            </a:r>
            <a:endParaRPr lang="en-US" dirty="0"/>
          </a:p>
        </p:txBody>
      </p:sp>
      <p:pic>
        <p:nvPicPr>
          <p:cNvPr id="8" name="Picture 7">
            <a:extLst>
              <a:ext uri="{FF2B5EF4-FFF2-40B4-BE49-F238E27FC236}">
                <a16:creationId xmlns:a16="http://schemas.microsoft.com/office/drawing/2014/main" id="{FBE529F2-4684-25EF-FE4B-95CDCB514BED}"/>
              </a:ext>
            </a:extLst>
          </p:cNvPr>
          <p:cNvPicPr>
            <a:picLocks noChangeAspect="1"/>
          </p:cNvPicPr>
          <p:nvPr/>
        </p:nvPicPr>
        <p:blipFill>
          <a:blip r:embed="rId3"/>
          <a:stretch>
            <a:fillRect/>
          </a:stretch>
        </p:blipFill>
        <p:spPr>
          <a:xfrm>
            <a:off x="737522" y="1438375"/>
            <a:ext cx="5096582" cy="3906631"/>
          </a:xfrm>
          <a:prstGeom prst="rect">
            <a:avLst/>
          </a:prstGeom>
        </p:spPr>
      </p:pic>
      <p:sp>
        <p:nvSpPr>
          <p:cNvPr id="9" name="TextBox 8">
            <a:extLst>
              <a:ext uri="{FF2B5EF4-FFF2-40B4-BE49-F238E27FC236}">
                <a16:creationId xmlns:a16="http://schemas.microsoft.com/office/drawing/2014/main" id="{56201F3F-5BFB-DAB8-8F50-36F0840A7104}"/>
              </a:ext>
            </a:extLst>
          </p:cNvPr>
          <p:cNvSpPr txBox="1"/>
          <p:nvPr/>
        </p:nvSpPr>
        <p:spPr>
          <a:xfrm>
            <a:off x="1683004" y="746551"/>
            <a:ext cx="8825023" cy="830997"/>
          </a:xfrm>
          <a:prstGeom prst="rect">
            <a:avLst/>
          </a:prstGeom>
          <a:noFill/>
        </p:spPr>
        <p:txBody>
          <a:bodyPr wrap="square" rtlCol="0">
            <a:spAutoFit/>
          </a:bodyPr>
          <a:lstStyle/>
          <a:p>
            <a:pPr algn="ctr"/>
            <a:r>
              <a:rPr lang="en-US" sz="2400" dirty="0">
                <a:solidFill>
                  <a:srgbClr val="C1BAFE"/>
                </a:solidFill>
                <a:latin typeface="Seaford Display" pitchFamily="2" charset="0"/>
              </a:rPr>
              <a:t>Standard Supernovae and Kick Prescription (Standard Model)</a:t>
            </a:r>
          </a:p>
          <a:p>
            <a:pPr algn="ctr"/>
            <a:r>
              <a:rPr lang="en-US" sz="2400" dirty="0">
                <a:solidFill>
                  <a:srgbClr val="C1BAFE"/>
                </a:solidFill>
                <a:latin typeface="Seaford Display" pitchFamily="2" charset="0"/>
              </a:rPr>
              <a:t> </a:t>
            </a:r>
          </a:p>
        </p:txBody>
      </p:sp>
      <p:sp>
        <p:nvSpPr>
          <p:cNvPr id="11" name="TextBox 10">
            <a:extLst>
              <a:ext uri="{FF2B5EF4-FFF2-40B4-BE49-F238E27FC236}">
                <a16:creationId xmlns:a16="http://schemas.microsoft.com/office/drawing/2014/main" id="{A0534556-C07B-662A-6A6E-9330C9E1827E}"/>
              </a:ext>
            </a:extLst>
          </p:cNvPr>
          <p:cNvSpPr txBox="1"/>
          <p:nvPr/>
        </p:nvSpPr>
        <p:spPr>
          <a:xfrm>
            <a:off x="1784536" y="5345005"/>
            <a:ext cx="3702719" cy="646331"/>
          </a:xfrm>
          <a:prstGeom prst="rect">
            <a:avLst/>
          </a:prstGeom>
          <a:noFill/>
        </p:spPr>
        <p:txBody>
          <a:bodyPr wrap="square" rtlCol="0">
            <a:spAutoFit/>
          </a:bodyPr>
          <a:lstStyle/>
          <a:p>
            <a:pPr algn="ctr"/>
            <a:r>
              <a:rPr lang="en-US" dirty="0">
                <a:latin typeface="Seaford Display" pitchFamily="2" charset="0"/>
              </a:rPr>
              <a:t>Remnant masses (NS2) as a function of CO core mass</a:t>
            </a:r>
          </a:p>
        </p:txBody>
      </p:sp>
      <p:pic>
        <p:nvPicPr>
          <p:cNvPr id="10" name="Picture 9" descr="A graph with colorful stars&#10;&#10;AI-generated content may be incorrect.">
            <a:extLst>
              <a:ext uri="{FF2B5EF4-FFF2-40B4-BE49-F238E27FC236}">
                <a16:creationId xmlns:a16="http://schemas.microsoft.com/office/drawing/2014/main" id="{ACB4445E-2ACA-4818-E6F2-1A8A37E70FEC}"/>
              </a:ext>
            </a:extLst>
          </p:cNvPr>
          <p:cNvPicPr>
            <a:picLocks noChangeAspect="1"/>
          </p:cNvPicPr>
          <p:nvPr/>
        </p:nvPicPr>
        <p:blipFill>
          <a:blip r:embed="rId4"/>
          <a:stretch>
            <a:fillRect/>
          </a:stretch>
        </p:blipFill>
        <p:spPr>
          <a:xfrm>
            <a:off x="6509047" y="1438374"/>
            <a:ext cx="5096581" cy="3906631"/>
          </a:xfrm>
          <a:prstGeom prst="rect">
            <a:avLst/>
          </a:prstGeom>
        </p:spPr>
      </p:pic>
      <p:sp>
        <p:nvSpPr>
          <p:cNvPr id="12" name="TextBox 11">
            <a:extLst>
              <a:ext uri="{FF2B5EF4-FFF2-40B4-BE49-F238E27FC236}">
                <a16:creationId xmlns:a16="http://schemas.microsoft.com/office/drawing/2014/main" id="{C1E1CDF3-6A52-07FE-33B9-C3FD2E223134}"/>
              </a:ext>
            </a:extLst>
          </p:cNvPr>
          <p:cNvSpPr txBox="1"/>
          <p:nvPr/>
        </p:nvSpPr>
        <p:spPr>
          <a:xfrm>
            <a:off x="7317952" y="5314433"/>
            <a:ext cx="4026585" cy="646331"/>
          </a:xfrm>
          <a:prstGeom prst="rect">
            <a:avLst/>
          </a:prstGeom>
          <a:noFill/>
        </p:spPr>
        <p:txBody>
          <a:bodyPr wrap="square" rtlCol="0">
            <a:spAutoFit/>
          </a:bodyPr>
          <a:lstStyle/>
          <a:p>
            <a:pPr algn="ctr"/>
            <a:r>
              <a:rPr lang="en-US" dirty="0">
                <a:latin typeface="Seaford Display" pitchFamily="2" charset="0"/>
              </a:rPr>
              <a:t>Kick velocity for the corresponding NS2 as a function of CO core mass</a:t>
            </a:r>
          </a:p>
        </p:txBody>
      </p:sp>
      <p:sp>
        <p:nvSpPr>
          <p:cNvPr id="2" name="Oval 1">
            <a:extLst>
              <a:ext uri="{FF2B5EF4-FFF2-40B4-BE49-F238E27FC236}">
                <a16:creationId xmlns:a16="http://schemas.microsoft.com/office/drawing/2014/main" id="{4466BB6B-A9D5-7CE6-4087-499E5AAE7D54}"/>
              </a:ext>
            </a:extLst>
          </p:cNvPr>
          <p:cNvSpPr/>
          <p:nvPr/>
        </p:nvSpPr>
        <p:spPr>
          <a:xfrm>
            <a:off x="7317952" y="3937331"/>
            <a:ext cx="1084722" cy="73152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DC25DB0F-3A6A-260F-274B-150A50415B43}"/>
              </a:ext>
            </a:extLst>
          </p:cNvPr>
          <p:cNvSpPr>
            <a:spLocks noGrp="1"/>
          </p:cNvSpPr>
          <p:nvPr>
            <p:ph type="sldNum" sz="quarter" idx="12"/>
          </p:nvPr>
        </p:nvSpPr>
        <p:spPr/>
        <p:txBody>
          <a:bodyPr/>
          <a:lstStyle/>
          <a:p>
            <a:fld id="{4A7A06D8-6BB7-C344-81C2-850CCC820A67}" type="slidenum">
              <a:rPr lang="en-US" smtClean="0"/>
              <a:t>23</a:t>
            </a:fld>
            <a:endParaRPr lang="en-US"/>
          </a:p>
        </p:txBody>
      </p:sp>
      <p:sp>
        <p:nvSpPr>
          <p:cNvPr id="5" name="Date Placeholder 4">
            <a:extLst>
              <a:ext uri="{FF2B5EF4-FFF2-40B4-BE49-F238E27FC236}">
                <a16:creationId xmlns:a16="http://schemas.microsoft.com/office/drawing/2014/main" id="{D79553D9-D411-B9A8-88E6-5501EB563540}"/>
              </a:ext>
            </a:extLst>
          </p:cNvPr>
          <p:cNvSpPr>
            <a:spLocks noGrp="1"/>
          </p:cNvSpPr>
          <p:nvPr>
            <p:ph type="dt" sz="half" idx="10"/>
          </p:nvPr>
        </p:nvSpPr>
        <p:spPr/>
        <p:txBody>
          <a:bodyPr/>
          <a:lstStyle/>
          <a:p>
            <a:r>
              <a:rPr lang="en-AU"/>
              <a:t>Ashwathi Nair</a:t>
            </a:r>
            <a:endParaRPr lang="en-US" dirty="0"/>
          </a:p>
        </p:txBody>
      </p:sp>
    </p:spTree>
    <p:extLst>
      <p:ext uri="{BB962C8B-B14F-4D97-AF65-F5344CB8AC3E}">
        <p14:creationId xmlns:p14="http://schemas.microsoft.com/office/powerpoint/2010/main" val="2011220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4F2DC91-5DA9-F113-E4BB-32ED87A8B694}"/>
              </a:ext>
            </a:extLst>
          </p:cNvPr>
          <p:cNvSpPr>
            <a:spLocks noGrp="1"/>
          </p:cNvSpPr>
          <p:nvPr>
            <p:ph type="ftr" sz="quarter" idx="11"/>
          </p:nvPr>
        </p:nvSpPr>
        <p:spPr/>
        <p:txBody>
          <a:bodyPr/>
          <a:lstStyle/>
          <a:p>
            <a:r>
              <a:rPr lang="en-US"/>
              <a:t>Binary Stars in a New Era</a:t>
            </a:r>
            <a:endParaRPr lang="en-US" dirty="0"/>
          </a:p>
        </p:txBody>
      </p:sp>
      <p:pic>
        <p:nvPicPr>
          <p:cNvPr id="5" name="Picture 4">
            <a:extLst>
              <a:ext uri="{FF2B5EF4-FFF2-40B4-BE49-F238E27FC236}">
                <a16:creationId xmlns:a16="http://schemas.microsoft.com/office/drawing/2014/main" id="{AF0FA0E9-8B43-6DA1-3778-E99146CD6262}"/>
              </a:ext>
            </a:extLst>
          </p:cNvPr>
          <p:cNvPicPr>
            <a:picLocks noChangeAspect="1"/>
          </p:cNvPicPr>
          <p:nvPr/>
        </p:nvPicPr>
        <p:blipFill>
          <a:blip r:embed="rId3"/>
          <a:stretch>
            <a:fillRect/>
          </a:stretch>
        </p:blipFill>
        <p:spPr>
          <a:xfrm>
            <a:off x="3349736" y="1922335"/>
            <a:ext cx="5491560" cy="4154485"/>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BCB0CF0-FC14-F1CF-323E-F28EA60A1AF3}"/>
                  </a:ext>
                </a:extLst>
              </p:cNvPr>
              <p:cNvSpPr txBox="1"/>
              <p:nvPr/>
            </p:nvSpPr>
            <p:spPr>
              <a:xfrm>
                <a:off x="3137968" y="696999"/>
                <a:ext cx="5956392" cy="461665"/>
              </a:xfrm>
              <a:prstGeom prst="rect">
                <a:avLst/>
              </a:prstGeom>
              <a:noFill/>
            </p:spPr>
            <p:txBody>
              <a:bodyPr wrap="square" rtlCol="0">
                <a:spAutoFit/>
              </a:bodyPr>
              <a:lstStyle/>
              <a:p>
                <a:pPr algn="ctr"/>
                <a:r>
                  <a:rPr lang="en-US" sz="2400" b="1" dirty="0">
                    <a:solidFill>
                      <a:srgbClr val="C1BAFE"/>
                    </a:solidFill>
                    <a:latin typeface="Seaford Display" pitchFamily="2" charset="0"/>
                  </a:rPr>
                  <a:t>Combined </a:t>
                </a:r>
                <a14:m>
                  <m:oMath xmlns:m="http://schemas.openxmlformats.org/officeDocument/2006/math">
                    <m:sSub>
                      <m:sSubPr>
                        <m:ctrlPr>
                          <a:rPr lang="en-US" sz="2400" b="1" i="1" smtClean="0">
                            <a:solidFill>
                              <a:srgbClr val="C1BAFE"/>
                            </a:solidFill>
                            <a:latin typeface="Cambria Math" panose="02040503050406030204" pitchFamily="18" charset="0"/>
                          </a:rPr>
                        </m:ctrlPr>
                      </m:sSubPr>
                      <m:e>
                        <m:r>
                          <a:rPr lang="en-AU" sz="2400" b="1" i="1" smtClean="0">
                            <a:solidFill>
                              <a:srgbClr val="C1BAFE"/>
                            </a:solidFill>
                            <a:latin typeface="Cambria Math" panose="02040503050406030204" pitchFamily="18" charset="0"/>
                          </a:rPr>
                          <m:t>𝑷</m:t>
                        </m:r>
                      </m:e>
                      <m:sub>
                        <m:r>
                          <a:rPr lang="en-AU" sz="2400" b="1" i="1" smtClean="0">
                            <a:solidFill>
                              <a:srgbClr val="C1BAFE"/>
                            </a:solidFill>
                            <a:latin typeface="Cambria Math" panose="02040503050406030204" pitchFamily="18" charset="0"/>
                          </a:rPr>
                          <m:t>𝒐𝒓𝒃</m:t>
                        </m:r>
                      </m:sub>
                    </m:sSub>
                  </m:oMath>
                </a14:m>
                <a:r>
                  <a:rPr lang="en-US" sz="2400" b="1" dirty="0">
                    <a:solidFill>
                      <a:srgbClr val="C1BAFE"/>
                    </a:solidFill>
                    <a:latin typeface="Seaford Display" pitchFamily="2" charset="0"/>
                  </a:rPr>
                  <a:t>-e Distribution of all models</a:t>
                </a:r>
              </a:p>
            </p:txBody>
          </p:sp>
        </mc:Choice>
        <mc:Fallback xmlns="">
          <p:sp>
            <p:nvSpPr>
              <p:cNvPr id="6" name="TextBox 5">
                <a:extLst>
                  <a:ext uri="{FF2B5EF4-FFF2-40B4-BE49-F238E27FC236}">
                    <a16:creationId xmlns:a16="http://schemas.microsoft.com/office/drawing/2014/main" id="{4BCB0CF0-FC14-F1CF-323E-F28EA60A1AF3}"/>
                  </a:ext>
                </a:extLst>
              </p:cNvPr>
              <p:cNvSpPr txBox="1">
                <a:spLocks noRot="1" noChangeAspect="1" noMove="1" noResize="1" noEditPoints="1" noAdjustHandles="1" noChangeArrowheads="1" noChangeShapeType="1" noTextEdit="1"/>
              </p:cNvSpPr>
              <p:nvPr/>
            </p:nvSpPr>
            <p:spPr>
              <a:xfrm>
                <a:off x="3137968" y="696999"/>
                <a:ext cx="5956392" cy="461665"/>
              </a:xfrm>
              <a:prstGeom prst="rect">
                <a:avLst/>
              </a:prstGeom>
              <a:blipFill>
                <a:blip r:embed="rId4"/>
                <a:stretch>
                  <a:fillRect t="-10526" b="-2894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4EFAE75E-97CC-1BC6-91E7-78B3E9A80246}"/>
              </a:ext>
            </a:extLst>
          </p:cNvPr>
          <p:cNvSpPr txBox="1"/>
          <p:nvPr/>
        </p:nvSpPr>
        <p:spPr>
          <a:xfrm>
            <a:off x="4293220" y="1259333"/>
            <a:ext cx="3604592" cy="461665"/>
          </a:xfrm>
          <a:prstGeom prst="rect">
            <a:avLst/>
          </a:prstGeom>
          <a:noFill/>
        </p:spPr>
        <p:txBody>
          <a:bodyPr wrap="square" rtlCol="0">
            <a:spAutoFit/>
          </a:bodyPr>
          <a:lstStyle/>
          <a:p>
            <a:pPr algn="ctr"/>
            <a:r>
              <a:rPr lang="en-US" sz="2400" dirty="0">
                <a:solidFill>
                  <a:srgbClr val="C1BAFE"/>
                </a:solidFill>
                <a:latin typeface="Seaford Display" pitchFamily="2" charset="0"/>
              </a:rPr>
              <a:t>Standard Model</a:t>
            </a:r>
          </a:p>
        </p:txBody>
      </p:sp>
      <p:sp>
        <p:nvSpPr>
          <p:cNvPr id="10" name="Oval 9">
            <a:extLst>
              <a:ext uri="{FF2B5EF4-FFF2-40B4-BE49-F238E27FC236}">
                <a16:creationId xmlns:a16="http://schemas.microsoft.com/office/drawing/2014/main" id="{F6BDEEDF-A154-5887-DD71-640DB13B3436}"/>
              </a:ext>
            </a:extLst>
          </p:cNvPr>
          <p:cNvSpPr/>
          <p:nvPr/>
        </p:nvSpPr>
        <p:spPr>
          <a:xfrm>
            <a:off x="4960088" y="3200813"/>
            <a:ext cx="468923" cy="35755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0B26058-8F0B-EBE8-0E25-E3D60ED77F99}"/>
              </a:ext>
            </a:extLst>
          </p:cNvPr>
          <p:cNvSpPr/>
          <p:nvPr/>
        </p:nvSpPr>
        <p:spPr>
          <a:xfrm>
            <a:off x="4499753" y="4385307"/>
            <a:ext cx="1263094" cy="735205"/>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371A364D-7BE8-4C32-821A-7CD5F5639246}"/>
              </a:ext>
            </a:extLst>
          </p:cNvPr>
          <p:cNvSpPr>
            <a:spLocks noGrp="1"/>
          </p:cNvSpPr>
          <p:nvPr>
            <p:ph type="sldNum" sz="quarter" idx="12"/>
          </p:nvPr>
        </p:nvSpPr>
        <p:spPr/>
        <p:txBody>
          <a:bodyPr/>
          <a:lstStyle/>
          <a:p>
            <a:fld id="{4A7A06D8-6BB7-C344-81C2-850CCC820A67}" type="slidenum">
              <a:rPr lang="en-US" smtClean="0"/>
              <a:t>24</a:t>
            </a:fld>
            <a:endParaRPr lang="en-US"/>
          </a:p>
        </p:txBody>
      </p:sp>
      <p:sp>
        <p:nvSpPr>
          <p:cNvPr id="4" name="Date Placeholder 3">
            <a:extLst>
              <a:ext uri="{FF2B5EF4-FFF2-40B4-BE49-F238E27FC236}">
                <a16:creationId xmlns:a16="http://schemas.microsoft.com/office/drawing/2014/main" id="{DAF2DF3E-23B6-5D9E-1798-37859C0E605F}"/>
              </a:ext>
            </a:extLst>
          </p:cNvPr>
          <p:cNvSpPr>
            <a:spLocks noGrp="1"/>
          </p:cNvSpPr>
          <p:nvPr>
            <p:ph type="dt" sz="half" idx="10"/>
          </p:nvPr>
        </p:nvSpPr>
        <p:spPr/>
        <p:txBody>
          <a:bodyPr/>
          <a:lstStyle/>
          <a:p>
            <a:r>
              <a:rPr lang="en-AU"/>
              <a:t>Ashwathi Nair</a:t>
            </a:r>
            <a:endParaRPr lang="en-US" dirty="0"/>
          </a:p>
        </p:txBody>
      </p:sp>
    </p:spTree>
    <p:extLst>
      <p:ext uri="{BB962C8B-B14F-4D97-AF65-F5344CB8AC3E}">
        <p14:creationId xmlns:p14="http://schemas.microsoft.com/office/powerpoint/2010/main" val="3478433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35D521-4522-2A71-3617-5A4DC945640E}"/>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A75407DD-C471-A799-3CE1-95AE9D8D6179}"/>
              </a:ext>
            </a:extLst>
          </p:cNvPr>
          <p:cNvSpPr>
            <a:spLocks noGrp="1"/>
          </p:cNvSpPr>
          <p:nvPr>
            <p:ph type="ftr" sz="quarter" idx="11"/>
          </p:nvPr>
        </p:nvSpPr>
        <p:spPr/>
        <p:txBody>
          <a:bodyPr/>
          <a:lstStyle/>
          <a:p>
            <a:r>
              <a:rPr lang="en-US"/>
              <a:t>Binary Stars in a New Era</a:t>
            </a:r>
            <a:endParaRPr lang="en-US" dirty="0"/>
          </a:p>
        </p:txBody>
      </p:sp>
      <p:sp>
        <p:nvSpPr>
          <p:cNvPr id="10" name="TextBox 9">
            <a:extLst>
              <a:ext uri="{FF2B5EF4-FFF2-40B4-BE49-F238E27FC236}">
                <a16:creationId xmlns:a16="http://schemas.microsoft.com/office/drawing/2014/main" id="{342FAAED-46EF-5060-AEB4-58DF34FAC2F7}"/>
              </a:ext>
            </a:extLst>
          </p:cNvPr>
          <p:cNvSpPr txBox="1"/>
          <p:nvPr/>
        </p:nvSpPr>
        <p:spPr>
          <a:xfrm>
            <a:off x="689114" y="2274838"/>
            <a:ext cx="11317104" cy="2308324"/>
          </a:xfrm>
          <a:prstGeom prst="rect">
            <a:avLst/>
          </a:prstGeom>
          <a:noFill/>
        </p:spPr>
        <p:txBody>
          <a:bodyPr wrap="square">
            <a:spAutoFit/>
          </a:bodyPr>
          <a:lstStyle/>
          <a:p>
            <a:pPr marL="285750" indent="-285750">
              <a:buFont typeface="Arial" panose="020B0604020202020204" pitchFamily="34" charset="0"/>
              <a:buChar char="•"/>
            </a:pPr>
            <a:r>
              <a:rPr lang="en-AU" sz="2400" b="1" i="1" dirty="0">
                <a:latin typeface="Seaford Display" pitchFamily="2" charset="0"/>
              </a:rPr>
              <a:t>Low metallicities</a:t>
            </a:r>
          </a:p>
          <a:p>
            <a:endParaRPr lang="en-AU" sz="2400" dirty="0">
              <a:latin typeface="Seaford Display" pitchFamily="2" charset="0"/>
            </a:endParaRPr>
          </a:p>
          <a:p>
            <a:pPr marL="285750" indent="-285750">
              <a:buFont typeface="Arial" panose="020B0604020202020204" pitchFamily="34" charset="0"/>
              <a:buChar char="•"/>
            </a:pPr>
            <a:r>
              <a:rPr lang="en-AU" sz="2400" b="1" i="1" dirty="0">
                <a:latin typeface="Seaford Display" pitchFamily="2" charset="0"/>
              </a:rPr>
              <a:t>Massive first-born NS</a:t>
            </a:r>
          </a:p>
          <a:p>
            <a:pPr marL="285750" indent="-285750">
              <a:buFont typeface="Arial" panose="020B0604020202020204" pitchFamily="34" charset="0"/>
              <a:buChar char="•"/>
            </a:pPr>
            <a:endParaRPr lang="en-AU" sz="2400" dirty="0">
              <a:latin typeface="Seaford Display" pitchFamily="2" charset="0"/>
            </a:endParaRPr>
          </a:p>
          <a:p>
            <a:pPr marL="285750" indent="-285750">
              <a:buFont typeface="Arial" panose="020B0604020202020204" pitchFamily="34" charset="0"/>
              <a:buChar char="•"/>
            </a:pPr>
            <a:r>
              <a:rPr lang="en-AU" sz="2400" b="1" i="1" dirty="0">
                <a:latin typeface="Seaford Display" pitchFamily="2" charset="0"/>
              </a:rPr>
              <a:t>Super-Eddington</a:t>
            </a:r>
            <a:r>
              <a:rPr lang="en-AU" sz="2400" dirty="0">
                <a:latin typeface="Seaford Display" pitchFamily="2" charset="0"/>
              </a:rPr>
              <a:t> </a:t>
            </a:r>
            <a:r>
              <a:rPr lang="en-AU" sz="2400" b="1" i="1" dirty="0">
                <a:latin typeface="Seaford Display" pitchFamily="2" charset="0"/>
              </a:rPr>
              <a:t>accretion</a:t>
            </a:r>
            <a:endParaRPr lang="en-AU" sz="2400" dirty="0">
              <a:latin typeface="Seaford Display" pitchFamily="2" charset="0"/>
            </a:endParaRPr>
          </a:p>
          <a:p>
            <a:endParaRPr lang="en-AU" sz="2400" dirty="0">
              <a:latin typeface="Seaford Display" pitchFamily="2" charset="0"/>
            </a:endParaRPr>
          </a:p>
        </p:txBody>
      </p:sp>
      <p:sp>
        <p:nvSpPr>
          <p:cNvPr id="11" name="TextBox 10">
            <a:extLst>
              <a:ext uri="{FF2B5EF4-FFF2-40B4-BE49-F238E27FC236}">
                <a16:creationId xmlns:a16="http://schemas.microsoft.com/office/drawing/2014/main" id="{7B20BF85-2F88-3BDF-0998-DD56808AF573}"/>
              </a:ext>
            </a:extLst>
          </p:cNvPr>
          <p:cNvSpPr txBox="1"/>
          <p:nvPr/>
        </p:nvSpPr>
        <p:spPr>
          <a:xfrm>
            <a:off x="689114" y="810433"/>
            <a:ext cx="3114260" cy="523220"/>
          </a:xfrm>
          <a:prstGeom prst="rect">
            <a:avLst/>
          </a:prstGeom>
          <a:noFill/>
        </p:spPr>
        <p:txBody>
          <a:bodyPr wrap="square" rtlCol="0">
            <a:spAutoFit/>
          </a:bodyPr>
          <a:lstStyle/>
          <a:p>
            <a:r>
              <a:rPr lang="en-US" sz="2800" b="1" i="1" dirty="0">
                <a:solidFill>
                  <a:srgbClr val="C1BAFE"/>
                </a:solidFill>
                <a:latin typeface="Seaford Display" pitchFamily="2" charset="0"/>
              </a:rPr>
              <a:t>Project I, Part B</a:t>
            </a:r>
          </a:p>
        </p:txBody>
      </p:sp>
      <p:sp>
        <p:nvSpPr>
          <p:cNvPr id="12" name="TextBox 11">
            <a:extLst>
              <a:ext uri="{FF2B5EF4-FFF2-40B4-BE49-F238E27FC236}">
                <a16:creationId xmlns:a16="http://schemas.microsoft.com/office/drawing/2014/main" id="{FCC60234-57DF-7BE1-D58C-05CEF0CEB7A0}"/>
              </a:ext>
            </a:extLst>
          </p:cNvPr>
          <p:cNvSpPr txBox="1"/>
          <p:nvPr/>
        </p:nvSpPr>
        <p:spPr>
          <a:xfrm>
            <a:off x="981893" y="1619579"/>
            <a:ext cx="1004506" cy="400110"/>
          </a:xfrm>
          <a:prstGeom prst="rect">
            <a:avLst/>
          </a:prstGeom>
          <a:noFill/>
        </p:spPr>
        <p:txBody>
          <a:bodyPr wrap="none" rtlCol="0">
            <a:spAutoFit/>
          </a:bodyPr>
          <a:lstStyle/>
          <a:p>
            <a:r>
              <a:rPr lang="en-US" sz="2000" b="1" dirty="0">
                <a:latin typeface="Seaford Display" pitchFamily="2" charset="0"/>
              </a:rPr>
              <a:t>Explore</a:t>
            </a:r>
          </a:p>
        </p:txBody>
      </p:sp>
      <p:sp>
        <p:nvSpPr>
          <p:cNvPr id="13" name="Slide Number Placeholder 12">
            <a:extLst>
              <a:ext uri="{FF2B5EF4-FFF2-40B4-BE49-F238E27FC236}">
                <a16:creationId xmlns:a16="http://schemas.microsoft.com/office/drawing/2014/main" id="{EFEEDB0D-3F2D-58CA-8031-E7D136EE7F44}"/>
              </a:ext>
            </a:extLst>
          </p:cNvPr>
          <p:cNvSpPr>
            <a:spLocks noGrp="1"/>
          </p:cNvSpPr>
          <p:nvPr>
            <p:ph type="sldNum" sz="quarter" idx="12"/>
          </p:nvPr>
        </p:nvSpPr>
        <p:spPr/>
        <p:txBody>
          <a:bodyPr/>
          <a:lstStyle/>
          <a:p>
            <a:fld id="{CE0A201B-ED89-3E49-8333-B23E6243976D}" type="slidenum">
              <a:rPr lang="en-US" smtClean="0"/>
              <a:t>25</a:t>
            </a:fld>
            <a:endParaRPr lang="en-US"/>
          </a:p>
        </p:txBody>
      </p:sp>
    </p:spTree>
    <p:extLst>
      <p:ext uri="{BB962C8B-B14F-4D97-AF65-F5344CB8AC3E}">
        <p14:creationId xmlns:p14="http://schemas.microsoft.com/office/powerpoint/2010/main" val="3025117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E35424F-7B0C-96FD-C598-B4251F56740B}"/>
              </a:ext>
            </a:extLst>
          </p:cNvPr>
          <p:cNvSpPr>
            <a:spLocks noGrp="1"/>
          </p:cNvSpPr>
          <p:nvPr>
            <p:ph type="ftr" sz="quarter" idx="11"/>
          </p:nvPr>
        </p:nvSpPr>
        <p:spPr/>
        <p:txBody>
          <a:bodyPr/>
          <a:lstStyle/>
          <a:p>
            <a:r>
              <a:rPr lang="en-US"/>
              <a:t>Binary Stars in a New Era</a:t>
            </a:r>
            <a:endParaRPr lang="en-US" dirty="0"/>
          </a:p>
        </p:txBody>
      </p:sp>
      <p:sp>
        <p:nvSpPr>
          <p:cNvPr id="3" name="TextBox 2">
            <a:extLst>
              <a:ext uri="{FF2B5EF4-FFF2-40B4-BE49-F238E27FC236}">
                <a16:creationId xmlns:a16="http://schemas.microsoft.com/office/drawing/2014/main" id="{3A586FBD-47F4-4028-2BC0-678BC50BBAF8}"/>
              </a:ext>
            </a:extLst>
          </p:cNvPr>
          <p:cNvSpPr txBox="1"/>
          <p:nvPr/>
        </p:nvSpPr>
        <p:spPr>
          <a:xfrm>
            <a:off x="4164186" y="835949"/>
            <a:ext cx="3862660" cy="461665"/>
          </a:xfrm>
          <a:prstGeom prst="rect">
            <a:avLst/>
          </a:prstGeom>
          <a:noFill/>
        </p:spPr>
        <p:txBody>
          <a:bodyPr wrap="none" rtlCol="0">
            <a:spAutoFit/>
          </a:bodyPr>
          <a:lstStyle/>
          <a:p>
            <a:r>
              <a:rPr lang="en-US" sz="2400" b="1" dirty="0">
                <a:solidFill>
                  <a:srgbClr val="C1BAFE"/>
                </a:solidFill>
                <a:latin typeface="Seaford Display" pitchFamily="2" charset="0"/>
              </a:rPr>
              <a:t>DNS Total Mass Distribution</a:t>
            </a:r>
          </a:p>
        </p:txBody>
      </p:sp>
      <p:sp>
        <p:nvSpPr>
          <p:cNvPr id="4" name="TextBox 3">
            <a:extLst>
              <a:ext uri="{FF2B5EF4-FFF2-40B4-BE49-F238E27FC236}">
                <a16:creationId xmlns:a16="http://schemas.microsoft.com/office/drawing/2014/main" id="{F6C6AB1E-0FE6-E72D-F496-AC7BC1001DE7}"/>
              </a:ext>
            </a:extLst>
          </p:cNvPr>
          <p:cNvSpPr txBox="1"/>
          <p:nvPr/>
        </p:nvSpPr>
        <p:spPr>
          <a:xfrm>
            <a:off x="4293220" y="1243789"/>
            <a:ext cx="3604592" cy="461665"/>
          </a:xfrm>
          <a:prstGeom prst="rect">
            <a:avLst/>
          </a:prstGeom>
          <a:noFill/>
        </p:spPr>
        <p:txBody>
          <a:bodyPr wrap="square" rtlCol="0">
            <a:spAutoFit/>
          </a:bodyPr>
          <a:lstStyle/>
          <a:p>
            <a:pPr algn="ctr"/>
            <a:r>
              <a:rPr lang="en-US" sz="2400" dirty="0">
                <a:solidFill>
                  <a:srgbClr val="C1BAFE"/>
                </a:solidFill>
                <a:latin typeface="Seaford Display" pitchFamily="2" charset="0"/>
              </a:rPr>
              <a:t>Standard Model</a:t>
            </a:r>
          </a:p>
        </p:txBody>
      </p:sp>
      <p:pic>
        <p:nvPicPr>
          <p:cNvPr id="5" name="Picture 4" descr="A graph of a graph&#10;&#10;AI-generated content may be incorrect.">
            <a:extLst>
              <a:ext uri="{FF2B5EF4-FFF2-40B4-BE49-F238E27FC236}">
                <a16:creationId xmlns:a16="http://schemas.microsoft.com/office/drawing/2014/main" id="{68EEB7D6-28A1-6C44-AD97-388D05627727}"/>
              </a:ext>
            </a:extLst>
          </p:cNvPr>
          <p:cNvPicPr>
            <a:picLocks noChangeAspect="1"/>
          </p:cNvPicPr>
          <p:nvPr/>
        </p:nvPicPr>
        <p:blipFill>
          <a:blip r:embed="rId3"/>
          <a:stretch>
            <a:fillRect/>
          </a:stretch>
        </p:blipFill>
        <p:spPr>
          <a:xfrm>
            <a:off x="3399678" y="1832510"/>
            <a:ext cx="5361590" cy="4131442"/>
          </a:xfrm>
          <a:prstGeom prst="rect">
            <a:avLst/>
          </a:prstGeom>
        </p:spPr>
      </p:pic>
      <p:sp>
        <p:nvSpPr>
          <p:cNvPr id="6" name="TextBox 5">
            <a:extLst>
              <a:ext uri="{FF2B5EF4-FFF2-40B4-BE49-F238E27FC236}">
                <a16:creationId xmlns:a16="http://schemas.microsoft.com/office/drawing/2014/main" id="{7A329743-8F6C-BBEB-8A6C-35817999B6CE}"/>
              </a:ext>
            </a:extLst>
          </p:cNvPr>
          <p:cNvSpPr txBox="1"/>
          <p:nvPr/>
        </p:nvSpPr>
        <p:spPr>
          <a:xfrm>
            <a:off x="9016678" y="3248804"/>
            <a:ext cx="3235689" cy="646331"/>
          </a:xfrm>
          <a:prstGeom prst="rect">
            <a:avLst/>
          </a:prstGeom>
          <a:noFill/>
        </p:spPr>
        <p:txBody>
          <a:bodyPr wrap="square" rtlCol="0">
            <a:spAutoFit/>
          </a:bodyPr>
          <a:lstStyle/>
          <a:p>
            <a:r>
              <a:rPr lang="en-US" dirty="0">
                <a:latin typeface="Seaford Display" pitchFamily="2" charset="0"/>
              </a:rPr>
              <a:t>Overproduce high mass systems than observed </a:t>
            </a:r>
          </a:p>
        </p:txBody>
      </p:sp>
      <p:sp>
        <p:nvSpPr>
          <p:cNvPr id="8" name="Slide Number Placeholder 7">
            <a:extLst>
              <a:ext uri="{FF2B5EF4-FFF2-40B4-BE49-F238E27FC236}">
                <a16:creationId xmlns:a16="http://schemas.microsoft.com/office/drawing/2014/main" id="{FE9CEF76-6086-4776-F013-A889180F58FA}"/>
              </a:ext>
            </a:extLst>
          </p:cNvPr>
          <p:cNvSpPr>
            <a:spLocks noGrp="1"/>
          </p:cNvSpPr>
          <p:nvPr>
            <p:ph type="sldNum" sz="quarter" idx="12"/>
          </p:nvPr>
        </p:nvSpPr>
        <p:spPr/>
        <p:txBody>
          <a:bodyPr/>
          <a:lstStyle/>
          <a:p>
            <a:fld id="{4A7A06D8-6BB7-C344-81C2-850CCC820A67}" type="slidenum">
              <a:rPr lang="en-US" smtClean="0"/>
              <a:t>26</a:t>
            </a:fld>
            <a:endParaRPr lang="en-US"/>
          </a:p>
        </p:txBody>
      </p:sp>
      <p:sp>
        <p:nvSpPr>
          <p:cNvPr id="9" name="TextBox 8">
            <a:extLst>
              <a:ext uri="{FF2B5EF4-FFF2-40B4-BE49-F238E27FC236}">
                <a16:creationId xmlns:a16="http://schemas.microsoft.com/office/drawing/2014/main" id="{A6F947C1-63E4-E2FF-F12C-B40F111F722A}"/>
              </a:ext>
            </a:extLst>
          </p:cNvPr>
          <p:cNvSpPr txBox="1"/>
          <p:nvPr/>
        </p:nvSpPr>
        <p:spPr>
          <a:xfrm>
            <a:off x="8980592" y="4394676"/>
            <a:ext cx="2857017" cy="646331"/>
          </a:xfrm>
          <a:prstGeom prst="rect">
            <a:avLst/>
          </a:prstGeom>
          <a:noFill/>
        </p:spPr>
        <p:txBody>
          <a:bodyPr wrap="square" rtlCol="0">
            <a:spAutoFit/>
          </a:bodyPr>
          <a:lstStyle/>
          <a:p>
            <a:r>
              <a:rPr lang="en-US" dirty="0">
                <a:latin typeface="Seaford Display" pitchFamily="2" charset="0"/>
              </a:rPr>
              <a:t>Assumed remnant mass and CO core mass relation</a:t>
            </a:r>
            <a:endParaRPr lang="en-US" dirty="0"/>
          </a:p>
        </p:txBody>
      </p:sp>
      <p:pic>
        <p:nvPicPr>
          <p:cNvPr id="11" name="Graphic 10" descr="Arrow: Slight curve outline">
            <a:extLst>
              <a:ext uri="{FF2B5EF4-FFF2-40B4-BE49-F238E27FC236}">
                <a16:creationId xmlns:a16="http://schemas.microsoft.com/office/drawing/2014/main" id="{0EF72D26-EA8A-A2ED-BF07-B3728DAB0EA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10124731" y="3920971"/>
            <a:ext cx="499541" cy="447869"/>
          </a:xfrm>
          <a:prstGeom prst="rect">
            <a:avLst/>
          </a:prstGeom>
        </p:spPr>
      </p:pic>
      <p:pic>
        <p:nvPicPr>
          <p:cNvPr id="12" name="Graphic 11" descr="Arrow: Slight curve outline">
            <a:extLst>
              <a:ext uri="{FF2B5EF4-FFF2-40B4-BE49-F238E27FC236}">
                <a16:creationId xmlns:a16="http://schemas.microsoft.com/office/drawing/2014/main" id="{258777EA-443A-092B-405D-CC088D1C73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3033335">
            <a:off x="7949921" y="2560852"/>
            <a:ext cx="1254048" cy="579474"/>
          </a:xfrm>
          <a:prstGeom prst="rect">
            <a:avLst/>
          </a:prstGeom>
        </p:spPr>
      </p:pic>
      <p:sp>
        <p:nvSpPr>
          <p:cNvPr id="13" name="Date Placeholder 12">
            <a:extLst>
              <a:ext uri="{FF2B5EF4-FFF2-40B4-BE49-F238E27FC236}">
                <a16:creationId xmlns:a16="http://schemas.microsoft.com/office/drawing/2014/main" id="{20C0CA7D-D8CC-6C2E-47F6-74731AF9C071}"/>
              </a:ext>
            </a:extLst>
          </p:cNvPr>
          <p:cNvSpPr>
            <a:spLocks noGrp="1"/>
          </p:cNvSpPr>
          <p:nvPr>
            <p:ph type="dt" sz="half" idx="10"/>
          </p:nvPr>
        </p:nvSpPr>
        <p:spPr/>
        <p:txBody>
          <a:bodyPr/>
          <a:lstStyle/>
          <a:p>
            <a:r>
              <a:rPr lang="en-AU"/>
              <a:t>Ashwathi Nair</a:t>
            </a:r>
            <a:endParaRPr lang="en-US" dirty="0"/>
          </a:p>
        </p:txBody>
      </p:sp>
    </p:spTree>
    <p:extLst>
      <p:ext uri="{BB962C8B-B14F-4D97-AF65-F5344CB8AC3E}">
        <p14:creationId xmlns:p14="http://schemas.microsoft.com/office/powerpoint/2010/main" val="219253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D16E0-5D88-B497-3A8E-2CB086A1B2C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7D197CC-AD17-DFCD-CB0C-3A5A97E68707}"/>
              </a:ext>
            </a:extLst>
          </p:cNvPr>
          <p:cNvSpPr>
            <a:spLocks noGrp="1"/>
          </p:cNvSpPr>
          <p:nvPr>
            <p:ph type="dt" sz="half" idx="10"/>
          </p:nvPr>
        </p:nvSpPr>
        <p:spPr/>
        <p:txBody>
          <a:bodyPr/>
          <a:lstStyle/>
          <a:p>
            <a:r>
              <a:rPr lang="en-AU"/>
              <a:t>Ashwathi Nair</a:t>
            </a:r>
            <a:endParaRPr lang="en-US"/>
          </a:p>
        </p:txBody>
      </p:sp>
      <p:sp>
        <p:nvSpPr>
          <p:cNvPr id="5" name="Footer Placeholder 4">
            <a:extLst>
              <a:ext uri="{FF2B5EF4-FFF2-40B4-BE49-F238E27FC236}">
                <a16:creationId xmlns:a16="http://schemas.microsoft.com/office/drawing/2014/main" id="{2723A13E-88C9-2DDD-0FB3-3CABD6C44915}"/>
              </a:ext>
            </a:extLst>
          </p:cNvPr>
          <p:cNvSpPr>
            <a:spLocks noGrp="1"/>
          </p:cNvSpPr>
          <p:nvPr>
            <p:ph type="ftr" sz="quarter" idx="11"/>
          </p:nvPr>
        </p:nvSpPr>
        <p:spPr/>
        <p:txBody>
          <a:bodyPr/>
          <a:lstStyle/>
          <a:p>
            <a:r>
              <a:rPr lang="en-US"/>
              <a:t>Binary Stars in a New Era</a:t>
            </a:r>
          </a:p>
        </p:txBody>
      </p:sp>
      <p:sp>
        <p:nvSpPr>
          <p:cNvPr id="2" name="TextBox 1">
            <a:extLst>
              <a:ext uri="{FF2B5EF4-FFF2-40B4-BE49-F238E27FC236}">
                <a16:creationId xmlns:a16="http://schemas.microsoft.com/office/drawing/2014/main" id="{D7AD9973-AB70-2ABD-EEBD-B830255DF909}"/>
              </a:ext>
            </a:extLst>
          </p:cNvPr>
          <p:cNvSpPr txBox="1"/>
          <p:nvPr/>
        </p:nvSpPr>
        <p:spPr>
          <a:xfrm>
            <a:off x="1683026" y="560586"/>
            <a:ext cx="8825948" cy="461665"/>
          </a:xfrm>
          <a:prstGeom prst="rect">
            <a:avLst/>
          </a:prstGeom>
          <a:noFill/>
        </p:spPr>
        <p:txBody>
          <a:bodyPr wrap="square" rtlCol="0">
            <a:spAutoFit/>
          </a:bodyPr>
          <a:lstStyle/>
          <a:p>
            <a:pPr algn="ctr"/>
            <a:r>
              <a:rPr lang="en-US" sz="2400" b="1" dirty="0">
                <a:solidFill>
                  <a:srgbClr val="C1BAFE"/>
                </a:solidFill>
                <a:latin typeface="Seaford Display" pitchFamily="2" charset="0"/>
              </a:rPr>
              <a:t>Why care about double neutron stars?</a:t>
            </a:r>
          </a:p>
        </p:txBody>
      </p:sp>
      <p:pic>
        <p:nvPicPr>
          <p:cNvPr id="3" name="Picture 2" descr="A comet in space with bright lights&#10;&#10;AI-generated content may be incorrect.">
            <a:extLst>
              <a:ext uri="{FF2B5EF4-FFF2-40B4-BE49-F238E27FC236}">
                <a16:creationId xmlns:a16="http://schemas.microsoft.com/office/drawing/2014/main" id="{69E949CE-D791-8EB2-7800-188A074508E8}"/>
              </a:ext>
            </a:extLst>
          </p:cNvPr>
          <p:cNvPicPr>
            <a:picLocks noChangeAspect="1"/>
          </p:cNvPicPr>
          <p:nvPr/>
        </p:nvPicPr>
        <p:blipFill>
          <a:blip r:embed="rId3">
            <a:alphaModFix amt="64000"/>
          </a:blip>
          <a:stretch>
            <a:fillRect/>
          </a:stretch>
        </p:blipFill>
        <p:spPr>
          <a:xfrm>
            <a:off x="1396795" y="3579571"/>
            <a:ext cx="4699204" cy="2776779"/>
          </a:xfrm>
          <a:prstGeom prst="rect">
            <a:avLst/>
          </a:prstGeom>
        </p:spPr>
      </p:pic>
      <p:pic>
        <p:nvPicPr>
          <p:cNvPr id="6" name="Picture 5" descr="A blue and yellow light in space&#10;&#10;AI-generated content may be incorrect.">
            <a:extLst>
              <a:ext uri="{FF2B5EF4-FFF2-40B4-BE49-F238E27FC236}">
                <a16:creationId xmlns:a16="http://schemas.microsoft.com/office/drawing/2014/main" id="{3C8BDC5D-7A24-5BC6-7CFB-AB8540D393C8}"/>
              </a:ext>
            </a:extLst>
          </p:cNvPr>
          <p:cNvPicPr>
            <a:picLocks noChangeAspect="1"/>
          </p:cNvPicPr>
          <p:nvPr/>
        </p:nvPicPr>
        <p:blipFill>
          <a:blip r:embed="rId4">
            <a:alphaModFix amt="58000"/>
          </a:blip>
          <a:stretch>
            <a:fillRect/>
          </a:stretch>
        </p:blipFill>
        <p:spPr>
          <a:xfrm>
            <a:off x="6169463" y="1200990"/>
            <a:ext cx="4604274" cy="2465992"/>
          </a:xfrm>
          <a:prstGeom prst="rect">
            <a:avLst/>
          </a:prstGeom>
        </p:spPr>
      </p:pic>
      <p:pic>
        <p:nvPicPr>
          <p:cNvPr id="7" name="Picture 6" descr="credit: ESO">
            <a:extLst>
              <a:ext uri="{FF2B5EF4-FFF2-40B4-BE49-F238E27FC236}">
                <a16:creationId xmlns:a16="http://schemas.microsoft.com/office/drawing/2014/main" id="{50FBDB08-9B64-8611-F737-267DB4F18556}"/>
              </a:ext>
            </a:extLst>
          </p:cNvPr>
          <p:cNvPicPr>
            <a:picLocks noChangeAspect="1"/>
          </p:cNvPicPr>
          <p:nvPr/>
        </p:nvPicPr>
        <p:blipFill>
          <a:blip r:embed="rId5">
            <a:alphaModFix amt="59000"/>
          </a:blip>
          <a:stretch>
            <a:fillRect/>
          </a:stretch>
        </p:blipFill>
        <p:spPr>
          <a:xfrm>
            <a:off x="1396797" y="1173467"/>
            <a:ext cx="4699204" cy="2538152"/>
          </a:xfrm>
          <a:prstGeom prst="rect">
            <a:avLst/>
          </a:prstGeom>
          <a:effectLst>
            <a:softEdge rad="0"/>
          </a:effectLst>
        </p:spPr>
      </p:pic>
      <p:pic>
        <p:nvPicPr>
          <p:cNvPr id="8" name="Picture 7" descr="A close-up of a galaxy&#10;&#10;AI-generated content may be incorrect.">
            <a:extLst>
              <a:ext uri="{FF2B5EF4-FFF2-40B4-BE49-F238E27FC236}">
                <a16:creationId xmlns:a16="http://schemas.microsoft.com/office/drawing/2014/main" id="{AFB00917-DDF1-34C9-4794-0211028DEEEB}"/>
              </a:ext>
            </a:extLst>
          </p:cNvPr>
          <p:cNvPicPr>
            <a:picLocks noChangeAspect="1"/>
          </p:cNvPicPr>
          <p:nvPr/>
        </p:nvPicPr>
        <p:blipFill>
          <a:blip r:embed="rId6">
            <a:alphaModFix amt="66000"/>
          </a:blip>
          <a:stretch>
            <a:fillRect/>
          </a:stretch>
        </p:blipFill>
        <p:spPr>
          <a:xfrm>
            <a:off x="6095999" y="3739143"/>
            <a:ext cx="4677738" cy="2617208"/>
          </a:xfrm>
          <a:prstGeom prst="rect">
            <a:avLst/>
          </a:prstGeom>
        </p:spPr>
      </p:pic>
      <p:sp>
        <p:nvSpPr>
          <p:cNvPr id="9" name="TextBox 8">
            <a:extLst>
              <a:ext uri="{FF2B5EF4-FFF2-40B4-BE49-F238E27FC236}">
                <a16:creationId xmlns:a16="http://schemas.microsoft.com/office/drawing/2014/main" id="{E056B9CE-4878-0164-EE4D-21ED4CDEF8AE}"/>
              </a:ext>
            </a:extLst>
          </p:cNvPr>
          <p:cNvSpPr txBox="1"/>
          <p:nvPr/>
        </p:nvSpPr>
        <p:spPr>
          <a:xfrm>
            <a:off x="4172332" y="3167127"/>
            <a:ext cx="4448590" cy="400110"/>
          </a:xfrm>
          <a:prstGeom prst="rect">
            <a:avLst/>
          </a:prstGeom>
          <a:noFill/>
        </p:spPr>
        <p:txBody>
          <a:bodyPr wrap="none" rtlCol="0">
            <a:spAutoFit/>
          </a:bodyPr>
          <a:lstStyle/>
          <a:p>
            <a:r>
              <a:rPr lang="en-US" sz="2000" b="1" dirty="0">
                <a:latin typeface="Seaford Display" pitchFamily="2" charset="0"/>
              </a:rPr>
              <a:t>Gamma ray bursts (GRB)  and </a:t>
            </a:r>
            <a:r>
              <a:rPr lang="en-US" sz="2000" b="1" dirty="0" err="1">
                <a:latin typeface="Seaford Display" pitchFamily="2" charset="0"/>
              </a:rPr>
              <a:t>Kilonovae</a:t>
            </a:r>
            <a:endParaRPr lang="en-US" sz="2000" b="1" dirty="0">
              <a:latin typeface="Seaford Display" pitchFamily="2" charset="0"/>
            </a:endParaRPr>
          </a:p>
        </p:txBody>
      </p:sp>
      <p:sp>
        <p:nvSpPr>
          <p:cNvPr id="10" name="TextBox 9">
            <a:extLst>
              <a:ext uri="{FF2B5EF4-FFF2-40B4-BE49-F238E27FC236}">
                <a16:creationId xmlns:a16="http://schemas.microsoft.com/office/drawing/2014/main" id="{9814A07C-AD31-49D7-0EC6-A7A8E81E9E82}"/>
              </a:ext>
            </a:extLst>
          </p:cNvPr>
          <p:cNvSpPr txBox="1"/>
          <p:nvPr/>
        </p:nvSpPr>
        <p:spPr>
          <a:xfrm>
            <a:off x="4172332" y="2568629"/>
            <a:ext cx="6098582" cy="400110"/>
          </a:xfrm>
          <a:prstGeom prst="rect">
            <a:avLst/>
          </a:prstGeom>
          <a:noFill/>
        </p:spPr>
        <p:txBody>
          <a:bodyPr wrap="square">
            <a:spAutoFit/>
          </a:bodyPr>
          <a:lstStyle/>
          <a:p>
            <a:r>
              <a:rPr lang="en-US" sz="2000" b="1" dirty="0">
                <a:latin typeface="Seaford Display" pitchFamily="2" charset="0"/>
              </a:rPr>
              <a:t>Supernova explosions (SNe)</a:t>
            </a:r>
          </a:p>
        </p:txBody>
      </p:sp>
      <p:sp>
        <p:nvSpPr>
          <p:cNvPr id="11" name="TextBox 10">
            <a:extLst>
              <a:ext uri="{FF2B5EF4-FFF2-40B4-BE49-F238E27FC236}">
                <a16:creationId xmlns:a16="http://schemas.microsoft.com/office/drawing/2014/main" id="{A4199422-DCD5-B34B-18DD-929266304BC3}"/>
              </a:ext>
            </a:extLst>
          </p:cNvPr>
          <p:cNvSpPr txBox="1"/>
          <p:nvPr/>
        </p:nvSpPr>
        <p:spPr>
          <a:xfrm>
            <a:off x="4172332" y="3752673"/>
            <a:ext cx="4315733" cy="400110"/>
          </a:xfrm>
          <a:prstGeom prst="rect">
            <a:avLst/>
          </a:prstGeom>
          <a:noFill/>
        </p:spPr>
        <p:txBody>
          <a:bodyPr wrap="none" rtlCol="0">
            <a:spAutoFit/>
          </a:bodyPr>
          <a:lstStyle/>
          <a:p>
            <a:r>
              <a:rPr lang="en-US" sz="2000" b="1" dirty="0">
                <a:latin typeface="Seaford Display" pitchFamily="2" charset="0"/>
              </a:rPr>
              <a:t>Formation of heavy r-process elements</a:t>
            </a:r>
          </a:p>
        </p:txBody>
      </p:sp>
      <p:sp>
        <p:nvSpPr>
          <p:cNvPr id="12" name="TextBox 11">
            <a:extLst>
              <a:ext uri="{FF2B5EF4-FFF2-40B4-BE49-F238E27FC236}">
                <a16:creationId xmlns:a16="http://schemas.microsoft.com/office/drawing/2014/main" id="{9FCB07C4-081B-3C91-8D0E-3EDC685E548F}"/>
              </a:ext>
            </a:extLst>
          </p:cNvPr>
          <p:cNvSpPr txBox="1"/>
          <p:nvPr/>
        </p:nvSpPr>
        <p:spPr>
          <a:xfrm>
            <a:off x="4172332" y="4349975"/>
            <a:ext cx="6098582" cy="400110"/>
          </a:xfrm>
          <a:prstGeom prst="rect">
            <a:avLst/>
          </a:prstGeom>
          <a:noFill/>
        </p:spPr>
        <p:txBody>
          <a:bodyPr wrap="square">
            <a:spAutoFit/>
          </a:bodyPr>
          <a:lstStyle/>
          <a:p>
            <a:r>
              <a:rPr lang="en-US" sz="2000" b="1" dirty="0">
                <a:latin typeface="Seaford Display" pitchFamily="2" charset="0"/>
              </a:rPr>
              <a:t>Binary stellar evolution</a:t>
            </a:r>
          </a:p>
        </p:txBody>
      </p:sp>
      <p:sp>
        <p:nvSpPr>
          <p:cNvPr id="13" name="Slide Number Placeholder 12">
            <a:extLst>
              <a:ext uri="{FF2B5EF4-FFF2-40B4-BE49-F238E27FC236}">
                <a16:creationId xmlns:a16="http://schemas.microsoft.com/office/drawing/2014/main" id="{E5ED430E-2743-FEAC-8162-A43F64A0CCAB}"/>
              </a:ext>
            </a:extLst>
          </p:cNvPr>
          <p:cNvSpPr>
            <a:spLocks noGrp="1"/>
          </p:cNvSpPr>
          <p:nvPr>
            <p:ph type="sldNum" sz="quarter" idx="12"/>
          </p:nvPr>
        </p:nvSpPr>
        <p:spPr/>
        <p:txBody>
          <a:bodyPr/>
          <a:lstStyle/>
          <a:p>
            <a:fld id="{CE0A201B-ED89-3E49-8333-B23E6243976D}" type="slidenum">
              <a:rPr lang="en-US" smtClean="0"/>
              <a:t>27</a:t>
            </a:fld>
            <a:endParaRPr lang="en-US"/>
          </a:p>
        </p:txBody>
      </p:sp>
    </p:spTree>
    <p:extLst>
      <p:ext uri="{BB962C8B-B14F-4D97-AF65-F5344CB8AC3E}">
        <p14:creationId xmlns:p14="http://schemas.microsoft.com/office/powerpoint/2010/main" val="931802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2BF80-FDC9-2E41-E87F-920E7474B90F}"/>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F55F38E-39D4-91DB-FA05-24855B92CBAE}"/>
              </a:ext>
            </a:extLst>
          </p:cNvPr>
          <p:cNvSpPr>
            <a:spLocks noGrp="1"/>
          </p:cNvSpPr>
          <p:nvPr>
            <p:ph type="dt" sz="half" idx="10"/>
          </p:nvPr>
        </p:nvSpPr>
        <p:spPr/>
        <p:txBody>
          <a:bodyPr/>
          <a:lstStyle/>
          <a:p>
            <a:r>
              <a:rPr lang="en-AU"/>
              <a:t>Ashwathi Nair</a:t>
            </a:r>
            <a:endParaRPr lang="en-US" dirty="0"/>
          </a:p>
        </p:txBody>
      </p:sp>
      <p:sp>
        <p:nvSpPr>
          <p:cNvPr id="3" name="Footer Placeholder 2">
            <a:extLst>
              <a:ext uri="{FF2B5EF4-FFF2-40B4-BE49-F238E27FC236}">
                <a16:creationId xmlns:a16="http://schemas.microsoft.com/office/drawing/2014/main" id="{09D158AC-58C4-B336-4948-E4AB3BC5EEF1}"/>
              </a:ext>
            </a:extLst>
          </p:cNvPr>
          <p:cNvSpPr>
            <a:spLocks noGrp="1"/>
          </p:cNvSpPr>
          <p:nvPr>
            <p:ph type="ftr" sz="quarter" idx="11"/>
          </p:nvPr>
        </p:nvSpPr>
        <p:spPr/>
        <p:txBody>
          <a:bodyPr/>
          <a:lstStyle/>
          <a:p>
            <a:r>
              <a:rPr lang="en-US"/>
              <a:t>Binary Stars in a New Era</a:t>
            </a:r>
            <a:endParaRPr lang="en-US" dirty="0"/>
          </a:p>
        </p:txBody>
      </p:sp>
      <p:sp>
        <p:nvSpPr>
          <p:cNvPr id="4" name="TextBox 3">
            <a:extLst>
              <a:ext uri="{FF2B5EF4-FFF2-40B4-BE49-F238E27FC236}">
                <a16:creationId xmlns:a16="http://schemas.microsoft.com/office/drawing/2014/main" id="{78CCFCEB-A810-4862-976F-DE3DBD6C3EC6}"/>
              </a:ext>
            </a:extLst>
          </p:cNvPr>
          <p:cNvSpPr txBox="1"/>
          <p:nvPr/>
        </p:nvSpPr>
        <p:spPr>
          <a:xfrm>
            <a:off x="4605498" y="4956538"/>
            <a:ext cx="2389226" cy="830997"/>
          </a:xfrm>
          <a:prstGeom prst="rect">
            <a:avLst/>
          </a:prstGeom>
          <a:noFill/>
        </p:spPr>
        <p:txBody>
          <a:bodyPr wrap="square" rtlCol="0">
            <a:spAutoFit/>
          </a:bodyPr>
          <a:lstStyle/>
          <a:p>
            <a:pPr algn="ctr"/>
            <a:r>
              <a:rPr lang="en-AU" sz="1600" dirty="0">
                <a:effectLst/>
                <a:latin typeface="Times"/>
              </a:rPr>
              <a:t>Mandel &amp; Müller 2020,</a:t>
            </a:r>
          </a:p>
          <a:p>
            <a:pPr algn="ctr"/>
            <a:r>
              <a:rPr lang="en-AU" sz="1600" dirty="0">
                <a:latin typeface="Times"/>
              </a:rPr>
              <a:t>Kapil et al. 2023</a:t>
            </a:r>
            <a:endParaRPr lang="en-AU" sz="1600" dirty="0">
              <a:effectLst/>
              <a:latin typeface="Times"/>
            </a:endParaRPr>
          </a:p>
          <a:p>
            <a:pPr algn="ctr"/>
            <a:endParaRPr lang="en-US" sz="1600" dirty="0"/>
          </a:p>
        </p:txBody>
      </p:sp>
      <p:grpSp>
        <p:nvGrpSpPr>
          <p:cNvPr id="5" name="Group 4">
            <a:extLst>
              <a:ext uri="{FF2B5EF4-FFF2-40B4-BE49-F238E27FC236}">
                <a16:creationId xmlns:a16="http://schemas.microsoft.com/office/drawing/2014/main" id="{713D469E-08F4-7542-520C-4632877B52D5}"/>
              </a:ext>
            </a:extLst>
          </p:cNvPr>
          <p:cNvGrpSpPr/>
          <p:nvPr/>
        </p:nvGrpSpPr>
        <p:grpSpPr>
          <a:xfrm>
            <a:off x="452671" y="2093318"/>
            <a:ext cx="10370917" cy="2335052"/>
            <a:chOff x="452671" y="2093318"/>
            <a:chExt cx="10370917" cy="2335052"/>
          </a:xfrm>
        </p:grpSpPr>
        <p:pic>
          <p:nvPicPr>
            <p:cNvPr id="6" name="Picture 5">
              <a:extLst>
                <a:ext uri="{FF2B5EF4-FFF2-40B4-BE49-F238E27FC236}">
                  <a16:creationId xmlns:a16="http://schemas.microsoft.com/office/drawing/2014/main" id="{0FE68E8F-393E-1824-C4CD-53CE823670C8}"/>
                </a:ext>
              </a:extLst>
            </p:cNvPr>
            <p:cNvPicPr>
              <a:picLocks noChangeAspect="1"/>
            </p:cNvPicPr>
            <p:nvPr/>
          </p:nvPicPr>
          <p:blipFill rotWithShape="1">
            <a:blip r:embed="rId3"/>
            <a:srcRect t="21924" b="21924"/>
            <a:stretch/>
          </p:blipFill>
          <p:spPr>
            <a:xfrm>
              <a:off x="452671" y="2159919"/>
              <a:ext cx="3066812" cy="1722086"/>
            </a:xfrm>
            <a:prstGeom prst="rect">
              <a:avLst/>
            </a:prstGeom>
          </p:spPr>
        </p:pic>
        <p:pic>
          <p:nvPicPr>
            <p:cNvPr id="7" name="Picture 6">
              <a:extLst>
                <a:ext uri="{FF2B5EF4-FFF2-40B4-BE49-F238E27FC236}">
                  <a16:creationId xmlns:a16="http://schemas.microsoft.com/office/drawing/2014/main" id="{FDE39C7E-0CE2-32F2-B875-DBF33178D23E}"/>
                </a:ext>
              </a:extLst>
            </p:cNvPr>
            <p:cNvPicPr>
              <a:picLocks noChangeAspect="1"/>
            </p:cNvPicPr>
            <p:nvPr/>
          </p:nvPicPr>
          <p:blipFill rotWithShape="1">
            <a:blip r:embed="rId4"/>
            <a:srcRect l="-1603" t="7707"/>
            <a:stretch/>
          </p:blipFill>
          <p:spPr>
            <a:xfrm>
              <a:off x="4521686" y="2093318"/>
              <a:ext cx="2234227" cy="2029518"/>
            </a:xfrm>
            <a:prstGeom prst="rect">
              <a:avLst/>
            </a:prstGeom>
          </p:spPr>
        </p:pic>
        <p:pic>
          <p:nvPicPr>
            <p:cNvPr id="8" name="Picture 7">
              <a:extLst>
                <a:ext uri="{FF2B5EF4-FFF2-40B4-BE49-F238E27FC236}">
                  <a16:creationId xmlns:a16="http://schemas.microsoft.com/office/drawing/2014/main" id="{4431514E-802D-58B1-9AAF-1A5D37F8F7ED}"/>
                </a:ext>
              </a:extLst>
            </p:cNvPr>
            <p:cNvPicPr>
              <a:picLocks noChangeAspect="1"/>
            </p:cNvPicPr>
            <p:nvPr/>
          </p:nvPicPr>
          <p:blipFill>
            <a:blip r:embed="rId5"/>
            <a:stretch>
              <a:fillRect/>
            </a:stretch>
          </p:blipFill>
          <p:spPr>
            <a:xfrm>
              <a:off x="8555137" y="2159919"/>
              <a:ext cx="2268451" cy="2268451"/>
            </a:xfrm>
            <a:prstGeom prst="rect">
              <a:avLst/>
            </a:prstGeom>
          </p:spPr>
        </p:pic>
      </p:grpSp>
      <p:sp>
        <p:nvSpPr>
          <p:cNvPr id="9" name="TextBox 8">
            <a:extLst>
              <a:ext uri="{FF2B5EF4-FFF2-40B4-BE49-F238E27FC236}">
                <a16:creationId xmlns:a16="http://schemas.microsoft.com/office/drawing/2014/main" id="{BEEB033F-59D4-A4AB-6B49-95E89997D7D0}"/>
              </a:ext>
            </a:extLst>
          </p:cNvPr>
          <p:cNvSpPr txBox="1"/>
          <p:nvPr/>
        </p:nvSpPr>
        <p:spPr>
          <a:xfrm>
            <a:off x="4462554" y="1070465"/>
            <a:ext cx="2532170" cy="400110"/>
          </a:xfrm>
          <a:prstGeom prst="rect">
            <a:avLst/>
          </a:prstGeom>
          <a:noFill/>
        </p:spPr>
        <p:txBody>
          <a:bodyPr wrap="square" rtlCol="0">
            <a:spAutoFit/>
          </a:bodyPr>
          <a:lstStyle/>
          <a:p>
            <a:pPr algn="ctr"/>
            <a:r>
              <a:rPr lang="en-US" sz="2000" dirty="0">
                <a:latin typeface="Seaford Display" pitchFamily="2" charset="0"/>
              </a:rPr>
              <a:t>Supernova explosion</a:t>
            </a:r>
            <a:endParaRPr lang="en-US" sz="2000" dirty="0"/>
          </a:p>
        </p:txBody>
      </p:sp>
      <p:sp>
        <p:nvSpPr>
          <p:cNvPr id="10" name="TextBox 9">
            <a:extLst>
              <a:ext uri="{FF2B5EF4-FFF2-40B4-BE49-F238E27FC236}">
                <a16:creationId xmlns:a16="http://schemas.microsoft.com/office/drawing/2014/main" id="{9028EF2D-8B81-1A58-37DF-C54EFC42ADE6}"/>
              </a:ext>
            </a:extLst>
          </p:cNvPr>
          <p:cNvSpPr txBox="1"/>
          <p:nvPr/>
        </p:nvSpPr>
        <p:spPr>
          <a:xfrm>
            <a:off x="8279930" y="1679010"/>
            <a:ext cx="2966299" cy="707886"/>
          </a:xfrm>
          <a:prstGeom prst="rect">
            <a:avLst/>
          </a:prstGeom>
          <a:noFill/>
        </p:spPr>
        <p:txBody>
          <a:bodyPr wrap="square" rtlCol="0">
            <a:spAutoFit/>
          </a:bodyPr>
          <a:lstStyle/>
          <a:p>
            <a:r>
              <a:rPr lang="en-US" sz="2000" dirty="0">
                <a:latin typeface="Seaford Display" pitchFamily="2" charset="0"/>
              </a:rPr>
              <a:t>Recycled + young newborn NS</a:t>
            </a:r>
          </a:p>
        </p:txBody>
      </p:sp>
      <p:sp>
        <p:nvSpPr>
          <p:cNvPr id="11" name="TextBox 10">
            <a:extLst>
              <a:ext uri="{FF2B5EF4-FFF2-40B4-BE49-F238E27FC236}">
                <a16:creationId xmlns:a16="http://schemas.microsoft.com/office/drawing/2014/main" id="{32B5658C-2A6D-B5F3-C945-557E4E9B4310}"/>
              </a:ext>
            </a:extLst>
          </p:cNvPr>
          <p:cNvSpPr txBox="1"/>
          <p:nvPr/>
        </p:nvSpPr>
        <p:spPr>
          <a:xfrm>
            <a:off x="1285256" y="1679010"/>
            <a:ext cx="2234227" cy="400110"/>
          </a:xfrm>
          <a:prstGeom prst="rect">
            <a:avLst/>
          </a:prstGeom>
          <a:noFill/>
        </p:spPr>
        <p:txBody>
          <a:bodyPr wrap="square" rtlCol="0">
            <a:spAutoFit/>
          </a:bodyPr>
          <a:lstStyle/>
          <a:p>
            <a:pPr algn="ctr"/>
            <a:r>
              <a:rPr lang="en-US" sz="2000" dirty="0">
                <a:latin typeface="Seaford Display" pitchFamily="2" charset="0"/>
              </a:rPr>
              <a:t>Mass transfer</a:t>
            </a:r>
          </a:p>
        </p:txBody>
      </p:sp>
      <p:sp>
        <p:nvSpPr>
          <p:cNvPr id="12" name="TextBox 11">
            <a:extLst>
              <a:ext uri="{FF2B5EF4-FFF2-40B4-BE49-F238E27FC236}">
                <a16:creationId xmlns:a16="http://schemas.microsoft.com/office/drawing/2014/main" id="{AC0E64CB-552E-8BBF-2AA0-462559C3EA96}"/>
              </a:ext>
            </a:extLst>
          </p:cNvPr>
          <p:cNvSpPr txBox="1"/>
          <p:nvPr/>
        </p:nvSpPr>
        <p:spPr>
          <a:xfrm>
            <a:off x="4462554" y="4177762"/>
            <a:ext cx="2966299" cy="646331"/>
          </a:xfrm>
          <a:prstGeom prst="rect">
            <a:avLst/>
          </a:prstGeom>
          <a:noFill/>
        </p:spPr>
        <p:txBody>
          <a:bodyPr wrap="square" rtlCol="0">
            <a:spAutoFit/>
          </a:bodyPr>
          <a:lstStyle/>
          <a:p>
            <a:pPr algn="ctr"/>
            <a:r>
              <a:rPr lang="en-US" b="1" dirty="0">
                <a:latin typeface="Seaford Display" pitchFamily="2" charset="0"/>
              </a:rPr>
              <a:t>Incorporating supernova and kick prescription</a:t>
            </a:r>
          </a:p>
        </p:txBody>
      </p:sp>
      <p:pic>
        <p:nvPicPr>
          <p:cNvPr id="13" name="Graphic 12" descr="Checkbox Ticked with solid fill">
            <a:extLst>
              <a:ext uri="{FF2B5EF4-FFF2-40B4-BE49-F238E27FC236}">
                <a16:creationId xmlns:a16="http://schemas.microsoft.com/office/drawing/2014/main" id="{AE51E5A7-811C-A398-35BF-9BF14DAA407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4562" y="1582982"/>
            <a:ext cx="561387" cy="561387"/>
          </a:xfrm>
          <a:prstGeom prst="rect">
            <a:avLst/>
          </a:prstGeom>
        </p:spPr>
      </p:pic>
      <p:sp>
        <p:nvSpPr>
          <p:cNvPr id="14" name="TextBox 13">
            <a:extLst>
              <a:ext uri="{FF2B5EF4-FFF2-40B4-BE49-F238E27FC236}">
                <a16:creationId xmlns:a16="http://schemas.microsoft.com/office/drawing/2014/main" id="{EC94DE09-CCD7-BC92-B42F-D4E6463C02E8}"/>
              </a:ext>
            </a:extLst>
          </p:cNvPr>
          <p:cNvSpPr txBox="1"/>
          <p:nvPr/>
        </p:nvSpPr>
        <p:spPr>
          <a:xfrm>
            <a:off x="4116282" y="1498038"/>
            <a:ext cx="3658842" cy="646331"/>
          </a:xfrm>
          <a:prstGeom prst="rect">
            <a:avLst/>
          </a:prstGeom>
          <a:noFill/>
        </p:spPr>
        <p:txBody>
          <a:bodyPr wrap="square" rtlCol="0">
            <a:spAutoFit/>
          </a:bodyPr>
          <a:lstStyle/>
          <a:p>
            <a:r>
              <a:rPr lang="en-US" dirty="0"/>
              <a:t>Ultra-stripped SN, Electron Capture SN, Core-collapse SN</a:t>
            </a:r>
          </a:p>
        </p:txBody>
      </p:sp>
      <p:sp>
        <p:nvSpPr>
          <p:cNvPr id="15" name="Slide Number Placeholder 14">
            <a:extLst>
              <a:ext uri="{FF2B5EF4-FFF2-40B4-BE49-F238E27FC236}">
                <a16:creationId xmlns:a16="http://schemas.microsoft.com/office/drawing/2014/main" id="{5E7B5BF4-A65C-E830-224A-8F80C9DB9450}"/>
              </a:ext>
            </a:extLst>
          </p:cNvPr>
          <p:cNvSpPr>
            <a:spLocks noGrp="1"/>
          </p:cNvSpPr>
          <p:nvPr>
            <p:ph type="sldNum" sz="quarter" idx="12"/>
          </p:nvPr>
        </p:nvSpPr>
        <p:spPr/>
        <p:txBody>
          <a:bodyPr/>
          <a:lstStyle/>
          <a:p>
            <a:fld id="{CE0A201B-ED89-3E49-8333-B23E6243976D}" type="slidenum">
              <a:rPr lang="en-US" smtClean="0"/>
              <a:t>28</a:t>
            </a:fld>
            <a:endParaRPr lang="en-US"/>
          </a:p>
        </p:txBody>
      </p:sp>
    </p:spTree>
    <p:extLst>
      <p:ext uri="{BB962C8B-B14F-4D97-AF65-F5344CB8AC3E}">
        <p14:creationId xmlns:p14="http://schemas.microsoft.com/office/powerpoint/2010/main" val="3666394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31CCE-8D16-EF10-1C06-0D57E1602D0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DD633D7-082A-768C-319E-641D7B1A27FA}"/>
              </a:ext>
            </a:extLst>
          </p:cNvPr>
          <p:cNvSpPr>
            <a:spLocks noGrp="1"/>
          </p:cNvSpPr>
          <p:nvPr>
            <p:ph type="dt" sz="half" idx="10"/>
          </p:nvPr>
        </p:nvSpPr>
        <p:spPr/>
        <p:txBody>
          <a:bodyPr/>
          <a:lstStyle/>
          <a:p>
            <a:r>
              <a:rPr lang="en-AU"/>
              <a:t>Ashwathi Nair</a:t>
            </a:r>
            <a:endParaRPr lang="en-US"/>
          </a:p>
        </p:txBody>
      </p:sp>
      <p:sp>
        <p:nvSpPr>
          <p:cNvPr id="5" name="Footer Placeholder 4">
            <a:extLst>
              <a:ext uri="{FF2B5EF4-FFF2-40B4-BE49-F238E27FC236}">
                <a16:creationId xmlns:a16="http://schemas.microsoft.com/office/drawing/2014/main" id="{D1CC0D85-2CA8-263E-D5C7-8389DD735FC6}"/>
              </a:ext>
            </a:extLst>
          </p:cNvPr>
          <p:cNvSpPr>
            <a:spLocks noGrp="1"/>
          </p:cNvSpPr>
          <p:nvPr>
            <p:ph type="ftr" sz="quarter" idx="11"/>
          </p:nvPr>
        </p:nvSpPr>
        <p:spPr/>
        <p:txBody>
          <a:bodyPr/>
          <a:lstStyle/>
          <a:p>
            <a:r>
              <a:rPr lang="en-US"/>
              <a:t>Binary Stars in a New Era</a:t>
            </a:r>
          </a:p>
        </p:txBody>
      </p:sp>
      <p:sp>
        <p:nvSpPr>
          <p:cNvPr id="2" name="TextBox 1">
            <a:extLst>
              <a:ext uri="{FF2B5EF4-FFF2-40B4-BE49-F238E27FC236}">
                <a16:creationId xmlns:a16="http://schemas.microsoft.com/office/drawing/2014/main" id="{E357C8B1-1810-BED4-9FCD-827B91425396}"/>
              </a:ext>
            </a:extLst>
          </p:cNvPr>
          <p:cNvSpPr txBox="1"/>
          <p:nvPr/>
        </p:nvSpPr>
        <p:spPr>
          <a:xfrm>
            <a:off x="590326" y="560018"/>
            <a:ext cx="11010378" cy="461665"/>
          </a:xfrm>
          <a:prstGeom prst="rect">
            <a:avLst/>
          </a:prstGeom>
          <a:noFill/>
        </p:spPr>
        <p:txBody>
          <a:bodyPr wrap="square" rtlCol="0">
            <a:spAutoFit/>
          </a:bodyPr>
          <a:lstStyle/>
          <a:p>
            <a:pPr algn="ctr"/>
            <a:r>
              <a:rPr lang="en-US" sz="2400" b="1" dirty="0">
                <a:solidFill>
                  <a:srgbClr val="C1BAFE"/>
                </a:solidFill>
                <a:latin typeface="Seaford Display" pitchFamily="2" charset="0"/>
              </a:rPr>
              <a:t>Formation Channels of Compact Binary Mergers </a:t>
            </a:r>
          </a:p>
        </p:txBody>
      </p:sp>
      <p:pic>
        <p:nvPicPr>
          <p:cNvPr id="3" name="Picture 2" descr="A diagram of a solar system&#10;&#10;Description automatically generated">
            <a:extLst>
              <a:ext uri="{FF2B5EF4-FFF2-40B4-BE49-F238E27FC236}">
                <a16:creationId xmlns:a16="http://schemas.microsoft.com/office/drawing/2014/main" id="{E5F78189-DE74-6B8D-328F-296EFB188DCE}"/>
              </a:ext>
            </a:extLst>
          </p:cNvPr>
          <p:cNvPicPr>
            <a:picLocks noChangeAspect="1"/>
          </p:cNvPicPr>
          <p:nvPr/>
        </p:nvPicPr>
        <p:blipFill>
          <a:blip r:embed="rId3"/>
          <a:stretch>
            <a:fillRect/>
          </a:stretch>
        </p:blipFill>
        <p:spPr>
          <a:xfrm>
            <a:off x="1605369" y="1126671"/>
            <a:ext cx="8981261" cy="5051959"/>
          </a:xfrm>
          <a:prstGeom prst="rect">
            <a:avLst/>
          </a:prstGeom>
        </p:spPr>
      </p:pic>
      <p:sp>
        <p:nvSpPr>
          <p:cNvPr id="6" name="Oval 5">
            <a:extLst>
              <a:ext uri="{FF2B5EF4-FFF2-40B4-BE49-F238E27FC236}">
                <a16:creationId xmlns:a16="http://schemas.microsoft.com/office/drawing/2014/main" id="{9727901B-500A-DD5F-E92F-95B87756CA6D}"/>
              </a:ext>
            </a:extLst>
          </p:cNvPr>
          <p:cNvSpPr/>
          <p:nvPr/>
        </p:nvSpPr>
        <p:spPr>
          <a:xfrm>
            <a:off x="5473874" y="2416630"/>
            <a:ext cx="622126" cy="2506100"/>
          </a:xfrm>
          <a:prstGeom prst="ellipse">
            <a:avLst/>
          </a:prstGeom>
          <a:noFill/>
          <a:ln>
            <a:solidFill>
              <a:schemeClr val="tx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E0C79820-2793-3CF3-CB85-49313680248D}"/>
              </a:ext>
            </a:extLst>
          </p:cNvPr>
          <p:cNvSpPr>
            <a:spLocks noGrp="1"/>
          </p:cNvSpPr>
          <p:nvPr>
            <p:ph type="sldNum" sz="quarter" idx="12"/>
          </p:nvPr>
        </p:nvSpPr>
        <p:spPr/>
        <p:txBody>
          <a:bodyPr/>
          <a:lstStyle/>
          <a:p>
            <a:fld id="{CE0A201B-ED89-3E49-8333-B23E6243976D}" type="slidenum">
              <a:rPr lang="en-US" smtClean="0"/>
              <a:t>29</a:t>
            </a:fld>
            <a:endParaRPr lang="en-US"/>
          </a:p>
        </p:txBody>
      </p:sp>
    </p:spTree>
    <p:extLst>
      <p:ext uri="{BB962C8B-B14F-4D97-AF65-F5344CB8AC3E}">
        <p14:creationId xmlns:p14="http://schemas.microsoft.com/office/powerpoint/2010/main" val="1445833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R Amaldi" id="{0E6B7F85-4F6C-BC42-B24C-0B06BA12A3AF}" vid="{661832F0-C4B5-C845-80A3-9F706E07DBD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4987</TotalTime>
  <Words>3584</Words>
  <Application>Microsoft Macintosh PowerPoint</Application>
  <PresentationFormat>Widescreen</PresentationFormat>
  <Paragraphs>462</Paragraphs>
  <Slides>29</Slides>
  <Notes>26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29</vt:i4>
      </vt:variant>
    </vt:vector>
  </HeadingPairs>
  <TitlesOfParts>
    <vt:vector size="38" baseType="lpstr">
      <vt:lpstr>Aptos</vt:lpstr>
      <vt:lpstr>Aptos Display</vt:lpstr>
      <vt:lpstr>Arial</vt:lpstr>
      <vt:lpstr>Cambria Math</vt:lpstr>
      <vt:lpstr>Seaford Display</vt:lpstr>
      <vt:lpstr>Times</vt:lpstr>
      <vt:lpstr>Times New Roman</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Ashwathi Nair</dc:creator>
  <cp:lastModifiedBy>Ashwathi Nair</cp:lastModifiedBy>
  <cp:revision>17</cp:revision>
  <dcterms:created xsi:type="dcterms:W3CDTF">2025-06-29T21:39:45Z</dcterms:created>
  <dcterms:modified xsi:type="dcterms:W3CDTF">2025-08-28T02:12:11Z</dcterms:modified>
</cp:coreProperties>
</file>